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1.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2.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f40e96c82eb4d95" /><Relationship Type="http://schemas.openxmlformats.org/officeDocument/2006/relationships/extended-properties" Target="/docProps/app.xml" Id="R3d8cda29859e416d" /><Relationship Type="http://schemas.openxmlformats.org/officeDocument/2006/relationships/officeDocument" Target="/ppt/presentation.xml" Id="R6e50cdabf20d42b7" /></Relationships>
</file>

<file path=ppt/presentation.xml><?xml version="1.0" encoding="utf-8"?>
<p:presentation xmlns:p="http://schemas.openxmlformats.org/presentationml/2006/main">
  <p:sldMasterIdLst>
    <p:sldMasterId xmlns:r="http://schemas.openxmlformats.org/officeDocument/2006/relationships" id="2147483648" r:id="R2e8bd25dacfc495c"/>
  </p:sldMasterIdLst>
  <p:notesMasterIdLst>
    <p:notesMasterId xmlns:r="http://schemas.openxmlformats.org/officeDocument/2006/relationships" r:id="Rd8966d7c0111456d"/>
  </p:notesMasterIdLst>
  <p:sldIdLst>
    <p:sldId xmlns:r="http://schemas.openxmlformats.org/officeDocument/2006/relationships" id="256" r:id="R8724d4a0e6db4c05"/>
    <p:sldId xmlns:r="http://schemas.openxmlformats.org/officeDocument/2006/relationships" id="257" r:id="Rcc4b037667e843ce"/>
    <p:sldId xmlns:r="http://schemas.openxmlformats.org/officeDocument/2006/relationships" id="258" r:id="Red89c4aae284460c"/>
    <p:sldId xmlns:r="http://schemas.openxmlformats.org/officeDocument/2006/relationships" id="259" r:id="Ra6488bfe0b464bc1"/>
    <p:sldId xmlns:r="http://schemas.openxmlformats.org/officeDocument/2006/relationships" id="260" r:id="R7774167e8c8f40cc"/>
    <p:sldId xmlns:r="http://schemas.openxmlformats.org/officeDocument/2006/relationships" id="261" r:id="Rb2e37242e1414a48"/>
    <p:sldId xmlns:r="http://schemas.openxmlformats.org/officeDocument/2006/relationships" id="262" r:id="Rf06fd5b123044eb3"/>
    <p:sldId xmlns:r="http://schemas.openxmlformats.org/officeDocument/2006/relationships" id="263" r:id="R91c62ebdfafb474e"/>
    <p:sldId xmlns:r="http://schemas.openxmlformats.org/officeDocument/2006/relationships" id="264" r:id="R7fcbb5eaa6a34201"/>
    <p:sldId xmlns:r="http://schemas.openxmlformats.org/officeDocument/2006/relationships" id="265" r:id="R79cad4b9fabe4868"/>
    <p:sldId xmlns:r="http://schemas.openxmlformats.org/officeDocument/2006/relationships" id="266" r:id="Re0ba69f6b1db4e07"/>
    <p:sldId xmlns:r="http://schemas.openxmlformats.org/officeDocument/2006/relationships" id="267" r:id="R59d0aab6dd9d4b44"/>
    <p:sldId xmlns:r="http://schemas.openxmlformats.org/officeDocument/2006/relationships" id="268" r:id="R7d6d3bc0d7a64d0d"/>
    <p:sldId xmlns:r="http://schemas.openxmlformats.org/officeDocument/2006/relationships" id="269" r:id="R7ee821b3c8394379"/>
    <p:sldId xmlns:r="http://schemas.openxmlformats.org/officeDocument/2006/relationships" id="270" r:id="Raa3fc617a9704c07"/>
    <p:sldId xmlns:r="http://schemas.openxmlformats.org/officeDocument/2006/relationships" id="271" r:id="R73cbf65d4a69415e"/>
    <p:sldId xmlns:r="http://schemas.openxmlformats.org/officeDocument/2006/relationships" id="272" r:id="R776e7e55d3e7426a"/>
    <p:sldId xmlns:r="http://schemas.openxmlformats.org/officeDocument/2006/relationships" id="273" r:id="Rb7fc9b15991e4222"/>
    <p:sldId xmlns:r="http://schemas.openxmlformats.org/officeDocument/2006/relationships" id="274" r:id="Rb9f3e89d98f64703"/>
    <p:sldId xmlns:r="http://schemas.openxmlformats.org/officeDocument/2006/relationships" id="275" r:id="Rae5b1fbb58e74924"/>
    <p:sldId xmlns:r="http://schemas.openxmlformats.org/officeDocument/2006/relationships" id="276" r:id="R52b1ac1903ee4e5a"/>
    <p:sldId xmlns:r="http://schemas.openxmlformats.org/officeDocument/2006/relationships" id="277" r:id="Rc742c98a190d456e"/>
    <p:sldId xmlns:r="http://schemas.openxmlformats.org/officeDocument/2006/relationships" id="278" r:id="Rd744c539529f4782"/>
    <p:sldId xmlns:r="http://schemas.openxmlformats.org/officeDocument/2006/relationships" id="279" r:id="R1243739c3daa4d2e"/>
    <p:sldId xmlns:r="http://schemas.openxmlformats.org/officeDocument/2006/relationships" id="280" r:id="Rf9383fae90b741a2"/>
    <p:sldId xmlns:r="http://schemas.openxmlformats.org/officeDocument/2006/relationships" id="281" r:id="Reeb6289d8f564518"/>
    <p:sldId xmlns:r="http://schemas.openxmlformats.org/officeDocument/2006/relationships" id="282" r:id="Rdb12d2ff2c864b18"/>
    <p:sldId xmlns:r="http://schemas.openxmlformats.org/officeDocument/2006/relationships" id="283" r:id="R9e1ce792a1474206"/>
    <p:sldId xmlns:r="http://schemas.openxmlformats.org/officeDocument/2006/relationships" id="284" r:id="R1ddee990b0ac458b"/>
    <p:sldId xmlns:r="http://schemas.openxmlformats.org/officeDocument/2006/relationships" id="285" r:id="R84a71bd654304215"/>
    <p:sldId xmlns:r="http://schemas.openxmlformats.org/officeDocument/2006/relationships" id="286" r:id="Rf3105b44b65040af"/>
    <p:sldId xmlns:r="http://schemas.openxmlformats.org/officeDocument/2006/relationships" id="287" r:id="R33b0ee4c8ac8445b"/>
    <p:sldId xmlns:r="http://schemas.openxmlformats.org/officeDocument/2006/relationships" id="288" r:id="R47b6e8ef79b04dbc"/>
    <p:sldId xmlns:r="http://schemas.openxmlformats.org/officeDocument/2006/relationships" id="289" r:id="R0bda88c2dfbc476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199cdab07c04473" /><Relationship Type="http://schemas.openxmlformats.org/officeDocument/2006/relationships/slideMaster" Target="/ppt/slideMasters/slideMaster1.xml" Id="R2e8bd25dacfc495c" /><Relationship Type="http://schemas.openxmlformats.org/officeDocument/2006/relationships/notesMaster" Target="/ppt/notesMasters/notesMaster1.xml" Id="Rd8966d7c0111456d" /><Relationship Type="http://schemas.openxmlformats.org/officeDocument/2006/relationships/presProps" Target="/ppt/presProps.xml" Id="Rcc5c0525c17d40f2" /><Relationship Type="http://schemas.openxmlformats.org/officeDocument/2006/relationships/tableStyles" Target="/ppt/tableStyles.xml" Id="Rc7d169de57744653" /><Relationship Type="http://schemas.openxmlformats.org/officeDocument/2006/relationships/slide" Target="/ppt/slides/slide1.xml" Id="R8724d4a0e6db4c05" /><Relationship Type="http://schemas.openxmlformats.org/officeDocument/2006/relationships/slide" Target="/ppt/slides/slide2.xml" Id="Rcc4b037667e843ce" /><Relationship Type="http://schemas.openxmlformats.org/officeDocument/2006/relationships/slide" Target="/ppt/slides/slide3.xml" Id="Red89c4aae284460c" /><Relationship Type="http://schemas.openxmlformats.org/officeDocument/2006/relationships/slide" Target="/ppt/slides/slide4.xml" Id="Ra6488bfe0b464bc1" /><Relationship Type="http://schemas.openxmlformats.org/officeDocument/2006/relationships/slide" Target="/ppt/slides/slide5.xml" Id="R7774167e8c8f40cc" /><Relationship Type="http://schemas.openxmlformats.org/officeDocument/2006/relationships/slide" Target="/ppt/slides/slide6.xml" Id="Rb2e37242e1414a48" /><Relationship Type="http://schemas.openxmlformats.org/officeDocument/2006/relationships/slide" Target="/ppt/slides/slide7.xml" Id="Rf06fd5b123044eb3" /><Relationship Type="http://schemas.openxmlformats.org/officeDocument/2006/relationships/slide" Target="/ppt/slides/slide8.xml" Id="R91c62ebdfafb474e" /><Relationship Type="http://schemas.openxmlformats.org/officeDocument/2006/relationships/slide" Target="/ppt/slides/slide9.xml" Id="R7fcbb5eaa6a34201" /><Relationship Type="http://schemas.openxmlformats.org/officeDocument/2006/relationships/slide" Target="/ppt/slides/slide10.xml" Id="R79cad4b9fabe4868" /><Relationship Type="http://schemas.openxmlformats.org/officeDocument/2006/relationships/slide" Target="/ppt/slides/slide11.xml" Id="Re0ba69f6b1db4e07" /><Relationship Type="http://schemas.openxmlformats.org/officeDocument/2006/relationships/slide" Target="/ppt/slides/slide12.xml" Id="R59d0aab6dd9d4b44" /><Relationship Type="http://schemas.openxmlformats.org/officeDocument/2006/relationships/slide" Target="/ppt/slides/slide13.xml" Id="R7d6d3bc0d7a64d0d" /><Relationship Type="http://schemas.openxmlformats.org/officeDocument/2006/relationships/slide" Target="/ppt/slides/slide14.xml" Id="R7ee821b3c8394379" /><Relationship Type="http://schemas.openxmlformats.org/officeDocument/2006/relationships/slide" Target="/ppt/slides/slide15.xml" Id="Raa3fc617a9704c07" /><Relationship Type="http://schemas.openxmlformats.org/officeDocument/2006/relationships/slide" Target="/ppt/slides/slide16.xml" Id="R73cbf65d4a69415e" /><Relationship Type="http://schemas.openxmlformats.org/officeDocument/2006/relationships/slide" Target="/ppt/slides/slide17.xml" Id="R776e7e55d3e7426a" /><Relationship Type="http://schemas.openxmlformats.org/officeDocument/2006/relationships/slide" Target="/ppt/slides/slide18.xml" Id="Rb7fc9b15991e4222" /><Relationship Type="http://schemas.openxmlformats.org/officeDocument/2006/relationships/slide" Target="/ppt/slides/slide19.xml" Id="Rb9f3e89d98f64703" /><Relationship Type="http://schemas.openxmlformats.org/officeDocument/2006/relationships/slide" Target="/ppt/slides/slide20.xml" Id="Rae5b1fbb58e74924" /><Relationship Type="http://schemas.openxmlformats.org/officeDocument/2006/relationships/slide" Target="/ppt/slides/slide21.xml" Id="R52b1ac1903ee4e5a" /><Relationship Type="http://schemas.openxmlformats.org/officeDocument/2006/relationships/slide" Target="/ppt/slides/slide22.xml" Id="Rc742c98a190d456e" /><Relationship Type="http://schemas.openxmlformats.org/officeDocument/2006/relationships/slide" Target="/ppt/slides/slide23.xml" Id="Rd744c539529f4782" /><Relationship Type="http://schemas.openxmlformats.org/officeDocument/2006/relationships/slide" Target="/ppt/slides/slide24.xml" Id="R1243739c3daa4d2e" /><Relationship Type="http://schemas.openxmlformats.org/officeDocument/2006/relationships/slide" Target="/ppt/slides/slide25.xml" Id="Rf9383fae90b741a2" /><Relationship Type="http://schemas.openxmlformats.org/officeDocument/2006/relationships/slide" Target="/ppt/slides/slide26.xml" Id="Reeb6289d8f564518" /><Relationship Type="http://schemas.openxmlformats.org/officeDocument/2006/relationships/slide" Target="/ppt/slides/slide27.xml" Id="Rdb12d2ff2c864b18" /><Relationship Type="http://schemas.openxmlformats.org/officeDocument/2006/relationships/slide" Target="/ppt/slides/slide28.xml" Id="R9e1ce792a1474206" /><Relationship Type="http://schemas.openxmlformats.org/officeDocument/2006/relationships/slide" Target="/ppt/slides/slide29.xml" Id="R1ddee990b0ac458b" /><Relationship Type="http://schemas.openxmlformats.org/officeDocument/2006/relationships/slide" Target="/ppt/slides/slide30.xml" Id="R84a71bd654304215" /><Relationship Type="http://schemas.openxmlformats.org/officeDocument/2006/relationships/slide" Target="/ppt/slides/slide31.xml" Id="Rf3105b44b65040af" /><Relationship Type="http://schemas.openxmlformats.org/officeDocument/2006/relationships/slide" Target="/ppt/slides/slide32.xml" Id="R33b0ee4c8ac8445b" /><Relationship Type="http://schemas.openxmlformats.org/officeDocument/2006/relationships/slide" Target="/ppt/slides/slide33.xml" Id="R47b6e8ef79b04dbc" /><Relationship Type="http://schemas.openxmlformats.org/officeDocument/2006/relationships/slide" Target="/ppt/slides/slide34.xml" Id="R0bda88c2dfbc476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fb8dbcef4024b9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a707e35980b4aba" /><Relationship Type="http://schemas.openxmlformats.org/officeDocument/2006/relationships/notesMaster" Target="/ppt/notesMasters/notesMaster1.xml" Id="R9c0354c4b73f4a33" /></Relationships>
</file>

<file path=ppt/notesSlides/_rels/notesSlide2.xml.rels>&#65279;<?xml version="1.0" encoding="utf-8"?><Relationships xmlns="http://schemas.openxmlformats.org/package/2006/relationships"><Relationship Type="http://schemas.openxmlformats.org/officeDocument/2006/relationships/slide" Target="/ppt/slides/slide2.xml" Id="R1ea37dec0a374c50" /><Relationship Type="http://schemas.openxmlformats.org/officeDocument/2006/relationships/notesMaster" Target="/ppt/notesMasters/notesMaster1.xml" Id="Re137863d90584c29" /></Relationships>
</file>

<file path=ppt/notesSlides/_rels/notesSlide3.xml.rels>&#65279;<?xml version="1.0" encoding="utf-8"?><Relationships xmlns="http://schemas.openxmlformats.org/package/2006/relationships"><Relationship Type="http://schemas.openxmlformats.org/officeDocument/2006/relationships/slide" Target="/ppt/slides/slide3.xml" Id="R242c84d41257478b" /><Relationship Type="http://schemas.openxmlformats.org/officeDocument/2006/relationships/notesMaster" Target="/ppt/notesMasters/notesMaster1.xml" Id="R8b8d2c60f6c44104" /></Relationships>
</file>

<file path=ppt/notesSlides/_rels/notesSlide4.xml.rels>&#65279;<?xml version="1.0" encoding="utf-8"?><Relationships xmlns="http://schemas.openxmlformats.org/package/2006/relationships"><Relationship Type="http://schemas.openxmlformats.org/officeDocument/2006/relationships/slide" Target="/ppt/slides/slide4.xml" Id="R1bbf63632c4e4a1e" /><Relationship Type="http://schemas.openxmlformats.org/officeDocument/2006/relationships/notesMaster" Target="/ppt/notesMasters/notesMaster1.xml" Id="Rc0968fb8942546bb" /></Relationships>
</file>

<file path=ppt/notesSlides/_rels/notesSlide5.xml.rels>&#65279;<?xml version="1.0" encoding="utf-8"?><Relationships xmlns="http://schemas.openxmlformats.org/package/2006/relationships"><Relationship Type="http://schemas.openxmlformats.org/officeDocument/2006/relationships/slide" Target="/ppt/slides/slide5.xml" Id="R6f30e4da1a954ed1" /><Relationship Type="http://schemas.openxmlformats.org/officeDocument/2006/relationships/notesMaster" Target="/ppt/notesMasters/notesMaster1.xml" Id="Rcadf2938087d49d9" /></Relationships>
</file>

<file path=ppt/notesSlides/_rels/notesSlide6.xml.rels>&#65279;<?xml version="1.0" encoding="utf-8"?><Relationships xmlns="http://schemas.openxmlformats.org/package/2006/relationships"><Relationship Type="http://schemas.openxmlformats.org/officeDocument/2006/relationships/slide" Target="/ppt/slides/slide6.xml" Id="R584ba81004f84dd2" /><Relationship Type="http://schemas.openxmlformats.org/officeDocument/2006/relationships/notesMaster" Target="/ppt/notesMasters/notesMaster1.xml" Id="R95cf5098cbed4656" /></Relationships>
</file>

<file path=ppt/notesSlides/_rels/notesSlide7.xml.rels>&#65279;<?xml version="1.0" encoding="utf-8"?><Relationships xmlns="http://schemas.openxmlformats.org/package/2006/relationships"><Relationship Type="http://schemas.openxmlformats.org/officeDocument/2006/relationships/slide" Target="/ppt/slides/slide7.xml" Id="R98ed074d4dcd4e0b" /><Relationship Type="http://schemas.openxmlformats.org/officeDocument/2006/relationships/notesMaster" Target="/ppt/notesMasters/notesMaster1.xml" Id="Rc0d02c5b0a90404b" /></Relationships>
</file>

<file path=ppt/notesSlides/_rels/notesSlide8.xml.rels>&#65279;<?xml version="1.0" encoding="utf-8"?><Relationships xmlns="http://schemas.openxmlformats.org/package/2006/relationships"><Relationship Type="http://schemas.openxmlformats.org/officeDocument/2006/relationships/slide" Target="/ppt/slides/slide8.xml" Id="R5b76afecc0604c7d" /><Relationship Type="http://schemas.openxmlformats.org/officeDocument/2006/relationships/notesMaster" Target="/ppt/notesMasters/notesMaster1.xml" Id="Rcced6e6994c94805" /></Relationships>
</file>

<file path=ppt/notesSlides/_rels/notesSlide9.xml.rels>&#65279;<?xml version="1.0" encoding="utf-8"?><Relationships xmlns="http://schemas.openxmlformats.org/package/2006/relationships"><Relationship Type="http://schemas.openxmlformats.org/officeDocument/2006/relationships/slide" Target="/ppt/slides/slide9.xml" Id="Rea2c022ef7414f0d" /><Relationship Type="http://schemas.openxmlformats.org/officeDocument/2006/relationships/notesMaster" Target="/ppt/notesMasters/notesMaster1.xml" Id="Rb4f95c38043d407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042aa6b1db24c2c" /><Relationship Type="http://schemas.openxmlformats.org/officeDocument/2006/relationships/notesMaster" Target="/ppt/notesMasters/notesMaster1.xml" Id="R149a848aeebb43d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e95af66ea94467c" /><Relationship Type="http://schemas.openxmlformats.org/officeDocument/2006/relationships/notesMaster" Target="/ppt/notesMasters/notesMaster1.xml" Id="Rc93e3d689fb24b5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7c91d6e91524f47" /><Relationship Type="http://schemas.openxmlformats.org/officeDocument/2006/relationships/notesMaster" Target="/ppt/notesMasters/notesMaster1.xml" Id="Rf6be13670020459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a55220980874da3" /><Relationship Type="http://schemas.openxmlformats.org/officeDocument/2006/relationships/notesMaster" Target="/ppt/notesMasters/notesMaster1.xml" Id="R82ce1377705c499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ab417ec6dcb4883" /><Relationship Type="http://schemas.openxmlformats.org/officeDocument/2006/relationships/notesMaster" Target="/ppt/notesMasters/notesMaster1.xml" Id="Rd88335c07d4d4d1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34e4ae4c605430f" /><Relationship Type="http://schemas.openxmlformats.org/officeDocument/2006/relationships/notesMaster" Target="/ppt/notesMasters/notesMaster1.xml" Id="R8ca6cb37b7ac49a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04a9f1c1841401f" /><Relationship Type="http://schemas.openxmlformats.org/officeDocument/2006/relationships/notesMaster" Target="/ppt/notesMasters/notesMaster1.xml" Id="R494202c005224c2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c94c42a2a974ec7" /><Relationship Type="http://schemas.openxmlformats.org/officeDocument/2006/relationships/notesMaster" Target="/ppt/notesMasters/notesMaster1.xml" Id="R26fac2a978de4b1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d3d79e4f9234a67" /><Relationship Type="http://schemas.openxmlformats.org/officeDocument/2006/relationships/notesMaster" Target="/ppt/notesMasters/notesMaster1.xml" Id="R8cafaff8030f421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a6317d6cd2e4b88" /><Relationship Type="http://schemas.openxmlformats.org/officeDocument/2006/relationships/notesMaster" Target="/ppt/notesMasters/notesMaster1.xml" Id="R79e64b1b1de34bd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c3ed1d8ef8f407c" /><Relationship Type="http://schemas.openxmlformats.org/officeDocument/2006/relationships/notesMaster" Target="/ppt/notesMasters/notesMaster1.xml" Id="R7f6a58bf4557427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d8700a17a164642" /><Relationship Type="http://schemas.openxmlformats.org/officeDocument/2006/relationships/notesMaster" Target="/ppt/notesMasters/notesMaster1.xml" Id="Rd6e8ad8298eb420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fe96d9e33f24c27" /><Relationship Type="http://schemas.openxmlformats.org/officeDocument/2006/relationships/notesMaster" Target="/ppt/notesMasters/notesMaster1.xml" Id="R95f9998b43b54bf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d11b54309df4320" /><Relationship Type="http://schemas.openxmlformats.org/officeDocument/2006/relationships/notesMaster" Target="/ppt/notesMasters/notesMaster1.xml" Id="R4c1f92474907488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34591abd8174e16" /><Relationship Type="http://schemas.openxmlformats.org/officeDocument/2006/relationships/notesMaster" Target="/ppt/notesMasters/notesMaster1.xml" Id="Rac172fe58b3f442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367410ff3ba400f" /><Relationship Type="http://schemas.openxmlformats.org/officeDocument/2006/relationships/notesMaster" Target="/ppt/notesMasters/notesMaster1.xml" Id="R8ccce60a92e14ca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9dca296771b4700" /><Relationship Type="http://schemas.openxmlformats.org/officeDocument/2006/relationships/notesMaster" Target="/ppt/notesMasters/notesMaster1.xml" Id="R2352d7af062e40e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7e3759295bd4ab3" /><Relationship Type="http://schemas.openxmlformats.org/officeDocument/2006/relationships/notesMaster" Target="/ppt/notesMasters/notesMaster1.xml" Id="Rd0639f3a1a5d49d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4c794ded3454818" /><Relationship Type="http://schemas.openxmlformats.org/officeDocument/2006/relationships/notesMaster" Target="/ppt/notesMasters/notesMaster1.xml" Id="Rd7938951dd1b481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0726408f41d46c9" /><Relationship Type="http://schemas.openxmlformats.org/officeDocument/2006/relationships/notesMaster" Target="/ppt/notesMasters/notesMaster1.xml" Id="R0a7082434e84460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fd25b1d23cf49ad" /><Relationship Type="http://schemas.openxmlformats.org/officeDocument/2006/relationships/notesMaster" Target="/ppt/notesMasters/notesMaster1.xml" Id="R99c2a9097548483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0bbeecce65642b1" /><Relationship Type="http://schemas.openxmlformats.org/officeDocument/2006/relationships/notesMaster" Target="/ppt/notesMasters/notesMaster1.xml" Id="Re1429fd5c03346e1"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81bbfe6ea7e34534" /><Relationship Type="http://schemas.openxmlformats.org/officeDocument/2006/relationships/notesMaster" Target="/ppt/notesMasters/notesMaster1.xml" Id="R15f2df31b42540c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706845bac92403c" /><Relationship Type="http://schemas.openxmlformats.org/officeDocument/2006/relationships/notesMaster" Target="/ppt/notesMasters/notesMaster1.xml" Id="R90d2d65171f3410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77c73968f98437c" /><Relationship Type="http://schemas.openxmlformats.org/officeDocument/2006/relationships/notesMaster" Target="/ppt/notesMasters/notesMaster1.xml" Id="R101f8a3586c84f9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evidence: current native Windows app, development build captured on 10 October 2026. Sources: README.md, CLAUDE.md, src/app/MainWindow.cpp, src/app/Editor.h, src/render/CanvasWidget.cpp, src/system/SystemDesign.cpp, src/app/BrickWizardDialog.cpp and src/app/View3DPane.h in C:/Work/AI/Edraw_desktop. Screenshots show example data and current implementation. They do not establish production maturity or certified compliance. The current executable is named Edraw. The deck uses the user-selected working title. Supporting backgrounds are AI-generated conceptual harness illustrations, not customer products or app-generated harnesses.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evidence: current native Windows app, development build captured on 10 October 2026. Sources: README.md, CLAUDE.md, src/app/MainWindow.cpp, src/app/Editor.h, src/render/CanvasWidget.cpp, src/system/SystemDesign.cpp, src/app/BrickWizardDialog.cpp and src/app/View3DPane.h in C:/Work/AI/Edraw_desktop. Screenshots show example data and current implementation. They do not establish production maturity or certified compliance. User-proposed pricing and a five-role hiring plan inform the commercial slides. No customer or revenue traction was supplied. Supporting backgrounds are AI-generated conceptual harness illustrations, not customer products or app-generated harnesses.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positioning supplied by the project owner: small and midsize companies that build systems containing harnesses, especially firms running many projects. Harness suppliers are another customer segment. Industry examples are targeting hypotheses, not claimed customers. Primary context sources: https://www.zuken.com/en/solution/electrical-technologies/manufacturing-and-service-documentation/ and https://www.siemens.com/en-us/products/designcenter/cad-software/electronic-electrical-cad/wire-harness-design/ Supporting backgrounds are AI-generated conceptual harness illustrations, not customer products or app-generated harnesses.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evidence: current native Windows app, development build captured on 10 October 2026. Sources: README.md, CLAUDE.md, src/app/MainWindow.cpp, src/app/Editor.h, src/render/CanvasWidget.cpp, src/system/SystemDesign.cpp, src/app/BrickWizardDialog.cpp and src/app/View3DPane.h in C:/Work/AI/Edraw_desktop. Screenshots show example data and current implementation. They do not establish production maturity or certified compliance. Current reuse tools include parts, templates, blocks and saved harness wizard designs. A managed corporate harness catalog, controlled variants, automatic project-wide change propagation and approvals are proposed, not existing live collaboration features. Supporting backgrounds are AI-generated conceptual harness illustrations, not customer products or app-generated harnesses.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framing is a product hypothesis to validate through interviews. It is not a quantified customer survey or a claim that every harness organization uses disconnected tools. Supporting backgrounds are AI-generated conceptual harness illustrations, not customer products or app-generated harnesses.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evidence: current native Windows app, development build captured on 10 October 2026. Sources: README.md, CLAUDE.md, src/app/MainWindow.cpp, src/app/Editor.h, src/render/CanvasWidget.cpp, src/system/SystemDesign.cpp, src/app/BrickWizardDialog.cpp and src/app/View3DPane.h in C:/Work/AI/Edraw_desktop. Screenshots show example data and current implementation. They do not establish production maturity or certified compliance. Future modules follow docs/proposed-project-functions.md and the user’s ecosystem planning request. Separate modules currently share a desktop workspace, but this does not imply a fully synchronized single-model lifecycle. Supporting backgrounds are AI-generated conceptual harness illustrations, not customer products or app-generated harnesses.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User-requested proposal. CAB is interpreted as electrical cabinet / control-panel wiring. This is a planned module, not an implemented or demonstrated feature. Industry context: https://www.zuken.com/en/product/e3series/cabinet-layout-and-routing/ The competitor source supports the cabinet workflow category, not functionality of this app. Supporting backgrounds are AI-generated conceptual harness illustrations, not customer products or app-generated harnesses.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evidence: current native Windows app, development build captured on 10 October 2026. Sources: README.md, CLAUDE.md, src/app/MainWindow.cpp, src/app/Editor.h, src/render/CanvasWidget.cpp, src/system/SystemDesign.cpp, src/app/BrickWizardDialog.cpp and src/app/View3DPane.h in C:/Work/AI/Edraw_desktop. Screenshots show example data and current implementation. They do not establish production maturity or certified compliance. Example data: a control module containing a controller PCBA, connected to a sensor and actuator. Cable identifiers, lengths and parts are illustrative. Supporting backgrounds are AI-generated conceptual harness illustrations, not customer products or app-generated harnesses.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evidence: current native Windows app, development build captured on 10 October 2026. Sources: README.md, CLAUDE.md, src/app/MainWindow.cpp, src/app/Editor.h, src/render/CanvasWidget.cpp, src/system/SystemDesign.cpp, src/app/BrickWizardDialog.cpp and src/app/View3DPane.h in C:/Work/AI/Edraw_desktop. Screenshots show example data and current implementation. They do not establish production maturity or certified compliance. The example uses two six-contact connectors and six named signals. The schematic passed the current rules during capture. This is a demonstration fixture, not an electrically certified design. Supporting backgrounds are AI-generated conceptual harness illustrations, not customer products or app-generated harnesses.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evidence: current native Windows app, development build captured on 10 October 2026. Sources: README.md, CLAUDE.md, src/app/MainWindow.cpp, src/app/Editor.h, src/render/CanvasWidget.cpp, src/system/SystemDesign.cpp, src/app/BrickWizardDialog.cpp and src/app/View3DPane.h in C:/Work/AI/Edraw_desktop. Screenshots show example data and current implementation. They do not establish production maturity or certified compliance. The example is based on a local harness drawing fixture and has deliberately incomplete metadata. It is used to demonstrate drawing and validation features, not manufacturing readiness. Supporting backgrounds are AI-generated conceptual harness illustrations, not customer products or app-generated harnesses.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evidence: current native Windows app, development build captured on 10 October 2026. Sources: README.md, CLAUDE.md, src/app/MainWindow.cpp, src/app/Editor.h, src/render/CanvasWidget.cpp, src/system/SystemDesign.cpp, src/app/BrickWizardDialog.cpp and src/app/View3DPane.h in C:/Work/AI/Edraw_desktop. Screenshots show example data and current implementation. They do not establish production maturity or certified compliance. The screenshot shows the actual brick-based harness wizard with a live drawing preview and BOM. It contains an unconnected ferrule, which the DRC screenshot later exposes. Supporting backgrounds are AI-generated conceptual harness illustrations, not customer products or app-generated harnesses.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evidence: current native Windows app, development build captured on 10 October 2026. Sources: README.md, CLAUDE.md, src/app/MainWindow.cpp, src/app/Editor.h, src/render/CanvasWidget.cpp, src/system/SystemDesign.cpp, src/app/BrickWizardDialog.cpp and src/app/View3DPane.h in C:/Work/AI/Edraw_desktop. Screenshots show example data and current implementation. They do not establish production maturity or certified compliance. Traffic-light colors in the rule configuration express severity or disabled status. Green "Pass (not checked)" in that dialog is not proof that the drawing passed. The animated explainer alternates between a fault and its correction. Screenshots show one animation frame. Supporting backgrounds are AI-generated conceptual harness illustrations, not customer products or app-generated harnesses.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evidence: current native Windows app, development build captured on 10 October 2026. Sources: README.md, CLAUDE.md, src/app/MainWindow.cpp, src/app/Editor.h, src/render/CanvasWidget.cpp, src/system/SystemDesign.cpp, src/app/BrickWizardDialog.cpp and src/app/View3DPane.h in C:/Work/AI/Edraw_desktop. Screenshots show example data and current implementation. They do not establish production maturity or certified compliance. src/model/Document.cpp stores content fingerprints for validation. src/model/Document.h clears stamps on dirty edits. Selection and view-only display actions do not count as drawing changes. This screenshot is the actual passed schematic fixture. Supporting backgrounds are AI-generated conceptual harness illustrations, not customer products or app-generated harnesses.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evidence: current native Windows app, development build captured on 10 October 2026. Sources: README.md, CLAUDE.md, src/app/MainWindow.cpp, src/app/Editor.h, src/render/CanvasWidget.cpp, src/system/SystemDesign.cpp, src/app/BrickWizardDialog.cpp and src/app/View3DPane.h in C:/Work/AI/Edraw_desktop. Screenshots show example data and current implementation. They do not establish production maturity or certified compliance. The owner describes the 3D module as importing 3D files and checking harness routing and length in the installation environment during the design stage. The intended benefit is less time spent on physical trial fitting and rework. Time savings have not been measured. The screenshot shows a 3D rendering of the sample harness without an imported installation environment. Additional implemented APIs support STEP/STL/OBJ environment import, route nodes, branches, clips, length measurement and links back to the harness wizard. No claim of automated clearance verification, simulation accuracy or equivalence to a mature MCAD suite is made. Supporting backgrounds are AI-generated conceptual harness illustrations, not customer products or app-generated harnesses.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evidence: current native Windows app, development build captured on 10 October 2026. Sources: README.md, CLAUDE.md, src/app/MainWindow.cpp, src/app/Editor.h, src/render/CanvasWidget.cpp, src/system/SystemDesign.cpp, src/app/BrickWizardDialog.cpp and src/app/View3DPane.h in C:/Work/AI/Edraw_desktop. Screenshots show example data and current implementation. They do not establish production maturity or certified compliance. Actual DrawingFinderDialog capture shows a completed search and an embedded PDF viewer with a highlighted part number. The PDF was created as an illustrative demonstration datasheet. DWG content search depends on companion files/conversion support and is not presented as native unrestricted DWG parsing. Supporting backgrounds are AI-generated conceptual harness illustrations, not customer products or app-generated harnesses.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evidence: current native Windows app, development build captured on 10 October 2026. Sources: README.md, CLAUDE.md, src/app/MainWindow.cpp, src/app/Editor.h, src/render/CanvasWidget.cpp, src/system/SystemDesign.cpp, src/app/BrickWizardDialog.cpp and src/app/View3DPane.h in C:/Work/AI/Edraw_desktop. Screenshots show example data and current implementation. They do not establish production maturity or certified compliance. The deliberately incomplete sample exposes an unlinked harness and missing current saved drawing evidence. It is not a screenshot of a fully released project. Current project checks compare metadata, ports and schematic line-name consistency. Contact-level interface definitions remain roadmap work. Supporting backgrounds are AI-generated conceptual harness illustrations, not customer products or app-generated harnesses.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rechecked 10 October 2026. 360iResearch via Research and Markets, Nov 2025: $245.71M in 2025, https://www.researchandmarkets.com/reports/6090408/electrical-wiring-harness-design-software LP Information via MarketResearch.com, published 5 June 2026: $1,039M in 2025, https://www.marketresearch.com/LP-Information-Inc-v4134/Global-Electrical-Wiring-Harness-Design-45255319/ Both discuss software demand across end-user industries. 360iResearch includes aerospace/defense, automotive, industrial machinery and railways. LP Information includes automobiles, machinery, aerospace and others. Differences in vendor coverage and methodologies are not reconciled by the public summaries. The displayed span is two publisher estimates, not a confidence interval, census or single consensus. Startup and high-tech hardware buyers are part of the target segment, not an additive hardware-sales market. Supporting backgrounds are AI-generated conceptual harness illustrations, not customer products or app-generated harnesses.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TechSci Research, Electrical Computer-Aided Design (ECAD) Market, January 2026. https://www.techsciresearch.com/report/electrical-computer-aided-design-ecad-market/25205.html Publisher estimates $9.81B in 2025 and forecasts $19.37B in 2031. Category includes software, services, support, training and maintenance. It includes electrical schematics and PCB layouts and multiple industrial sectors. This broader context is not the current product serviceable market or a pure harness/cabinet-software estimate. It overlaps with the harness category and must not be added to it. Supporting backgrounds are AI-generated conceptual harness illustrations, not customer products or app-generated harnesses.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RevenueBase wire harness manufacturers page, data refreshed 19 September 2026: 1,363 companies. https://revenuebase.ai/companies/browse/wire-harness-manufacturers Broader cable and harness manufacturer category, refreshed 16 September 2026: 6,132 companies across 31 countries. https://revenuebase.ai/companies/browse/cable-and-harness-manufacturers WHMA history page states approximately 250 members. https://www.whma.org/about/history-whma Accessed 10 October 2026. Counts overlap and are not additive. Natural-language matching and association scope differ. These are prospecting proxies, not a census of independent design companies or confirmed buyers. Supporting backgrounds are AI-generated conceptual harness illustrations, not customer products or app-generated harnesses.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Vendor descriptions from official sources, accessed 10 October 2026. Siemens: https://www.siemens.com/en-gb/products/capital/offerings/wiring-harness-designer-essentials/ Zuken: https://www.zuken.com/en/resource/datasheet-e3-series-formboard/ EPLAN: https://www.eplan.com/gb-en/products/eplan-harness-prod/ SOLIDWORKS: https://www.solidworks.com/product/solidworks-electrical-3d Cadonix: https://www.cadonix.com/home/ RapidHarness: https://rapidharness.com/features This comparison describes advertised strengths and product focus. It does not claim that missing features are absent or that the new app has measured performance superiority. Supporting backgrounds are AI-generated conceptual harness illustrations, not customer products or app-generated harnesses.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evidence: current native Windows app, development build captured on 10 October 2026. Sources: README.md, CLAUDE.md, src/app/MainWindow.cpp, src/app/Editor.h, src/render/CanvasWidget.cpp, src/system/SystemDesign.cpp, src/app/BrickWizardDialog.cpp and src/app/View3DPane.h in C:/Work/AI/Edraw_desktop. Screenshots show example data and current implementation. They do not establish production maturity or certified compliance. Positioning hypotheses. RapidHarness FAQ requires internet to sign in, open and save designs and uses cloud storage: https://rapidharness.com/support/faq Cadonix describes Arcadia as cloud based: https://www.cadonix.com/wp-content/uploads/2020/05/Arcadia-Harness.pdf Local workflow is a concrete contrast with these deployments, not proof that all competing products require cloud or cannot operate offline. Animation and invalidation are observable app features. Their competitive uniqueness and adoption impact are unmeasured. Price reference: https://rapidharness.com/pricing Supporting backgrounds are AI-generated conceptual harness illustrations, not customer products or app-generated harnesses.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Pricing supplied by the project owner on 10 October 2026. Tiers are presented as progressively broader capability bundles for the commercial plan. Cumulative entitlements, free-tier limits, corporate discounts and license terms still require definition. The current app does not demonstrate a billing implementation. Annualized figures equal monthly price × 12, with no annual discount. Corporate customers may buy several seats. No confirmed commercial traction was supplied. Supporting backgrounds are AI-generated conceptual harness illustrations, not customer products or app-generated harnesses.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Owner-proposed prices: $70, $100, $150 per month. Each paying company buys one seat. Annual revenue = companies × monthly seat price × 12. These are illustrative subscription scenarios, not forecasts, signed contracts or profits. Free users produce zero modeled subscription revenue. No corporate discounts or churn are modeled. Supporting backgrounds are AI-generated conceptual harness illustrations, not customer products or app-generated harnesses.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Engineering tier at $100/seat/month. Annual subscriptions per customer equal $1,200 with one seat and $6,000 with five seats. Companies needed for 3,000 paid seats equal 3,000 with one seat/company or 600 with five seats/company. Subscription prices come from the owner. This is a seat-count comparison, not a customer acquisition forecast or profit claim. Supporting backgrounds are AI-generated conceptual harness illustrations, not customer products or app-generated harnesses.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market entry plan, not existing customer traction. Segment order should change after interviews and technical pilots. The suggested 5–10 design partners are recruitment targets. Supporting backgrounds are AI-generated conceptual harness illustrations, not customer products or app-generated harnesses.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roadmap. Base priorities: docs/proposed-project-functions.md. Electrical CAB wiring replaces the previously proposed manufacturing/test scope. CAB is treated as control cabinet wiring. Existing engineering calculations do not constitute hardware acceptance testing. Timing and delivery commitments are deliberately omitted. Supporting backgrounds are AI-generated conceptual harness illustrations, not customer products or app-generated harnesses.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User-supplied staffing plan: backend software engineer, promoter/sales, the user as CEO, full stack engineer and system software engineer. Each salary is approximately NIS 40,000/month for 24 months. Role responsibilities below are proposed. The five positions are planned capacity, not verified hires. Founder biography and employee names were not supplied. Supporting backgrounds are AI-generated conceptual harness illustrations, not customer products or app-generated harnesses.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User-supplied budget. Payroll: 5 people × NIS 40,000/month × 24 months = NIS 4,800,000. Office rent: NIS 1,200,000 for 24 months = NIS 50,000/month. Total stated base budget = NIS 6,000,000, equivalent to NIS 250,000/month. The user has not stated whether salaries include employer costs. No extra budget is supplied for equipment, promotion, software, cloud, insurance, legal/accounting or contingency. This is a base cost requirement, not a fully loaded financing forecast. No USD conversion or valuation is implied. Supporting backgrounds are AI-generated conceptual harness illustrations, not customer products or app-generated harnesses.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model, not an agreed dividend policy or a forecast. Initial investment NIS 6M and ownership 20%. No investor distributions in Years 1–2. Stable paid seats from Year 3, no acquisition ramp modeled. Engineering seat price $100/month. Planning FX 3.5 NIS/USD is an assumption, not a current spot rate. Cash contribution 85% of subscription revenue after variable costs. Annual salary/rent cost NIS 3M derives from the owner budget. A 20% reserve from positive operating cash represents assumed tax/reinvestment needs and is not a statutory tax rate. Remaining cash distributes pro-rata annually. No dilution, additional financing, preference rights or transaction fees. Other costs may exceed these allowances. Supporting backgrounds are AI-generated conceptual harness illustrations, not customer products or app-generated harnesses.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Inputs are on the preceding assumptions slide. Annual revenue in NIS = paid seats × $100 × 12 × 3.5. Annual investor cash = max(revenue × 85% − NIS 3M, 0) × 80% × 20%. Annual cash at 1,500 seats is NIS 376,800, 3,000 seats NIS 1,233,600, and 5,000 seats NIS 2,376,000. Annual payments begin at end of Year 3. Full payback year = 2 + ceil(NIS 6M / annual investor cash), so Years 18, 7 and 5. No return is modeled if annual operating cash is non-positive. Seat volumes are scenarios, not forecasts, and are stable from Year 3. No additional funding or dilution is modeled. Supporting backgrounds are AI-generated conceptual harness illustrations, not customer products or app-generated harnesses.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exit-only model with no prior distributions. Initial NIS 6M investment at illustrative 20% ownership. Exit equity values and dates are hypothetical, not forecasts or revenue-derived valuations. Investor proceeds equal 20% of exit equity value. A sale at NIS 30M is the gross recovery threshold for NIS 6M. Scenarios: Year 3 / NIS 30M gives NIS 6M and 0% gross ROI; Year 5 / NIS 60M gives NIS 12M and 100%; Year 7 / NIS 90M gives NIS 18M and 200%. No dilution, preferences, fees, taxes or debt adjustment. Sale is of equity value, not enterprise value. Do not add these proceeds to the preceding distribution scenario unless a combined cash-flow model is explicitly built. Supporting backgrounds are AI-generated conceptual harness illustrations, not customer products or app-generated harnesses.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base funding requirement and proposed salaries/rent come from the project owner. Milestones are proposals. Investor payback uses illustrative 20% ownership, with separate distribution and sale timelines. Terms are not agreed. No financial forecast, customer traction or founder biography was supplied. Product risks include incomplete metadata, format interoperability, validation coverage, performance at scale and commercialization. Standards-based certification and hardware acceptance evidence have not been established. Supporting backgrounds are AI-generated conceptual harness illustrations, not customer products or app-generated harnesses.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rechecked 10 October 2026: https://www.researchandmarkets.com/reports/6090408/electrical-wiring-harness-design-software https://www.marketresearch.com/LP-Information-Inc-v4134/Global-Electrical-Wiring-Harness-Design-45255319/ https://www.techsciresearch.com/report/electrical-computer-aided-design-ecad-market/25205.html Published harness estimates differ materially. Both cover end-user industries, not just harness manufacturers. Broad ECAD includes PCB and services beyond the app. Figures overlap and must not be summed. Hardware/device industry revenues are not software TAM. A measured serviceable market needs eligible accounts, paid-seat demand and segment research. Hardware startups and defense/high-tech system companies are target segments, not an additive market-size number. Supporting backgrounds are AI-generated conceptual harness illustrations, not customer products or app-generated harnesses.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software: https://www.researchandmarkets.com/reports/6090408/electrical-wiring-harness-design-software</a:t>
            </a:r>
          </a:p>
          <a:p xmlns:a="http://schemas.openxmlformats.org/drawingml/2006/main">
            <a:r>
              <a:t>narrow: https://revenuebase.ai/companies/browse/wire-harness-manufacturers</a:t>
            </a:r>
          </a:p>
          <a:p xmlns:a="http://schemas.openxmlformats.org/drawingml/2006/main">
            <a:r>
              <a:t>broad: https://revenuebase.ai/companies/browse/cable-and-harness-manufacturers</a:t>
            </a:r>
          </a:p>
          <a:p xmlns:a="http://schemas.openxmlformats.org/drawingml/2006/main">
            <a:r>
              <a:t>whma: https://www.whma.org/about/history-whma</a:t>
            </a:r>
          </a:p>
          <a:p xmlns:a="http://schemas.openxmlformats.org/drawingml/2006/main">
            <a:r>
              <a:t>hardware: https://www.researchandmarkets.com/reports/5866799/wire-harness-global-market-opportunities</a:t>
            </a:r>
          </a:p>
          <a:p xmlns:a="http://schemas.openxmlformats.org/drawingml/2006/main">
            <a:r>
              <a:t>hardware2: https://www.custommarketinsights.com/report/wire-harness-market/</a:t>
            </a:r>
          </a:p>
          <a:p xmlns:a="http://schemas.openxmlformats.org/drawingml/2006/main">
            <a:r>
              <a:t>siemens: https://www.siemens.com/en-gb/products/capital/offerings/wiring-harness-designer-essentials/</a:t>
            </a:r>
          </a:p>
          <a:p xmlns:a="http://schemas.openxmlformats.org/drawingml/2006/main">
            <a:r>
              <a:t>zuken: https://www.zuken.com/en/resource/datasheet-e3-series-formboard/</a:t>
            </a:r>
          </a:p>
          <a:p xmlns:a="http://schemas.openxmlformats.org/drawingml/2006/main">
            <a:r>
              <a:t>eplan: https://www.eplan.com/gb-en/products/eplan-harness-prod/</a:t>
            </a:r>
          </a:p>
          <a:p xmlns:a="http://schemas.openxmlformats.org/drawingml/2006/main">
            <a:r>
              <a:t>solidworks: https://www.solidworks.com/product/solidworks-electrical-3d</a:t>
            </a:r>
          </a:p>
          <a:p xmlns:a="http://schemas.openxmlformats.org/drawingml/2006/main">
            <a:r>
              <a:t>cadonix: https://www.cadonix.com/home/</a:t>
            </a:r>
          </a:p>
          <a:p xmlns:a="http://schemas.openxmlformats.org/drawingml/2006/main">
            <a:r>
              <a:t>rapid: https://rapidharness.com/features</a:t>
            </a:r>
          </a:p>
          <a:p xmlns:a="http://schemas.openxmlformats.org/drawingml/2006/main">
            <a:r>
              <a:t>rapidfaq: https://rapidharness.com/support/faq</a:t>
            </a:r>
          </a:p>
          <a:p xmlns:a="http://schemas.openxmlformats.org/drawingml/2006/main">
            <a:r>
              <a:t>rapidprice: https://rapidharness.com/pricing</a:t>
            </a:r>
          </a:p>
          <a:p xmlns:a="http://schemas.openxmlformats.org/drawingml/2006/main">
            <a:r>
              <a:t>lpi: https://www.marketresearch.com/LP-Information-Inc-v4134/Global-Electrical-Wiring-Harness-Design-45255319/</a:t>
            </a:r>
          </a:p>
          <a:p xmlns:a="http://schemas.openxmlformats.org/drawingml/2006/main">
            <a:r>
              <a:t>ecad: https://www.techsciresearch.com/report/electrical-computer-aided-design-ecad-market/25205.html</a:t>
            </a:r>
          </a:p>
          <a:p xmlns:a="http://schemas.openxmlformats.org/drawingml/2006/main">
            <a:r>
              <a:t>cabinet: https://www.zuken.com/en/product/e3series/cabinet-layout-and-routing/</a:t>
            </a:r>
          </a:p>
          <a:p xmlns:a="http://schemas.openxmlformats.org/drawingml/2006/main">
            <a:r>
              <a:t>Local product evidence: current application source and captured native UI, 10 October 2026. Demo screenshots contain sample project data. Source notes on each relevant slide identify assumptions and scope. All external research accessed 10 October 2026. Supporting backgrounds are AI-generated conceptual harness illustrations, not customer products or app-generated harnesses.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cc6d382097741a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08e60c1bca14f4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baab4bbb6f5489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e2b0eda11534f5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e34ec3fdcde413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c6dad49f5a4441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2BF28A3-E801-4DCE-8C7A-CEE31D93E0D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66512A7-394D-4B05-9753-1C7CBE524EA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9097C87-8F1C-4E63-A640-02D05F8F3D5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11F56A1-D058-454D-A31E-9D1E1F9E6EA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CA420B4-5620-48D8-BF30-3E5AD10037E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523FD35-6335-4F94-8E78-994D0DF4118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9710F58-F513-4218-834B-8C076D7387B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3C68F4B-D755-486B-8A9E-0C98B4C1747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CD7B91B-3AA9-46F7-B950-D952FD7C5D4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F7CFD48-0958-4550-A55E-E902D63EA15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8d2a7491d25452d" /><Relationship Type="http://schemas.openxmlformats.org/officeDocument/2006/relationships/slideLayout" Target="/ppt/slideLayouts/slideLayout1.xml" Id="Rea592fb6dff942c8" /><Relationship Type="http://schemas.openxmlformats.org/officeDocument/2006/relationships/slideLayout" Target="/ppt/slideLayouts/slideLayout2.xml" Id="R0b5776b2dee7496d" /><Relationship Type="http://schemas.openxmlformats.org/officeDocument/2006/relationships/slideLayout" Target="/ppt/slideLayouts/slideLayout3.xml" Id="R5a88fe250b484126" /><Relationship Type="http://schemas.openxmlformats.org/officeDocument/2006/relationships/slideLayout" Target="/ppt/slideLayouts/slideLayout4.xml" Id="R2251612ad9834214" /><Relationship Type="http://schemas.openxmlformats.org/officeDocument/2006/relationships/slideLayout" Target="/ppt/slideLayouts/slideLayout5.xml" Id="R9c913853ba9349f3" /><Relationship Type="http://schemas.openxmlformats.org/officeDocument/2006/relationships/slideLayout" Target="/ppt/slideLayouts/slideLayout6.xml" Id="R844d5f0dca734e3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a592fb6dff942c8"/>
    <p:sldLayoutId xmlns:r="http://schemas.openxmlformats.org/officeDocument/2006/relationships" id="2147483650" r:id="R0b5776b2dee7496d"/>
    <p:sldLayoutId xmlns:r="http://schemas.openxmlformats.org/officeDocument/2006/relationships" id="2147483651" r:id="R5a88fe250b484126"/>
    <p:sldLayoutId xmlns:r="http://schemas.openxmlformats.org/officeDocument/2006/relationships" id="2147483652" r:id="R2251612ad9834214"/>
    <p:sldLayoutId xmlns:r="http://schemas.openxmlformats.org/officeDocument/2006/relationships" id="2147483653" r:id="R9c913853ba9349f3"/>
    <p:sldLayoutId xmlns:r="http://schemas.openxmlformats.org/officeDocument/2006/relationships" id="2147483654" r:id="R844d5f0dca734e3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f47536256654982" /><Relationship Type="http://schemas.openxmlformats.org/officeDocument/2006/relationships/image" Target="/ppt/media/image.png" Id="R768efba1f5f64cab" /><Relationship Type="http://schemas.openxmlformats.org/officeDocument/2006/relationships/notesSlide" Target="/ppt/notesSlides/notesSlide1.xml" Id="R151a089a7db5491a" /></Relationships>
</file>

<file path=ppt/slides/_rels/slide2.xml.rels><?xml version='1.0' encoding='utf-8'?>
<Relationships xmlns="http://schemas.openxmlformats.org/package/2006/relationships"><Relationship Type="http://schemas.openxmlformats.org/officeDocument/2006/relationships/slideLayout" Target="/ppt/slideLayouts/slideLayout6.xml" Id="R92512614c5274cd0" /><Relationship Type="http://schemas.openxmlformats.org/officeDocument/2006/relationships/image" Target="../media/image.png" Id="Ra19c4a6aef10463e" /><Relationship Type="http://schemas.openxmlformats.org/officeDocument/2006/relationships/notesSlide" Target="/ppt/notesSlides/notesSlide2.xml" Id="R468cc8df57074ee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bf80dbd45d24368" /><Relationship Type="http://schemas.openxmlformats.org/officeDocument/2006/relationships/image" Target="/ppt/media/image3.png" Id="R1b557439a3014e77" /><Relationship Type="http://schemas.openxmlformats.org/officeDocument/2006/relationships/notesSlide" Target="/ppt/notesSlides/notesSlide3.xml" Id="R66f6d302beaa42b8" /></Relationships>
</file>

<file path=ppt/slides/_rels/slide4.xml.rels><?xml version='1.0' encoding='utf-8'?>
<Relationships xmlns="http://schemas.openxmlformats.org/package/2006/relationships"><Relationship Type="http://schemas.openxmlformats.org/officeDocument/2006/relationships/slideLayout" Target="/ppt/slideLayouts/slideLayout6.xml" Id="Rccf00218b58f4d46" /><Relationship Type="http://schemas.openxmlformats.org/officeDocument/2006/relationships/image" Target="../media/image.png" Id="Re62efc095a9e4003" /><Relationship Type="http://schemas.openxmlformats.org/officeDocument/2006/relationships/notesSlide" Target="/ppt/notesSlides/notesSlide4.xml" Id="R992f7386e47c48b0" /></Relationships>
</file>

<file path=ppt/slides/_rels/slide5.xml.rels><?xml version='1.0' encoding='utf-8'?>
<Relationships xmlns="http://schemas.openxmlformats.org/package/2006/relationships"><Relationship Type="http://schemas.openxmlformats.org/officeDocument/2006/relationships/slideLayout" Target="/ppt/slideLayouts/slideLayout6.xml" Id="R1811215153834882" /><Relationship Type="http://schemas.openxmlformats.org/officeDocument/2006/relationships/image" Target="../media/image3.png" Id="Re7f224bee1674f15" /><Relationship Type="http://schemas.openxmlformats.org/officeDocument/2006/relationships/notesSlide" Target="/ppt/notesSlides/notesSlide5.xml" Id="R4e063dba92244f9b" /></Relationships>
</file>

<file path=ppt/slides/_rels/slide6.xml.rels><?xml version='1.0' encoding='utf-8'?>
<Relationships xmlns="http://schemas.openxmlformats.org/package/2006/relationships"><Relationship Type="http://schemas.openxmlformats.org/officeDocument/2006/relationships/slideLayout" Target="/ppt/slideLayouts/slideLayout6.xml" Id="Rcfda2798399c4e20" /><Relationship Type="http://schemas.openxmlformats.org/officeDocument/2006/relationships/image" Target="../media/image.png" Id="R36aa616e02ef45c5" /><Relationship Type="http://schemas.openxmlformats.org/officeDocument/2006/relationships/notesSlide" Target="/ppt/notesSlides/notesSlide6.xml" Id="R08580fa5efd24088" /></Relationships>
</file>

<file path=ppt/slides/_rels/slide7.xml.rels><?xml version='1.0' encoding='utf-8'?>
<Relationships xmlns="http://schemas.openxmlformats.org/package/2006/relationships"><Relationship Type="http://schemas.openxmlformats.org/officeDocument/2006/relationships/slideLayout" Target="/ppt/slideLayouts/slideLayout6.xml" Id="R54a833552a5e48a4" /><Relationship Type="http://schemas.openxmlformats.org/officeDocument/2006/relationships/image" Target="../media/image3.png" Id="R7b06285962c54ee7" /><Relationship Type="http://schemas.openxmlformats.org/officeDocument/2006/relationships/notesSlide" Target="/ppt/notesSlides/notesSlide7.xml" Id="R34904c9079344134" /></Relationships>
</file>

<file path=ppt/slides/_rels/slide8.xml.rels><?xml version='1.0' encoding='utf-8'?>
<Relationships xmlns="http://schemas.openxmlformats.org/package/2006/relationships"><Relationship Type="http://schemas.openxmlformats.org/officeDocument/2006/relationships/slideLayout" Target="/ppt/slideLayouts/slideLayout6.xml" Id="R3004d5b01c5e4849" /><Relationship Type="http://schemas.openxmlformats.org/officeDocument/2006/relationships/image" Target="../media/image.png" Id="Reb4833b360744d43" /><Relationship Type="http://schemas.openxmlformats.org/officeDocument/2006/relationships/image" Target="/ppt/media/image9.png" Id="Rd7910265b4744797" /><Relationship Type="http://schemas.openxmlformats.org/officeDocument/2006/relationships/notesSlide" Target="/ppt/notesSlides/notesSlide8.xml" Id="Rc23f7842b1334e5f" /></Relationships>
</file>

<file path=ppt/slides/_rels/slide9.xml.rels><?xml version='1.0' encoding='utf-8'?>
<Relationships xmlns="http://schemas.openxmlformats.org/package/2006/relationships"><Relationship Type="http://schemas.openxmlformats.org/officeDocument/2006/relationships/slideLayout" Target="/ppt/slideLayouts/slideLayout6.xml" Id="Raffed75f25f944e5" /><Relationship Type="http://schemas.openxmlformats.org/officeDocument/2006/relationships/image" Target="../media/image3.png" Id="R9933f593dcb94cd4" /><Relationship Type="http://schemas.openxmlformats.org/officeDocument/2006/relationships/image" Target="/ppt/media/image11.png" Id="R6796bde4d2574cf7" /><Relationship Type="http://schemas.openxmlformats.org/officeDocument/2006/relationships/notesSlide" Target="/ppt/notesSlides/notesSlide9.xml" Id="Rf52ef03aad6a4a25" /></Relationships>
</file>

<file path=ppt/slides/_rels/slide10.xml.rels><?xml version='1.0' encoding='utf-8'?>
<Relationships xmlns="http://schemas.openxmlformats.org/package/2006/relationships"><Relationship Type="http://schemas.openxmlformats.org/officeDocument/2006/relationships/slideLayout" Target="/ppt/slideLayouts/slideLayout6.xml" Id="R3d92bd7cafae4ac7" /><Relationship Type="http://schemas.openxmlformats.org/officeDocument/2006/relationships/image" Target="../media/image.png" Id="Rca7588129c5c42e4" /><Relationship Type="http://schemas.openxmlformats.org/officeDocument/2006/relationships/image" Target="/ppt/media/image13.png" Id="Re2af9e766d2346c4" /><Relationship Type="http://schemas.openxmlformats.org/officeDocument/2006/relationships/notesSlide" Target="/ppt/notesSlides/notesSlide10.xml" Id="R915140ff51a449e5" /></Relationships>
</file>

<file path=ppt/slides/_rels/slide11.xml.rels><?xml version='1.0' encoding='utf-8'?>
<Relationships xmlns="http://schemas.openxmlformats.org/package/2006/relationships"><Relationship Type="http://schemas.openxmlformats.org/officeDocument/2006/relationships/slideLayout" Target="/ppt/slideLayouts/slideLayout6.xml" Id="R83ddcc6d63ff40ad" /><Relationship Type="http://schemas.openxmlformats.org/officeDocument/2006/relationships/image" Target="../media/image3.png" Id="Ra31ea465a3574797" /><Relationship Type="http://schemas.openxmlformats.org/officeDocument/2006/relationships/image" Target="/ppt/media/image15.png" Id="Rc7e033c4bef94696" /><Relationship Type="http://schemas.openxmlformats.org/officeDocument/2006/relationships/notesSlide" Target="/ppt/notesSlides/notesSlide11.xml" Id="R44332b7017be4946" /></Relationships>
</file>

<file path=ppt/slides/_rels/slide12.xml.rels><?xml version='1.0' encoding='utf-8'?>
<Relationships xmlns="http://schemas.openxmlformats.org/package/2006/relationships"><Relationship Type="http://schemas.openxmlformats.org/officeDocument/2006/relationships/slideLayout" Target="/ppt/slideLayouts/slideLayout6.xml" Id="R966eb4bf35284c5b" /><Relationship Type="http://schemas.openxmlformats.org/officeDocument/2006/relationships/image" Target="../media/image.png" Id="R501babd352894319" /><Relationship Type="http://schemas.openxmlformats.org/officeDocument/2006/relationships/image" Target="/ppt/media/image17.png" Id="R8464ac6f83fb44d4" /><Relationship Type="http://schemas.openxmlformats.org/officeDocument/2006/relationships/image" Target="/ppt/media/image18.png" Id="R72e3cefb7b184c79" /><Relationship Type="http://schemas.openxmlformats.org/officeDocument/2006/relationships/notesSlide" Target="/ppt/notesSlides/notesSlide12.xml" Id="R3e33cd16b91c41de" /></Relationships>
</file>

<file path=ppt/slides/_rels/slide13.xml.rels><?xml version='1.0' encoding='utf-8'?>
<Relationships xmlns="http://schemas.openxmlformats.org/package/2006/relationships"><Relationship Type="http://schemas.openxmlformats.org/officeDocument/2006/relationships/slideLayout" Target="/ppt/slideLayouts/slideLayout6.xml" Id="R7db21d155cb54441" /><Relationship Type="http://schemas.openxmlformats.org/officeDocument/2006/relationships/image" Target="../media/image3.png" Id="R88d41f9fe82e4cef" /><Relationship Type="http://schemas.openxmlformats.org/officeDocument/2006/relationships/image" Target="/ppt/media/image20.png" Id="R38efcd487e58497c" /><Relationship Type="http://schemas.openxmlformats.org/officeDocument/2006/relationships/notesSlide" Target="/ppt/notesSlides/notesSlide13.xml" Id="Re932ba8510934802" /></Relationships>
</file>

<file path=ppt/slides/_rels/slide14.xml.rels><?xml version='1.0' encoding='utf-8'?>
<Relationships xmlns="http://schemas.openxmlformats.org/package/2006/relationships"><Relationship Type="http://schemas.openxmlformats.org/officeDocument/2006/relationships/slideLayout" Target="/ppt/slideLayouts/slideLayout6.xml" Id="R3d737838bb854abb" /><Relationship Type="http://schemas.openxmlformats.org/officeDocument/2006/relationships/image" Target="../media/image.png" Id="R7932041e02d646bb" /><Relationship Type="http://schemas.openxmlformats.org/officeDocument/2006/relationships/image" Target="/ppt/media/image22.png" Id="R5c73b908325b4fb7" /><Relationship Type="http://schemas.openxmlformats.org/officeDocument/2006/relationships/notesSlide" Target="/ppt/notesSlides/notesSlide14.xml" Id="R3b8ee2e840354f60" /></Relationships>
</file>

<file path=ppt/slides/_rels/slide15.xml.rels><?xml version='1.0' encoding='utf-8'?>
<Relationships xmlns="http://schemas.openxmlformats.org/package/2006/relationships"><Relationship Type="http://schemas.openxmlformats.org/officeDocument/2006/relationships/slideLayout" Target="/ppt/slideLayouts/slideLayout6.xml" Id="R4bce57f711c549f4" /><Relationship Type="http://schemas.openxmlformats.org/officeDocument/2006/relationships/image" Target="../media/image3.png" Id="R6a6667476ce74dde" /><Relationship Type="http://schemas.openxmlformats.org/officeDocument/2006/relationships/image" Target="/ppt/media/image24.png" Id="R05ac541e7ad04f52" /><Relationship Type="http://schemas.openxmlformats.org/officeDocument/2006/relationships/notesSlide" Target="/ppt/notesSlides/notesSlide15.xml" Id="R2deb41be76ac4fef" /></Relationships>
</file>

<file path=ppt/slides/_rels/slide16.xml.rels><?xml version='1.0' encoding='utf-8'?>
<Relationships xmlns="http://schemas.openxmlformats.org/package/2006/relationships"><Relationship Type="http://schemas.openxmlformats.org/officeDocument/2006/relationships/slideLayout" Target="/ppt/slideLayouts/slideLayout6.xml" Id="R37af4382da3d4bb4" /><Relationship Type="http://schemas.openxmlformats.org/officeDocument/2006/relationships/image" Target="../media/image.png" Id="R9d1b65255a6c4315" /><Relationship Type="http://schemas.openxmlformats.org/officeDocument/2006/relationships/image" Target="/ppt/media/image26.png" Id="R5e3a4b1e3c69498d" /><Relationship Type="http://schemas.openxmlformats.org/officeDocument/2006/relationships/notesSlide" Target="/ppt/notesSlides/notesSlide16.xml" Id="Rad477a57a9b94ed5" /></Relationships>
</file>

<file path=ppt/slides/_rels/slide17.xml.rels><?xml version='1.0' encoding='utf-8'?>
<Relationships xmlns="http://schemas.openxmlformats.org/package/2006/relationships"><Relationship Type="http://schemas.openxmlformats.org/officeDocument/2006/relationships/slideLayout" Target="/ppt/slideLayouts/slideLayout6.xml" Id="Ra6d46c759f8c4876" /><Relationship Type="http://schemas.openxmlformats.org/officeDocument/2006/relationships/image" Target="../media/image3.png" Id="R4891fa3844c74056" /><Relationship Type="http://schemas.openxmlformats.org/officeDocument/2006/relationships/chart" Target="/ppt/slides/charts/chart1.xml" Id="Rd1246feec9c648a6" /><Relationship Type="http://schemas.openxmlformats.org/officeDocument/2006/relationships/notesSlide" Target="/ppt/notesSlides/notesSlide17.xml" Id="R261d324193534dd0" /></Relationships>
</file>

<file path=ppt/slides/_rels/slide18.xml.rels><?xml version='1.0' encoding='utf-8'?>
<Relationships xmlns="http://schemas.openxmlformats.org/package/2006/relationships"><Relationship Type="http://schemas.openxmlformats.org/officeDocument/2006/relationships/slideLayout" Target="/ppt/slideLayouts/slideLayout6.xml" Id="Rad11e4c06462491b" /><Relationship Type="http://schemas.openxmlformats.org/officeDocument/2006/relationships/image" Target="../media/image.png" Id="R0ca357f4604a46d1" /><Relationship Type="http://schemas.openxmlformats.org/officeDocument/2006/relationships/chart" Target="/ppt/slides/charts/chart2.xml" Id="R16f52cc417194a7a" /><Relationship Type="http://schemas.openxmlformats.org/officeDocument/2006/relationships/notesSlide" Target="/ppt/notesSlides/notesSlide18.xml" Id="R03f4636a85ea411e" /></Relationships>
</file>

<file path=ppt/slides/_rels/slide19.xml.rels><?xml version='1.0' encoding='utf-8'?>
<Relationships xmlns="http://schemas.openxmlformats.org/package/2006/relationships"><Relationship Type="http://schemas.openxmlformats.org/officeDocument/2006/relationships/slideLayout" Target="/ppt/slideLayouts/slideLayout6.xml" Id="R821136a2d3ae443e" /><Relationship Type="http://schemas.openxmlformats.org/officeDocument/2006/relationships/image" Target="../media/image3.png" Id="R8d3eb40a99b4434d" /><Relationship Type="http://schemas.openxmlformats.org/officeDocument/2006/relationships/notesSlide" Target="/ppt/notesSlides/notesSlide19.xml" Id="R5cf6095c4da947e8" /></Relationships>
</file>

<file path=ppt/slides/_rels/slide20.xml.rels><?xml version='1.0' encoding='utf-8'?>
<Relationships xmlns="http://schemas.openxmlformats.org/package/2006/relationships"><Relationship Type="http://schemas.openxmlformats.org/officeDocument/2006/relationships/slideLayout" Target="/ppt/slideLayouts/slideLayout6.xml" Id="R6ad2f93acb3e409d" /><Relationship Type="http://schemas.openxmlformats.org/officeDocument/2006/relationships/image" Target="../media/image.png" Id="R8e1acd22d3f54b9c" /><Relationship Type="http://schemas.openxmlformats.org/officeDocument/2006/relationships/notesSlide" Target="/ppt/notesSlides/notesSlide20.xml" Id="R533ce1ca773d4baa" /></Relationships>
</file>

<file path=ppt/slides/_rels/slide21.xml.rels><?xml version='1.0' encoding='utf-8'?>
<Relationships xmlns="http://schemas.openxmlformats.org/package/2006/relationships"><Relationship Type="http://schemas.openxmlformats.org/officeDocument/2006/relationships/slideLayout" Target="/ppt/slideLayouts/slideLayout6.xml" Id="Rb6d2c197cc7e42fe" /><Relationship Type="http://schemas.openxmlformats.org/officeDocument/2006/relationships/image" Target="../media/image3.png" Id="R1aac13406c88415c" /><Relationship Type="http://schemas.openxmlformats.org/officeDocument/2006/relationships/notesSlide" Target="/ppt/notesSlides/notesSlide21.xml" Id="R2298c75fd4c54167" /></Relationships>
</file>

<file path=ppt/slides/_rels/slide22.xml.rels><?xml version='1.0' encoding='utf-8'?>
<Relationships xmlns="http://schemas.openxmlformats.org/package/2006/relationships"><Relationship Type="http://schemas.openxmlformats.org/officeDocument/2006/relationships/slideLayout" Target="/ppt/slideLayouts/slideLayout6.xml" Id="Raa5689c2532346b7" /><Relationship Type="http://schemas.openxmlformats.org/officeDocument/2006/relationships/image" Target="../media/image.png" Id="R33ce5e64f3664eff" /><Relationship Type="http://schemas.openxmlformats.org/officeDocument/2006/relationships/notesSlide" Target="/ppt/notesSlides/notesSlide22.xml" Id="R1b51cb4eb70645f4" /></Relationships>
</file>

<file path=ppt/slides/_rels/slide23.xml.rels><?xml version='1.0' encoding='utf-8'?>
<Relationships xmlns="http://schemas.openxmlformats.org/package/2006/relationships"><Relationship Type="http://schemas.openxmlformats.org/officeDocument/2006/relationships/slideLayout" Target="/ppt/slideLayouts/slideLayout6.xml" Id="R4824a1325e464c2b" /><Relationship Type="http://schemas.openxmlformats.org/officeDocument/2006/relationships/image" Target="../media/image3.png" Id="R187306521b2b42b2" /><Relationship Type="http://schemas.openxmlformats.org/officeDocument/2006/relationships/notesSlide" Target="/ppt/notesSlides/notesSlide23.xml" Id="R3e6774d4093745b8" /></Relationships>
</file>

<file path=ppt/slides/_rels/slide24.xml.rels><?xml version='1.0' encoding='utf-8'?>
<Relationships xmlns="http://schemas.openxmlformats.org/package/2006/relationships"><Relationship Type="http://schemas.openxmlformats.org/officeDocument/2006/relationships/slideLayout" Target="/ppt/slideLayouts/slideLayout6.xml" Id="Ra58ba9e418f64dd1" /><Relationship Type="http://schemas.openxmlformats.org/officeDocument/2006/relationships/image" Target="../media/image.png" Id="Rb6e30d902db24406" /><Relationship Type="http://schemas.openxmlformats.org/officeDocument/2006/relationships/notesSlide" Target="/ppt/notesSlides/notesSlide24.xml" Id="Re29b98a8180a49c8" /></Relationships>
</file>

<file path=ppt/slides/_rels/slide25.xml.rels><?xml version='1.0' encoding='utf-8'?>
<Relationships xmlns="http://schemas.openxmlformats.org/package/2006/relationships"><Relationship Type="http://schemas.openxmlformats.org/officeDocument/2006/relationships/slideLayout" Target="/ppt/slideLayouts/slideLayout6.xml" Id="R7c0471204279424a" /><Relationship Type="http://schemas.openxmlformats.org/officeDocument/2006/relationships/image" Target="../media/image3.png" Id="Rdb8ec8b4b5574a1c" /><Relationship Type="http://schemas.openxmlformats.org/officeDocument/2006/relationships/notesSlide" Target="/ppt/notesSlides/notesSlide25.xml" Id="R7eaf7813d0034cf0" /></Relationships>
</file>

<file path=ppt/slides/_rels/slide26.xml.rels><?xml version='1.0' encoding='utf-8'?>
<Relationships xmlns="http://schemas.openxmlformats.org/package/2006/relationships"><Relationship Type="http://schemas.openxmlformats.org/officeDocument/2006/relationships/slideLayout" Target="/ppt/slideLayouts/slideLayout6.xml" Id="R56979b2b96044d0c" /><Relationship Type="http://schemas.openxmlformats.org/officeDocument/2006/relationships/image" Target="../media/image.png" Id="Rcc71069cae684c8e" /><Relationship Type="http://schemas.openxmlformats.org/officeDocument/2006/relationships/notesSlide" Target="/ppt/notesSlides/notesSlide26.xml" Id="R4018ed10ae044503" /></Relationships>
</file>

<file path=ppt/slides/_rels/slide27.xml.rels><?xml version='1.0' encoding='utf-8'?>
<Relationships xmlns="http://schemas.openxmlformats.org/package/2006/relationships"><Relationship Type="http://schemas.openxmlformats.org/officeDocument/2006/relationships/slideLayout" Target="/ppt/slideLayouts/slideLayout6.xml" Id="Rb7b49d1411104660" /><Relationship Type="http://schemas.openxmlformats.org/officeDocument/2006/relationships/image" Target="../media/image3.png" Id="R2c37b309d820415f" /><Relationship Type="http://schemas.openxmlformats.org/officeDocument/2006/relationships/notesSlide" Target="/ppt/notesSlides/notesSlide27.xml" Id="R34e3bbcc8b0d4d1f" /></Relationships>
</file>

<file path=ppt/slides/_rels/slide28.xml.rels><?xml version='1.0' encoding='utf-8'?>
<Relationships xmlns="http://schemas.openxmlformats.org/package/2006/relationships"><Relationship Type="http://schemas.openxmlformats.org/officeDocument/2006/relationships/slideLayout" Target="/ppt/slideLayouts/slideLayout6.xml" Id="Ra153b20b1a5144fd" /><Relationship Type="http://schemas.openxmlformats.org/officeDocument/2006/relationships/image" Target="../media/image.png" Id="Ra9e76bf4748d4e9f" /><Relationship Type="http://schemas.openxmlformats.org/officeDocument/2006/relationships/notesSlide" Target="/ppt/notesSlides/notesSlide28.xml" Id="Ra35bb9bb7dec4390" /></Relationships>
</file>

<file path=ppt/slides/_rels/slide29.xml.rels><?xml version='1.0' encoding='utf-8'?>
<Relationships xmlns="http://schemas.openxmlformats.org/package/2006/relationships"><Relationship Type="http://schemas.openxmlformats.org/officeDocument/2006/relationships/slideLayout" Target="/ppt/slideLayouts/slideLayout6.xml" Id="R38d1331f8066491f" /><Relationship Type="http://schemas.openxmlformats.org/officeDocument/2006/relationships/image" Target="../media/image3.png" Id="R73bb5ae25df94ead" /><Relationship Type="http://schemas.openxmlformats.org/officeDocument/2006/relationships/notesSlide" Target="/ppt/notesSlides/notesSlide29.xml" Id="Ra321b520a1c84b11" /></Relationships>
</file>

<file path=ppt/slides/_rels/slide30.xml.rels><?xml version='1.0' encoding='utf-8'?>
<Relationships xmlns="http://schemas.openxmlformats.org/package/2006/relationships"><Relationship Type="http://schemas.openxmlformats.org/officeDocument/2006/relationships/slideLayout" Target="/ppt/slideLayouts/slideLayout6.xml" Id="R6af0109f5114416a" /><Relationship Type="http://schemas.openxmlformats.org/officeDocument/2006/relationships/image" Target="../media/image.png" Id="R036e7628655748c9" /><Relationship Type="http://schemas.openxmlformats.org/officeDocument/2006/relationships/notesSlide" Target="/ppt/notesSlides/notesSlide30.xml" Id="R7fa73b4048ef4683" /></Relationships>
</file>

<file path=ppt/slides/_rels/slide31.xml.rels><?xml version='1.0' encoding='utf-8'?>
<Relationships xmlns="http://schemas.openxmlformats.org/package/2006/relationships"><Relationship Type="http://schemas.openxmlformats.org/officeDocument/2006/relationships/slideLayout" Target="/ppt/slideLayouts/slideLayout6.xml" Id="R0711ee26eabf47ac" /><Relationship Type="http://schemas.openxmlformats.org/officeDocument/2006/relationships/image" Target="../media/image3.png" Id="Rd622b6d5972744d8" /><Relationship Type="http://schemas.openxmlformats.org/officeDocument/2006/relationships/notesSlide" Target="/ppt/notesSlides/notesSlide31.xml" Id="Rc512a68ed4974ad3" /></Relationships>
</file>

<file path=ppt/slides/_rels/slide32.xml.rels><?xml version='1.0' encoding='utf-8'?>
<Relationships xmlns="http://schemas.openxmlformats.org/package/2006/relationships"><Relationship Type="http://schemas.openxmlformats.org/officeDocument/2006/relationships/slideLayout" Target="/ppt/slideLayouts/slideLayout6.xml" Id="R941c68b782d14ed8" /><Relationship Type="http://schemas.openxmlformats.org/officeDocument/2006/relationships/image" Target="../media/image.png" Id="R4a5cbf89c23c438e" /><Relationship Type="http://schemas.openxmlformats.org/officeDocument/2006/relationships/notesSlide" Target="/ppt/notesSlides/notesSlide32.xml" Id="R7fa74570df654f54" /></Relationships>
</file>

<file path=ppt/slides/_rels/slide33.xml.rels><?xml version='1.0' encoding='utf-8'?>
<Relationships xmlns="http://schemas.openxmlformats.org/package/2006/relationships"><Relationship Type="http://schemas.openxmlformats.org/officeDocument/2006/relationships/slideLayout" Target="/ppt/slideLayouts/slideLayout6.xml" Id="Rdb4223c6568b4279" /><Relationship Type="http://schemas.openxmlformats.org/officeDocument/2006/relationships/image" Target="../media/image3.png" Id="Rf78dcbe99a9e4023" /><Relationship Type="http://schemas.openxmlformats.org/officeDocument/2006/relationships/notesSlide" Target="/ppt/notesSlides/notesSlide33.xml" Id="R8db048632c3d4cc4" /></Relationships>
</file>

<file path=ppt/slides/_rels/slide34.xml.rels><?xml version='1.0' encoding='utf-8'?>
<Relationships xmlns="http://schemas.openxmlformats.org/package/2006/relationships"><Relationship Type="http://schemas.openxmlformats.org/officeDocument/2006/relationships/slideLayout" Target="/ppt/slideLayouts/slideLayout6.xml" Id="R4f439b4330df4dae" /><Relationship Type="http://schemas.openxmlformats.org/officeDocument/2006/relationships/image" Target="../media/image.png" Id="R0e542a3df0dc4187" /><Relationship Type="http://schemas.openxmlformats.org/officeDocument/2006/relationships/notesSlide" Target="/ppt/notesSlides/notesSlide34.xml" Id="R18b68664e4f8439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2025 market (USD millions)</c:v>
          </c:tx>
          <c:spPr>
            <a:solidFill xmlns:a="http://schemas.openxmlformats.org/drawingml/2006/main">
              <a:srgbClr val="287FA7"/>
            </a:solidFill>
          </c:spPr>
          <c:dPt>
            <c:idx val="1"/>
            <c:invertIfNegative val="0"/>
            <c:spPr>
              <a:solidFill xmlns:a="http://schemas.openxmlformats.org/drawingml/2006/main">
                <a:srgbClr val="38A18F"/>
              </a:solidFill>
            </c:spPr>
          </c:dPt>
          <c:cat>
            <c:strRef>
              <c:f>'Chart Data'!$A$2:$A$3</c:f>
              <c:strCache>
                <c:ptCount val="2"/>
                <c:pt idx="0">
                  <c:v>360iResearch</c:v>
                </c:pt>
                <c:pt idx="1">
                  <c:v>LP Information</c:v>
                </c:pt>
              </c:strCache>
            </c:strRef>
          </c:cat>
          <c:val>
            <c:numRef>
              <c:f>'Chart Data'!$B$2:$B$3</c:f>
              <c:numCache>
                <c:formatCode>0</c:formatCode>
                <c:ptCount val="2"/>
                <c:pt idx="0">
                  <c:v>245.71</c:v>
                </c:pt>
                <c:pt idx="1">
                  <c:v>1039</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800" b="1">
                  <a:solidFill>
                    <a:srgbClr val="173B50"/>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9C6D1"/>
            </a:solidFill>
          </a:ln>
        </c:spPr>
        <c:txPr>
          <a:bodyPr xmlns:a="http://schemas.openxmlformats.org/drawingml/2006/main" anchorCtr="1"/>
          <a:lstStyle xmlns:a="http://schemas.openxmlformats.org/drawingml/2006/main"/>
          <a:p xmlns:a="http://schemas.openxmlformats.org/drawingml/2006/main">
            <a:pPr>
              <a:defRPr sz="1650">
                <a:solidFill>
                  <a:srgbClr val="173B50"/>
                </a:solidFill>
                <a:latin typeface="Arial"/>
                <a:ea typeface="Arial"/>
                <a:cs typeface="Arial"/>
              </a:defRPr>
            </a:pPr>
          </a:p>
        </c:txPr>
        <c:crossAx val="48672768"/>
      </c:catAx>
      <c:valAx>
        <c:axId val="48672768"/>
        <c:scaling>
          <c:orientation val="minMax"/>
          <c:max val="1200"/>
          <c:min val="0"/>
        </c:scaling>
        <c:delete val="0"/>
        <c:axPos val="l"/>
        <c:majorGridlines>
          <c:spPr>
            <a:ln xmlns:a="http://schemas.openxmlformats.org/drawingml/2006/main" w="4763">
              <a:solidFill>
                <a:srgbClr val="D4DBE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16C7B"/>
                </a:solidFill>
                <a:latin typeface="Arial"/>
                <a:ea typeface="Arial"/>
                <a:cs typeface="Arial"/>
              </a:defRPr>
            </a:pPr>
          </a:p>
        </c:txPr>
        <c:crossAx val="48650112"/>
        <c:crossBetween val="between"/>
        <c:majorUnit val="30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Global ECAD (USD billions)</c:v>
          </c:tx>
          <c:spPr>
            <a:solidFill xmlns:a="http://schemas.openxmlformats.org/drawingml/2006/main">
              <a:srgbClr val="287FA7"/>
            </a:solidFill>
          </c:spPr>
          <c:dPt>
            <c:idx val="1"/>
            <c:invertIfNegative val="0"/>
            <c:spPr>
              <a:solidFill xmlns:a="http://schemas.openxmlformats.org/drawingml/2006/main">
                <a:srgbClr val="38A18F"/>
              </a:solidFill>
            </c:spPr>
          </c:dPt>
          <c:cat>
            <c:strRef>
              <c:f>'Chart Data'!$A$2:$A$3</c:f>
              <c:strCache>
                <c:ptCount val="2"/>
                <c:pt idx="0">
                  <c:v>2025 estimate</c:v>
                </c:pt>
                <c:pt idx="1">
                  <c:v>2031 forecast</c:v>
                </c:pt>
              </c:strCache>
            </c:strRef>
          </c:cat>
          <c:val>
            <c:numRef>
              <c:f>'Chart Data'!$B$2:$B$3</c:f>
              <c:numCache>
                <c:formatCode>0</c:formatCode>
                <c:ptCount val="2"/>
                <c:pt idx="0">
                  <c:v>9.81</c:v>
                </c:pt>
                <c:pt idx="1">
                  <c:v>19.37</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800" b="1">
                  <a:solidFill>
                    <a:srgbClr val="173B50"/>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9C6D1"/>
            </a:solidFill>
          </a:ln>
        </c:spPr>
        <c:txPr>
          <a:bodyPr xmlns:a="http://schemas.openxmlformats.org/drawingml/2006/main" anchorCtr="1"/>
          <a:lstStyle xmlns:a="http://schemas.openxmlformats.org/drawingml/2006/main"/>
          <a:p xmlns:a="http://schemas.openxmlformats.org/drawingml/2006/main">
            <a:pPr>
              <a:defRPr sz="1650">
                <a:solidFill>
                  <a:srgbClr val="173B50"/>
                </a:solidFill>
                <a:latin typeface="Arial"/>
                <a:ea typeface="Arial"/>
                <a:cs typeface="Arial"/>
              </a:defRPr>
            </a:pPr>
          </a:p>
        </c:txPr>
        <c:crossAx val="48672768"/>
      </c:catAx>
      <c:valAx>
        <c:axId val="48672768"/>
        <c:scaling>
          <c:orientation val="minMax"/>
          <c:max val="22"/>
          <c:min val="0"/>
        </c:scaling>
        <c:delete val="0"/>
        <c:axPos val="l"/>
        <c:majorGridlines>
          <c:spPr>
            <a:ln xmlns:a="http://schemas.openxmlformats.org/drawingml/2006/main" w="4763">
              <a:solidFill>
                <a:srgbClr val="D4DBE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16C7B"/>
                </a:solidFill>
                <a:latin typeface="Arial"/>
                <a:ea typeface="Arial"/>
                <a:cs typeface="Arial"/>
              </a:defRPr>
            </a:pPr>
          </a:p>
        </c:txPr>
        <c:crossAx val="48650112"/>
        <c:crossBetween val="between"/>
        <c:majorUnit val="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00ED546B-FE2E-4B52-80D2-9AB8F0093495}"/>
              </a:ext>
            </a:extLst>
          </p:cNvPr>
          <p:cNvPicPr>
            <a:picLocks xmlns:a="http://schemas.openxmlformats.org/drawingml/2006/main" noChangeAspect="1"/>
          </p:cNvPicPr>
          <p:nvPr/>
        </p:nvPicPr>
        <p:blipFill>
          <a:blip xmlns:r="http://schemas.openxmlformats.org/officeDocument/2006/relationships" xmlns:a="http://schemas.openxmlformats.org/drawingml/2006/main" r:embed="R768efba1f5f64ca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arness&#10;Design Platform">
            <a:extLst xmlns:a="http://schemas.openxmlformats.org/drawingml/2006/main">
              <a:ext uri="{FF2B5EF4-FFF2-40B4-BE49-F238E27FC236}">
                <a16:creationId xmlns:a16="http://schemas.microsoft.com/office/drawing/2014/main" id="{1A1C5157-C4A6-4B6B-9F6B-CCF2F0495014}"/>
              </a:ext>
            </a:extLst>
          </p:cNvPr>
          <p:cNvSpPr>
            <a:spLocks xmlns:a="http://schemas.openxmlformats.org/drawingml/2006/main" noGrp="1"/>
          </p:cNvSpPr>
          <p:nvPr/>
        </p:nvSpPr>
        <p:spPr>
          <a:xfrm xmlns:a="http://schemas.openxmlformats.org/drawingml/2006/main">
            <a:off x="609600" y="733425"/>
            <a:ext cx="5905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100" b="1">
                <a:solidFill>
                  <a:srgbClr val="173B50"/>
                </a:solidFill>
                <a:latin typeface="Arial"/>
                <a:ea typeface="Arial"/>
                <a:cs typeface="Arial"/>
              </a:defRPr>
            </a:defPPr>
          </a:lstStyle>
          <a:p xmlns:a="http://schemas.openxmlformats.org/drawingml/2006/main">
            <a:pPr>
              <a:defRPr sz="5100" b="1">
                <a:solidFill>
                  <a:srgbClr val="173B50"/>
                </a:solidFill>
                <a:latin typeface="Arial"/>
                <a:ea typeface="Arial"/>
                <a:cs typeface="Arial"/>
              </a:defRPr>
            </a:pPr>
            <a:r>
              <a:rPr sz="5100" b="1">
                <a:solidFill>
                  <a:srgbClr val="173B50"/>
                </a:solidFill>
                <a:latin typeface="Arial"/>
                <a:ea typeface="Arial"/>
                <a:cs typeface="Arial"/>
              </a:rPr>
              <a:t>Harness</a:t>
            </a:r>
          </a:p>
          <a:p xmlns:a="http://schemas.openxmlformats.org/drawingml/2006/main">
            <a:pPr>
              <a:defRPr sz="5100" b="1">
                <a:solidFill>
                  <a:srgbClr val="173B50"/>
                </a:solidFill>
                <a:latin typeface="Arial"/>
                <a:ea typeface="Arial"/>
                <a:cs typeface="Arial"/>
              </a:defRPr>
            </a:pPr>
            <a:r>
              <a:rPr sz="5100" b="1">
                <a:solidFill>
                  <a:srgbClr val="173B50"/>
                </a:solidFill>
                <a:latin typeface="Arial"/>
                <a:ea typeface="Arial"/>
                <a:cs typeface="Arial"/>
              </a:rPr>
              <a:t>Design Platform</a:t>
            </a:r>
          </a:p>
        </p:txBody>
      </p:sp>
      <p:sp>
        <p:nvSpPr>
          <p:cNvPr id="3" name="Connected harness engineering&#10;across systems and p">
            <a:extLst xmlns:a="http://schemas.openxmlformats.org/drawingml/2006/main">
              <a:ext uri="{FF2B5EF4-FFF2-40B4-BE49-F238E27FC236}">
                <a16:creationId xmlns:a16="http://schemas.microsoft.com/office/drawing/2014/main" id="{CC161C64-D9D3-4D32-AA03-C033687D1CEC}"/>
              </a:ext>
            </a:extLst>
          </p:cNvPr>
          <p:cNvSpPr>
            <a:spLocks xmlns:a="http://schemas.openxmlformats.org/drawingml/2006/main" noGrp="1"/>
          </p:cNvSpPr>
          <p:nvPr/>
        </p:nvSpPr>
        <p:spPr>
          <a:xfrm xmlns:a="http://schemas.openxmlformats.org/drawingml/2006/main">
            <a:off x="647700" y="3048000"/>
            <a:ext cx="6286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516C7B"/>
                </a:solidFill>
                <a:latin typeface="Arial"/>
                <a:ea typeface="Arial"/>
                <a:cs typeface="Arial"/>
              </a:defRPr>
            </a:defPPr>
          </a:lstStyle>
          <a:p xmlns:a="http://schemas.openxmlformats.org/drawingml/2006/main">
            <a:pPr>
              <a:defRPr sz="2550" b="0">
                <a:solidFill>
                  <a:srgbClr val="516C7B"/>
                </a:solidFill>
                <a:latin typeface="Arial"/>
                <a:ea typeface="Arial"/>
                <a:cs typeface="Arial"/>
              </a:defRPr>
            </a:pPr>
            <a:r>
              <a:rPr sz="2550" b="0">
                <a:solidFill>
                  <a:srgbClr val="516C7B"/>
                </a:solidFill>
                <a:latin typeface="Arial"/>
                <a:ea typeface="Arial"/>
                <a:cs typeface="Arial"/>
              </a:rPr>
              <a:t>Connected harness engineering</a:t>
            </a:r>
          </a:p>
          <a:p xmlns:a="http://schemas.openxmlformats.org/drawingml/2006/main">
            <a:pPr>
              <a:defRPr sz="2550" b="0">
                <a:solidFill>
                  <a:srgbClr val="516C7B"/>
                </a:solidFill>
                <a:latin typeface="Arial"/>
                <a:ea typeface="Arial"/>
                <a:cs typeface="Arial"/>
              </a:defRPr>
            </a:pPr>
            <a:r>
              <a:rPr sz="2550" b="0">
                <a:solidFill>
                  <a:srgbClr val="516C7B"/>
                </a:solidFill>
                <a:latin typeface="Arial"/>
                <a:ea typeface="Arial"/>
                <a:cs typeface="Arial"/>
              </a:rPr>
              <a:t>across systems and projects</a:t>
            </a:r>
          </a:p>
        </p:txBody>
      </p:sp>
      <p:sp>
        <p:nvSpPr>
          <p:cNvPr id="4" name="Investor presentation&#10;Working product name   Octob">
            <a:extLst xmlns:a="http://schemas.openxmlformats.org/drawingml/2006/main">
              <a:ext uri="{FF2B5EF4-FFF2-40B4-BE49-F238E27FC236}">
                <a16:creationId xmlns:a16="http://schemas.microsoft.com/office/drawing/2014/main" id="{2DD6CE29-65C9-45DB-B9CB-3E18906DC893}"/>
              </a:ext>
            </a:extLst>
          </p:cNvPr>
          <p:cNvSpPr>
            <a:spLocks xmlns:a="http://schemas.openxmlformats.org/drawingml/2006/main" noGrp="1"/>
          </p:cNvSpPr>
          <p:nvPr/>
        </p:nvSpPr>
        <p:spPr>
          <a:xfrm xmlns:a="http://schemas.openxmlformats.org/drawingml/2006/main">
            <a:off x="647700" y="5410200"/>
            <a:ext cx="5048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16C7B"/>
                </a:solidFill>
                <a:latin typeface="Arial"/>
                <a:ea typeface="Arial"/>
                <a:cs typeface="Arial"/>
              </a:defRPr>
            </a:defPPr>
          </a:lstStyle>
          <a:p xmlns:a="http://schemas.openxmlformats.org/drawingml/2006/main">
            <a:pPr>
              <a:defRPr sz="1725" b="0">
                <a:solidFill>
                  <a:srgbClr val="516C7B"/>
                </a:solidFill>
                <a:latin typeface="Arial"/>
                <a:ea typeface="Arial"/>
                <a:cs typeface="Arial"/>
              </a:defRPr>
            </a:pPr>
            <a:r>
              <a:rPr sz="1725" b="0">
                <a:solidFill>
                  <a:srgbClr val="516C7B"/>
                </a:solidFill>
                <a:latin typeface="Arial"/>
                <a:ea typeface="Arial"/>
                <a:cs typeface="Arial"/>
              </a:rPr>
              <a:t>Investor presentation</a:t>
            </a:r>
          </a:p>
          <a:p xmlns:a="http://schemas.openxmlformats.org/drawingml/2006/main">
            <a:pPr>
              <a:defRPr sz="1725" b="0">
                <a:solidFill>
                  <a:srgbClr val="516C7B"/>
                </a:solidFill>
                <a:latin typeface="Arial"/>
                <a:ea typeface="Arial"/>
                <a:cs typeface="Arial"/>
              </a:defRPr>
            </a:pPr>
            <a:r>
              <a:rPr sz="1725" b="0">
                <a:solidFill>
                  <a:srgbClr val="516C7B"/>
                </a:solidFill>
                <a:latin typeface="Arial"/>
                <a:ea typeface="Arial"/>
                <a:cs typeface="Arial"/>
              </a:rPr>
              <a:t>Working product name   October 2026</a:t>
            </a:r>
          </a:p>
        </p:txBody>
      </p:sp>
    </p:spTree>
    <p:extLst>
      <p:ext uri="{BB962C8B-B14F-4D97-AF65-F5344CB8AC3E}">
        <p14:creationId xmlns:p14="http://schemas.microsoft.com/office/powerpoint/2010/main" val="41309851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8C8FB06B-125D-4ED1-8A5B-72762430B3E0}"/>
              </a:ext>
            </a:extLst>
          </p:cNvPr>
          <p:cNvPicPr>
            <a:picLocks xmlns:a="http://schemas.openxmlformats.org/drawingml/2006/main" noChangeAspect="1"/>
          </p:cNvPicPr>
          <p:nvPr/>
        </p:nvPicPr>
        <p:blipFill>
          <a:blip xmlns:r="http://schemas.openxmlformats.org/officeDocument/2006/relationships" xmlns:a="http://schemas.openxmlformats.org/drawingml/2006/main" r:embed="Ra19c4a6aef10463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Light background wash">
            <a:extLst xmlns:a="http://schemas.openxmlformats.org/drawingml/2006/main">
              <a:ext uri="{FF2B5EF4-FFF2-40B4-BE49-F238E27FC236}">
                <a16:creationId xmlns:a16="http://schemas.microsoft.com/office/drawing/2014/main" id="{45F1C99E-060D-48BC-951C-CA6436D917A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90000"/>
            </a:srgbClr>
          </a:solidFill>
          <a:ln xmlns:a="http://schemas.openxmlformats.org/drawingml/2006/main" w="0">
            <a:noFill/>
          </a:ln>
        </p:spPr>
      </p:sp>
      <p:sp>
        <p:nvSpPr>
          <p:cNvPr id="3" name="The investment proposition">
            <a:extLst xmlns:a="http://schemas.openxmlformats.org/drawingml/2006/main">
              <a:ext uri="{FF2B5EF4-FFF2-40B4-BE49-F238E27FC236}">
                <a16:creationId xmlns:a16="http://schemas.microsoft.com/office/drawing/2014/main" id="{8D0B4501-19BA-453D-98EE-551EB90A54C7}"/>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73B50"/>
                </a:solidFill>
                <a:latin typeface="Arial"/>
                <a:ea typeface="Arial"/>
                <a:cs typeface="Arial"/>
              </a:defRPr>
            </a:defPPr>
          </a:lstStyle>
          <a:p xmlns:a="http://schemas.openxmlformats.org/drawingml/2006/main">
            <a:pPr>
              <a:defRPr sz="3450" b="1">
                <a:solidFill>
                  <a:srgbClr val="173B50"/>
                </a:solidFill>
                <a:latin typeface="Arial"/>
                <a:ea typeface="Arial"/>
                <a:cs typeface="Arial"/>
              </a:defRPr>
            </a:pPr>
            <a:r>
              <a:rPr sz="3450" b="1">
                <a:solidFill>
                  <a:srgbClr val="173B50"/>
                </a:solidFill>
                <a:latin typeface="Arial"/>
                <a:ea typeface="Arial"/>
                <a:cs typeface="Arial"/>
              </a:rPr>
              <a:t>The investment proposition</a:t>
            </a:r>
          </a:p>
        </p:txBody>
      </p:sp>
      <p:sp>
        <p:nvSpPr>
          <p:cNvPr id="4" name="02">
            <a:extLst xmlns:a="http://schemas.openxmlformats.org/drawingml/2006/main">
              <a:ext uri="{FF2B5EF4-FFF2-40B4-BE49-F238E27FC236}">
                <a16:creationId xmlns:a16="http://schemas.microsoft.com/office/drawing/2014/main" id="{5845CEAE-41CE-4BEA-934E-A250F437EE7B}"/>
              </a:ext>
            </a:extLst>
          </p:cNvPr>
          <p:cNvSpPr>
            <a:spLocks xmlns:a="http://schemas.openxmlformats.org/drawingml/2006/main" noGrp="1"/>
          </p:cNvSpPr>
          <p:nvPr/>
        </p:nvSpPr>
        <p:spPr>
          <a:xfrm xmlns:a="http://schemas.openxmlformats.org/drawingml/2006/main">
            <a:off x="11191875"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C7B"/>
                </a:solidFill>
                <a:latin typeface="Arial"/>
                <a:ea typeface="Arial"/>
                <a:cs typeface="Arial"/>
              </a:defRPr>
            </a:defPPr>
          </a:lstStyle>
          <a:p xmlns:a="http://schemas.openxmlformats.org/drawingml/2006/main">
            <a:pPr>
              <a:defRPr sz="1200" b="0">
                <a:solidFill>
                  <a:srgbClr val="516C7B"/>
                </a:solidFill>
                <a:latin typeface="Arial"/>
                <a:ea typeface="Arial"/>
                <a:cs typeface="Arial"/>
              </a:defRPr>
            </a:pPr>
            <a:r>
              <a:rPr sz="1200" b="0">
                <a:solidFill>
                  <a:srgbClr val="516C7B"/>
                </a:solidFill>
                <a:latin typeface="Arial"/>
                <a:ea typeface="Arial"/>
                <a:cs typeface="Arial"/>
              </a:rPr>
              <a:t>02</a:t>
            </a:r>
          </a:p>
        </p:txBody>
      </p:sp>
      <p:sp>
        <p:nvSpPr>
          <p:cNvPr id="5" name="A common harness design practice&#10;across systems an">
            <a:extLst xmlns:a="http://schemas.openxmlformats.org/drawingml/2006/main">
              <a:ext uri="{FF2B5EF4-FFF2-40B4-BE49-F238E27FC236}">
                <a16:creationId xmlns:a16="http://schemas.microsoft.com/office/drawing/2014/main" id="{C9E0B5C0-C6EB-4B26-9A77-561DCCFA60A3}"/>
              </a:ext>
            </a:extLst>
          </p:cNvPr>
          <p:cNvSpPr>
            <a:spLocks xmlns:a="http://schemas.openxmlformats.org/drawingml/2006/main" noGrp="1"/>
          </p:cNvSpPr>
          <p:nvPr/>
        </p:nvSpPr>
        <p:spPr>
          <a:xfrm xmlns:a="http://schemas.openxmlformats.org/drawingml/2006/main">
            <a:off x="609600" y="157162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173B50"/>
                </a:solidFill>
                <a:latin typeface="Arial"/>
                <a:ea typeface="Arial"/>
                <a:cs typeface="Arial"/>
              </a:defRPr>
            </a:defPPr>
          </a:lstStyle>
          <a:p xmlns:a="http://schemas.openxmlformats.org/drawingml/2006/main">
            <a:pPr>
              <a:defRPr sz="3000" b="1">
                <a:solidFill>
                  <a:srgbClr val="173B50"/>
                </a:solidFill>
                <a:latin typeface="Arial"/>
                <a:ea typeface="Arial"/>
                <a:cs typeface="Arial"/>
              </a:defRPr>
            </a:pPr>
            <a:r>
              <a:rPr sz="3000" b="1">
                <a:solidFill>
                  <a:srgbClr val="173B50"/>
                </a:solidFill>
                <a:latin typeface="Arial"/>
                <a:ea typeface="Arial"/>
                <a:cs typeface="Arial"/>
              </a:rPr>
              <a:t>A common harness design practice</a:t>
            </a:r>
          </a:p>
          <a:p xmlns:a="http://schemas.openxmlformats.org/drawingml/2006/main">
            <a:pPr>
              <a:defRPr sz="3000" b="1">
                <a:solidFill>
                  <a:srgbClr val="173B50"/>
                </a:solidFill>
                <a:latin typeface="Arial"/>
                <a:ea typeface="Arial"/>
                <a:cs typeface="Arial"/>
              </a:defRPr>
            </a:pPr>
            <a:r>
              <a:rPr sz="3000" b="1">
                <a:solidFill>
                  <a:srgbClr val="173B50"/>
                </a:solidFill>
                <a:latin typeface="Arial"/>
                <a:ea typeface="Arial"/>
                <a:cs typeface="Arial"/>
              </a:rPr>
              <a:t>across systems and projects</a:t>
            </a:r>
          </a:p>
        </p:txBody>
      </p:sp>
      <p:sp>
        <p:nvSpPr>
          <p:cNvPr id="6" name="A working design core">
            <a:extLst xmlns:a="http://schemas.openxmlformats.org/drawingml/2006/main">
              <a:ext uri="{FF2B5EF4-FFF2-40B4-BE49-F238E27FC236}">
                <a16:creationId xmlns:a16="http://schemas.microsoft.com/office/drawing/2014/main" id="{BE198B46-6B23-403D-9646-9217C38B09A5}"/>
              </a:ext>
            </a:extLst>
          </p:cNvPr>
          <p:cNvSpPr>
            <a:spLocks xmlns:a="http://schemas.openxmlformats.org/drawingml/2006/main" noGrp="1"/>
          </p:cNvSpPr>
          <p:nvPr/>
        </p:nvSpPr>
        <p:spPr>
          <a:xfrm xmlns:a="http://schemas.openxmlformats.org/drawingml/2006/main">
            <a:off x="609600" y="312420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73B50"/>
                </a:solidFill>
                <a:latin typeface="Arial"/>
                <a:ea typeface="Arial"/>
                <a:cs typeface="Arial"/>
              </a:defRPr>
            </a:defPPr>
          </a:lstStyle>
          <a:p xmlns:a="http://schemas.openxmlformats.org/drawingml/2006/main">
            <a:pPr>
              <a:defRPr sz="2400" b="1">
                <a:solidFill>
                  <a:srgbClr val="173B50"/>
                </a:solidFill>
                <a:latin typeface="Arial"/>
                <a:ea typeface="Arial"/>
                <a:cs typeface="Arial"/>
              </a:defRPr>
            </a:pPr>
            <a:r>
              <a:rPr sz="2400" b="1">
                <a:solidFill>
                  <a:srgbClr val="173B50"/>
                </a:solidFill>
                <a:latin typeface="Arial"/>
                <a:ea typeface="Arial"/>
                <a:cs typeface="Arial"/>
              </a:rPr>
              <a:t>A working design core</a:t>
            </a:r>
          </a:p>
        </p:txBody>
      </p:sp>
      <p:sp>
        <p:nvSpPr>
          <p:cNvPr id="7" name="System diagrams, schematics, mechanical harness au">
            <a:extLst xmlns:a="http://schemas.openxmlformats.org/drawingml/2006/main">
              <a:ext uri="{FF2B5EF4-FFF2-40B4-BE49-F238E27FC236}">
                <a16:creationId xmlns:a16="http://schemas.microsoft.com/office/drawing/2014/main" id="{6FFFBBD5-8509-4D59-974B-23BF73120C18}"/>
              </a:ext>
            </a:extLst>
          </p:cNvPr>
          <p:cNvSpPr>
            <a:spLocks xmlns:a="http://schemas.openxmlformats.org/drawingml/2006/main" noGrp="1"/>
          </p:cNvSpPr>
          <p:nvPr/>
        </p:nvSpPr>
        <p:spPr>
          <a:xfrm xmlns:a="http://schemas.openxmlformats.org/drawingml/2006/main">
            <a:off x="609600" y="3924300"/>
            <a:ext cx="33337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16C7B"/>
                </a:solidFill>
                <a:latin typeface="Arial"/>
                <a:ea typeface="Arial"/>
                <a:cs typeface="Arial"/>
              </a:defRPr>
            </a:defPPr>
          </a:lstStyle>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System diagrams, schematics, mechanical harness authoring and 3D visualization already exist.</a:t>
            </a:r>
          </a:p>
        </p:txBody>
      </p:sp>
      <p:sp>
        <p:nvSpPr>
          <p:cNvPr id="8" name="Visible drawing confidence">
            <a:extLst xmlns:a="http://schemas.openxmlformats.org/drawingml/2006/main">
              <a:ext uri="{FF2B5EF4-FFF2-40B4-BE49-F238E27FC236}">
                <a16:creationId xmlns:a16="http://schemas.microsoft.com/office/drawing/2014/main" id="{C3132D79-FAF4-4B80-9B30-819449F48EAD}"/>
              </a:ext>
            </a:extLst>
          </p:cNvPr>
          <p:cNvSpPr>
            <a:spLocks xmlns:a="http://schemas.openxmlformats.org/drawingml/2006/main" noGrp="1"/>
          </p:cNvSpPr>
          <p:nvPr/>
        </p:nvSpPr>
        <p:spPr>
          <a:xfrm xmlns:a="http://schemas.openxmlformats.org/drawingml/2006/main">
            <a:off x="4410075" y="312420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73B50"/>
                </a:solidFill>
                <a:latin typeface="Arial"/>
                <a:ea typeface="Arial"/>
                <a:cs typeface="Arial"/>
              </a:defRPr>
            </a:defPPr>
          </a:lstStyle>
          <a:p xmlns:a="http://schemas.openxmlformats.org/drawingml/2006/main">
            <a:pPr>
              <a:defRPr sz="2400" b="1">
                <a:solidFill>
                  <a:srgbClr val="173B50"/>
                </a:solidFill>
                <a:latin typeface="Arial"/>
                <a:ea typeface="Arial"/>
                <a:cs typeface="Arial"/>
              </a:defRPr>
            </a:pPr>
            <a:r>
              <a:rPr sz="2400" b="1">
                <a:solidFill>
                  <a:srgbClr val="173B50"/>
                </a:solidFill>
                <a:latin typeface="Arial"/>
                <a:ea typeface="Arial"/>
                <a:cs typeface="Arial"/>
              </a:rPr>
              <a:t>Visible drawing confidence</a:t>
            </a:r>
          </a:p>
        </p:txBody>
      </p:sp>
      <p:sp>
        <p:nvSpPr>
          <p:cNvPr id="9" name="Saved validation status and project checks expose ">
            <a:extLst xmlns:a="http://schemas.openxmlformats.org/drawingml/2006/main">
              <a:ext uri="{FF2B5EF4-FFF2-40B4-BE49-F238E27FC236}">
                <a16:creationId xmlns:a16="http://schemas.microsoft.com/office/drawing/2014/main" id="{3A3ED67E-E70E-49E5-B80C-8C7FDAD63957}"/>
              </a:ext>
            </a:extLst>
          </p:cNvPr>
          <p:cNvSpPr>
            <a:spLocks xmlns:a="http://schemas.openxmlformats.org/drawingml/2006/main" noGrp="1"/>
          </p:cNvSpPr>
          <p:nvPr/>
        </p:nvSpPr>
        <p:spPr>
          <a:xfrm xmlns:a="http://schemas.openxmlformats.org/drawingml/2006/main">
            <a:off x="4410075" y="3924300"/>
            <a:ext cx="33337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16C7B"/>
                </a:solidFill>
                <a:latin typeface="Arial"/>
                <a:ea typeface="Arial"/>
                <a:cs typeface="Arial"/>
              </a:defRPr>
            </a:defPPr>
          </a:lstStyle>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Saved validation status and project checks expose missing or outdated engineering evidence.</a:t>
            </a:r>
          </a:p>
        </p:txBody>
      </p:sp>
      <p:sp>
        <p:nvSpPr>
          <p:cNvPr id="10" name="System and project teams">
            <a:extLst xmlns:a="http://schemas.openxmlformats.org/drawingml/2006/main">
              <a:ext uri="{FF2B5EF4-FFF2-40B4-BE49-F238E27FC236}">
                <a16:creationId xmlns:a16="http://schemas.microsoft.com/office/drawing/2014/main" id="{FD4F8101-B528-45B1-9855-22387DAD4EE2}"/>
              </a:ext>
            </a:extLst>
          </p:cNvPr>
          <p:cNvSpPr>
            <a:spLocks xmlns:a="http://schemas.openxmlformats.org/drawingml/2006/main" noGrp="1"/>
          </p:cNvSpPr>
          <p:nvPr/>
        </p:nvSpPr>
        <p:spPr>
          <a:xfrm xmlns:a="http://schemas.openxmlformats.org/drawingml/2006/main">
            <a:off x="8210550" y="312420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73B50"/>
                </a:solidFill>
                <a:latin typeface="Arial"/>
                <a:ea typeface="Arial"/>
                <a:cs typeface="Arial"/>
              </a:defRPr>
            </a:defPPr>
          </a:lstStyle>
          <a:p xmlns:a="http://schemas.openxmlformats.org/drawingml/2006/main">
            <a:pPr>
              <a:defRPr sz="2400" b="1">
                <a:solidFill>
                  <a:srgbClr val="173B50"/>
                </a:solidFill>
                <a:latin typeface="Arial"/>
                <a:ea typeface="Arial"/>
                <a:cs typeface="Arial"/>
              </a:defRPr>
            </a:pPr>
            <a:r>
              <a:rPr sz="2400" b="1">
                <a:solidFill>
                  <a:srgbClr val="173B50"/>
                </a:solidFill>
                <a:latin typeface="Arial"/>
                <a:ea typeface="Arial"/>
                <a:cs typeface="Arial"/>
              </a:rPr>
              <a:t>System and project teams</a:t>
            </a:r>
          </a:p>
        </p:txBody>
      </p:sp>
      <p:sp>
        <p:nvSpPr>
          <p:cNvPr id="11" name="Hardware startups, defense suppliers and system bu">
            <a:extLst xmlns:a="http://schemas.openxmlformats.org/drawingml/2006/main">
              <a:ext uri="{FF2B5EF4-FFF2-40B4-BE49-F238E27FC236}">
                <a16:creationId xmlns:a16="http://schemas.microsoft.com/office/drawing/2014/main" id="{19AFB273-55F2-4421-865B-3C76345FF257}"/>
              </a:ext>
            </a:extLst>
          </p:cNvPr>
          <p:cNvSpPr>
            <a:spLocks xmlns:a="http://schemas.openxmlformats.org/drawingml/2006/main" noGrp="1"/>
          </p:cNvSpPr>
          <p:nvPr/>
        </p:nvSpPr>
        <p:spPr>
          <a:xfrm xmlns:a="http://schemas.openxmlformats.org/drawingml/2006/main">
            <a:off x="8210550" y="3924300"/>
            <a:ext cx="33337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16C7B"/>
                </a:solidFill>
                <a:latin typeface="Arial"/>
                <a:ea typeface="Arial"/>
                <a:cs typeface="Arial"/>
              </a:defRPr>
            </a:defPPr>
          </a:lstStyle>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Hardware startups, defense suppliers and system builders need common wiring practices across projects.</a:t>
            </a:r>
          </a:p>
        </p:txBody>
      </p:sp>
      <p:sp>
        <p:nvSpPr>
          <p:cNvPr id="12" name="Current stage: active product development. Commerc">
            <a:extLst xmlns:a="http://schemas.openxmlformats.org/drawingml/2006/main">
              <a:ext uri="{FF2B5EF4-FFF2-40B4-BE49-F238E27FC236}">
                <a16:creationId xmlns:a16="http://schemas.microsoft.com/office/drawing/2014/main" id="{F5C45777-32BD-4192-A45D-91F2FCF7DDAE}"/>
              </a:ext>
            </a:extLst>
          </p:cNvPr>
          <p:cNvSpPr>
            <a:spLocks xmlns:a="http://schemas.openxmlformats.org/drawingml/2006/main" noGrp="1"/>
          </p:cNvSpPr>
          <p:nvPr/>
        </p:nvSpPr>
        <p:spPr>
          <a:xfrm xmlns:a="http://schemas.openxmlformats.org/drawingml/2006/main">
            <a:off x="609600" y="59055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16C7B"/>
                </a:solidFill>
                <a:latin typeface="Arial"/>
                <a:ea typeface="Arial"/>
                <a:cs typeface="Arial"/>
              </a:defRPr>
            </a:defPPr>
          </a:lstStyle>
          <a:p xmlns:a="http://schemas.openxmlformats.org/drawingml/2006/main">
            <a:pPr>
              <a:defRPr sz="1575" b="0">
                <a:solidFill>
                  <a:srgbClr val="516C7B"/>
                </a:solidFill>
                <a:latin typeface="Arial"/>
                <a:ea typeface="Arial"/>
                <a:cs typeface="Arial"/>
              </a:defRPr>
            </a:pPr>
            <a:r>
              <a:rPr sz="1575" b="0">
                <a:solidFill>
                  <a:srgbClr val="516C7B"/>
                </a:solidFill>
                <a:latin typeface="Arial"/>
                <a:ea typeface="Arial"/>
                <a:cs typeface="Arial"/>
              </a:rPr>
              <a:t>Current stage: active product development. Commercial traction and production readiness remain to be demonstrated.</a:t>
            </a:r>
          </a:p>
        </p:txBody>
      </p:sp>
    </p:spTree>
    <p:extLst>
      <p:ext uri="{BB962C8B-B14F-4D97-AF65-F5344CB8AC3E}">
        <p14:creationId xmlns:p14="http://schemas.microsoft.com/office/powerpoint/2010/main" val="183024814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81F878C1-33ED-44C6-8716-567447D3FC40}"/>
              </a:ext>
            </a:extLst>
          </p:cNvPr>
          <p:cNvPicPr>
            <a:picLocks xmlns:a="http://schemas.openxmlformats.org/drawingml/2006/main" noChangeAspect="1"/>
          </p:cNvPicPr>
          <p:nvPr/>
        </p:nvPicPr>
        <p:blipFill>
          <a:blip xmlns:r="http://schemas.openxmlformats.org/officeDocument/2006/relationships" xmlns:a="http://schemas.openxmlformats.org/drawingml/2006/main" r:embed="R1b557439a3014e7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Light background wash">
            <a:extLst xmlns:a="http://schemas.openxmlformats.org/drawingml/2006/main">
              <a:ext uri="{FF2B5EF4-FFF2-40B4-BE49-F238E27FC236}">
                <a16:creationId xmlns:a16="http://schemas.microsoft.com/office/drawing/2014/main" id="{1A96C5EA-FDA4-4292-9A68-80B80DF5D71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90000"/>
            </a:srgbClr>
          </a:solidFill>
          <a:ln xmlns:a="http://schemas.openxmlformats.org/drawingml/2006/main" w="0">
            <a:noFill/>
          </a:ln>
        </p:spPr>
      </p:sp>
      <p:sp>
        <p:nvSpPr>
          <p:cNvPr id="3" name="Who the platform serves">
            <a:extLst xmlns:a="http://schemas.openxmlformats.org/drawingml/2006/main">
              <a:ext uri="{FF2B5EF4-FFF2-40B4-BE49-F238E27FC236}">
                <a16:creationId xmlns:a16="http://schemas.microsoft.com/office/drawing/2014/main" id="{714150EE-63F2-41F1-A23F-27E5D66EA616}"/>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73B50"/>
                </a:solidFill>
                <a:latin typeface="Arial"/>
                <a:ea typeface="Arial"/>
                <a:cs typeface="Arial"/>
              </a:defRPr>
            </a:defPPr>
          </a:lstStyle>
          <a:p xmlns:a="http://schemas.openxmlformats.org/drawingml/2006/main">
            <a:pPr>
              <a:defRPr sz="3450" b="1">
                <a:solidFill>
                  <a:srgbClr val="173B50"/>
                </a:solidFill>
                <a:latin typeface="Arial"/>
                <a:ea typeface="Arial"/>
                <a:cs typeface="Arial"/>
              </a:defRPr>
            </a:pPr>
            <a:r>
              <a:rPr sz="3450" b="1">
                <a:solidFill>
                  <a:srgbClr val="173B50"/>
                </a:solidFill>
                <a:latin typeface="Arial"/>
                <a:ea typeface="Arial"/>
                <a:cs typeface="Arial"/>
              </a:rPr>
              <a:t>Who the platform serves</a:t>
            </a:r>
          </a:p>
        </p:txBody>
      </p:sp>
      <p:sp>
        <p:nvSpPr>
          <p:cNvPr id="4" name="03">
            <a:extLst xmlns:a="http://schemas.openxmlformats.org/drawingml/2006/main">
              <a:ext uri="{FF2B5EF4-FFF2-40B4-BE49-F238E27FC236}">
                <a16:creationId xmlns:a16="http://schemas.microsoft.com/office/drawing/2014/main" id="{B8C1CCB9-9E32-40E4-A8B5-8E12FA25B1B7}"/>
              </a:ext>
            </a:extLst>
          </p:cNvPr>
          <p:cNvSpPr>
            <a:spLocks xmlns:a="http://schemas.openxmlformats.org/drawingml/2006/main" noGrp="1"/>
          </p:cNvSpPr>
          <p:nvPr/>
        </p:nvSpPr>
        <p:spPr>
          <a:xfrm xmlns:a="http://schemas.openxmlformats.org/drawingml/2006/main">
            <a:off x="11191875"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C7B"/>
                </a:solidFill>
                <a:latin typeface="Arial"/>
                <a:ea typeface="Arial"/>
                <a:cs typeface="Arial"/>
              </a:defRPr>
            </a:defPPr>
          </a:lstStyle>
          <a:p xmlns:a="http://schemas.openxmlformats.org/drawingml/2006/main">
            <a:pPr>
              <a:defRPr sz="1200" b="0">
                <a:solidFill>
                  <a:srgbClr val="516C7B"/>
                </a:solidFill>
                <a:latin typeface="Arial"/>
                <a:ea typeface="Arial"/>
                <a:cs typeface="Arial"/>
              </a:defRPr>
            </a:pPr>
            <a:r>
              <a:rPr sz="1200" b="0">
                <a:solidFill>
                  <a:srgbClr val="516C7B"/>
                </a:solidFill>
                <a:latin typeface="Arial"/>
                <a:ea typeface="Arial"/>
                <a:cs typeface="Arial"/>
              </a:rPr>
              <a:t>03</a:t>
            </a:r>
          </a:p>
        </p:txBody>
      </p:sp>
      <p:sp>
        <p:nvSpPr>
          <p:cNvPr id="5" name="Every company that designs systems with harnesses">
            <a:extLst xmlns:a="http://schemas.openxmlformats.org/drawingml/2006/main">
              <a:ext uri="{FF2B5EF4-FFF2-40B4-BE49-F238E27FC236}">
                <a16:creationId xmlns:a16="http://schemas.microsoft.com/office/drawing/2014/main" id="{72C49E0F-7444-4441-9A7C-DC035CD6C653}"/>
              </a:ext>
            </a:extLst>
          </p:cNvPr>
          <p:cNvSpPr>
            <a:spLocks xmlns:a="http://schemas.openxmlformats.org/drawingml/2006/main" noGrp="1"/>
          </p:cNvSpPr>
          <p:nvPr/>
        </p:nvSpPr>
        <p:spPr>
          <a:xfrm xmlns:a="http://schemas.openxmlformats.org/drawingml/2006/main">
            <a:off x="609600" y="1524000"/>
            <a:ext cx="10839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173B50"/>
                </a:solidFill>
                <a:latin typeface="Arial"/>
                <a:ea typeface="Arial"/>
                <a:cs typeface="Arial"/>
              </a:defRPr>
            </a:defPPr>
          </a:lstStyle>
          <a:p xmlns:a="http://schemas.openxmlformats.org/drawingml/2006/main">
            <a:pPr>
              <a:defRPr sz="2850" b="1">
                <a:solidFill>
                  <a:srgbClr val="173B50"/>
                </a:solidFill>
                <a:latin typeface="Arial"/>
                <a:ea typeface="Arial"/>
                <a:cs typeface="Arial"/>
              </a:defRPr>
            </a:pPr>
            <a:r>
              <a:rPr sz="2850" b="1">
                <a:solidFill>
                  <a:srgbClr val="173B50"/>
                </a:solidFill>
                <a:latin typeface="Arial"/>
                <a:ea typeface="Arial"/>
                <a:cs typeface="Arial"/>
              </a:rPr>
              <a:t>Every company that designs systems with harnesses</a:t>
            </a:r>
          </a:p>
        </p:txBody>
      </p:sp>
      <p:graphicFrame>
        <p:nvGraphicFramePr>
          <p:cNvPr id="6" name="">
            <a:extLst xmlns:a="http://schemas.openxmlformats.org/drawingml/2006/main">
              <a:ext uri="{FF2B5EF4-FFF2-40B4-BE49-F238E27FC236}">
                <a16:creationId xmlns:a16="http://schemas.microsoft.com/office/drawing/2014/main" id="{47EB532F-B311-4675-97B0-8FF9324A4B9C}"/>
              </a:ext>
            </a:extLst>
          </p:cNvPr>
          <p:cNvGraphicFramePr/>
          <p:nvPr/>
        </p:nvGraphicFramePr>
        <p:xfrm>
          <a:off xmlns:a="http://schemas.openxmlformats.org/drawingml/2006/main" x="609600" y="2600325"/>
          <a:ext xmlns:a="http://schemas.openxmlformats.org/drawingml/2006/main" cx="10972800" cy="3000375"/>
        </p:xfrm>
        <a:graphic xmlns:a="http://schemas.openxmlformats.org/drawingml/2006/main">
          <a:graphicData uri="http://schemas.openxmlformats.org/drawingml/2006/table">
            <a:tbl>
              <a:tblPr/>
              <a:tblGrid>
                <a:gridCol w="4048125"/>
                <a:gridCol w="6924675"/>
              </a:tblGrid>
              <a:tr h="500063">
                <a:tc>
                  <a:txBody>
                    <a:bodyPr lIns="114300" tIns="114300" rIns="114300" bIns="114300">
                      <a:noAutofit/>
                    </a:bodyPr>
                    <a:lstStyle/>
                    <a:p>
                      <a:r>
                        <a:rPr sz="1875" b="1">
                          <a:solidFill>
                            <a:srgbClr val="173B50"/>
                          </a:solidFill>
                          <a:latin typeface="Arial"/>
                          <a:ea typeface="Arial"/>
                          <a:cs typeface="Arial"/>
                        </a:rPr>
                        <a:t>Customer group</a:t>
                      </a:r>
                    </a:p>
                  </a:txBody>
                  <a:tcPr marL="76200" marR="76200" marT="28575" marB="28575" anchor="ctr">
                    <a:solidFill>
                      <a:srgbClr val="E3EFF3"/>
                    </a:solidFill>
                  </a:tcPr>
                </a:tc>
                <a:tc>
                  <a:txBody>
                    <a:bodyPr lIns="114300" tIns="114300" rIns="114300" bIns="114300">
                      <a:noAutofit/>
                    </a:bodyPr>
                    <a:lstStyle/>
                    <a:p>
                      <a:r>
                        <a:rPr sz="1875" b="1">
                          <a:solidFill>
                            <a:srgbClr val="173B50"/>
                          </a:solidFill>
                          <a:latin typeface="Arial"/>
                          <a:ea typeface="Arial"/>
                          <a:cs typeface="Arial"/>
                        </a:rPr>
                        <a:t>Harness design need</a:t>
                      </a:r>
                    </a:p>
                  </a:txBody>
                  <a:tcPr marL="76200" marR="76200" marT="28575" marB="28575" anchor="ctr">
                    <a:solidFill>
                      <a:srgbClr val="E3EFF3"/>
                    </a:solidFill>
                  </a:tcPr>
                </a:tc>
              </a:tr>
              <a:tr h="500063">
                <a:tc>
                  <a:txBody>
                    <a:bodyPr lIns="114300" tIns="114300" rIns="114300" bIns="114300">
                      <a:noAutofit/>
                    </a:bodyPr>
                    <a:lstStyle/>
                    <a:p>
                      <a:r>
                        <a:rPr sz="1875" b="0">
                          <a:solidFill>
                            <a:srgbClr val="173B50"/>
                          </a:solidFill>
                          <a:latin typeface="Arial"/>
                          <a:ea typeface="Arial"/>
                          <a:cs typeface="Arial"/>
                        </a:rPr>
                        <a:t>Hardware startups / high tech</a:t>
                      </a:r>
                    </a:p>
                  </a:txBody>
                  <a:tcPr marL="76200" marR="76200" marT="28575" marB="28575" anchor="ctr">
                    <a:solidFill>
                      <a:srgbClr val="FFFFFF"/>
                    </a:solidFill>
                  </a:tcPr>
                </a:tc>
                <a:tc>
                  <a:txBody>
                    <a:bodyPr lIns="114300" tIns="114300" rIns="114300" bIns="114300">
                      <a:noAutofit/>
                    </a:bodyPr>
                    <a:lstStyle/>
                    <a:p>
                      <a:r>
                        <a:rPr sz="1875" b="0">
                          <a:solidFill>
                            <a:srgbClr val="173B50"/>
                          </a:solidFill>
                          <a:latin typeface="Arial"/>
                          <a:ea typeface="Arial"/>
                          <a:cs typeface="Arial"/>
                        </a:rPr>
                        <a:t>Device prototypes and repeatable wiring</a:t>
                      </a:r>
                    </a:p>
                  </a:txBody>
                  <a:tcPr marL="76200" marR="76200" marT="28575" marB="28575" anchor="ctr">
                    <a:solidFill>
                      <a:srgbClr val="FFFFFF"/>
                    </a:solidFill>
                  </a:tcPr>
                </a:tc>
              </a:tr>
              <a:tr h="500063">
                <a:tc>
                  <a:txBody>
                    <a:bodyPr lIns="114300" tIns="114300" rIns="114300" bIns="114300">
                      <a:noAutofit/>
                    </a:bodyPr>
                    <a:lstStyle/>
                    <a:p>
                      <a:r>
                        <a:rPr sz="1875" b="0">
                          <a:solidFill>
                            <a:srgbClr val="173B50"/>
                          </a:solidFill>
                          <a:latin typeface="Arial"/>
                          <a:ea typeface="Arial"/>
                          <a:cs typeface="Arial"/>
                        </a:rPr>
                        <a:t>Defense / aerospace suppliers</a:t>
                      </a:r>
                    </a:p>
                  </a:txBody>
                  <a:tcPr marL="76200" marR="76200" marT="28575" marB="28575" anchor="ctr">
                    <a:solidFill>
                      <a:srgbClr val="F2F6F7"/>
                    </a:solidFill>
                  </a:tcPr>
                </a:tc>
                <a:tc>
                  <a:txBody>
                    <a:bodyPr lIns="114300" tIns="114300" rIns="114300" bIns="114300">
                      <a:noAutofit/>
                    </a:bodyPr>
                    <a:lstStyle/>
                    <a:p>
                      <a:r>
                        <a:rPr sz="1875" b="0">
                          <a:solidFill>
                            <a:srgbClr val="173B50"/>
                          </a:solidFill>
                          <a:latin typeface="Arial"/>
                          <a:ea typeface="Arial"/>
                          <a:cs typeface="Arial"/>
                        </a:rPr>
                        <a:t>Interfaces and harnesses for complex systems</a:t>
                      </a:r>
                    </a:p>
                  </a:txBody>
                  <a:tcPr marL="76200" marR="76200" marT="28575" marB="28575" anchor="ctr">
                    <a:solidFill>
                      <a:srgbClr val="F2F6F7"/>
                    </a:solidFill>
                  </a:tcPr>
                </a:tc>
              </a:tr>
              <a:tr h="500063">
                <a:tc>
                  <a:txBody>
                    <a:bodyPr lIns="114300" tIns="114300" rIns="114300" bIns="114300">
                      <a:noAutofit/>
                    </a:bodyPr>
                    <a:lstStyle/>
                    <a:p>
                      <a:r>
                        <a:rPr sz="1875" b="0">
                          <a:solidFill>
                            <a:srgbClr val="173B50"/>
                          </a:solidFill>
                          <a:latin typeface="Arial"/>
                          <a:ea typeface="Arial"/>
                          <a:cs typeface="Arial"/>
                        </a:rPr>
                        <a:t>Hardware and system builders</a:t>
                      </a:r>
                    </a:p>
                  </a:txBody>
                  <a:tcPr marL="76200" marR="76200" marT="28575" marB="28575" anchor="ctr">
                    <a:solidFill>
                      <a:srgbClr val="FFFFFF"/>
                    </a:solidFill>
                  </a:tcPr>
                </a:tc>
                <a:tc>
                  <a:txBody>
                    <a:bodyPr lIns="114300" tIns="114300" rIns="114300" bIns="114300">
                      <a:noAutofit/>
                    </a:bodyPr>
                    <a:lstStyle/>
                    <a:p>
                      <a:r>
                        <a:rPr sz="1875" b="0">
                          <a:solidFill>
                            <a:srgbClr val="173B50"/>
                          </a:solidFill>
                          <a:latin typeface="Arial"/>
                          <a:ea typeface="Arial"/>
                          <a:cs typeface="Arial"/>
                        </a:rPr>
                        <a:t>Wiring for equipment, machines and devices</a:t>
                      </a:r>
                    </a:p>
                  </a:txBody>
                  <a:tcPr marL="76200" marR="76200" marT="28575" marB="28575" anchor="ctr">
                    <a:solidFill>
                      <a:srgbClr val="FFFFFF"/>
                    </a:solidFill>
                  </a:tcPr>
                </a:tc>
              </a:tr>
              <a:tr h="500063">
                <a:tc>
                  <a:txBody>
                    <a:bodyPr lIns="114300" tIns="114300" rIns="114300" bIns="114300">
                      <a:noAutofit/>
                    </a:bodyPr>
                    <a:lstStyle/>
                    <a:p>
                      <a:r>
                        <a:rPr sz="1875" b="0">
                          <a:solidFill>
                            <a:srgbClr val="173B50"/>
                          </a:solidFill>
                          <a:latin typeface="Arial"/>
                          <a:ea typeface="Arial"/>
                          <a:cs typeface="Arial"/>
                        </a:rPr>
                        <a:t>Project firms / integrators</a:t>
                      </a:r>
                    </a:p>
                  </a:txBody>
                  <a:tcPr marL="76200" marR="76200" marT="28575" marB="28575" anchor="ctr">
                    <a:solidFill>
                      <a:srgbClr val="F2F6F7"/>
                    </a:solidFill>
                  </a:tcPr>
                </a:tc>
                <a:tc>
                  <a:txBody>
                    <a:bodyPr lIns="114300" tIns="114300" rIns="114300" bIns="114300">
                      <a:noAutofit/>
                    </a:bodyPr>
                    <a:lstStyle/>
                    <a:p>
                      <a:r>
                        <a:rPr sz="1875" b="0">
                          <a:solidFill>
                            <a:srgbClr val="173B50"/>
                          </a:solidFill>
                          <a:latin typeface="Arial"/>
                          <a:ea typeface="Arial"/>
                          <a:cs typeface="Arial"/>
                        </a:rPr>
                        <a:t>Common designs across customer projects</a:t>
                      </a:r>
                    </a:p>
                  </a:txBody>
                  <a:tcPr marL="76200" marR="76200" marT="28575" marB="28575" anchor="ctr">
                    <a:solidFill>
                      <a:srgbClr val="F2F6F7"/>
                    </a:solidFill>
                  </a:tcPr>
                </a:tc>
              </a:tr>
              <a:tr h="500063">
                <a:tc>
                  <a:txBody>
                    <a:bodyPr lIns="114300" tIns="114300" rIns="114300" bIns="114300">
                      <a:noAutofit/>
                    </a:bodyPr>
                    <a:lstStyle/>
                    <a:p>
                      <a:r>
                        <a:rPr sz="1875" b="0">
                          <a:solidFill>
                            <a:srgbClr val="173B50"/>
                          </a:solidFill>
                          <a:latin typeface="Arial"/>
                          <a:ea typeface="Arial"/>
                          <a:cs typeface="Arial"/>
                        </a:rPr>
                        <a:t>Harness manufacturers</a:t>
                      </a:r>
                    </a:p>
                  </a:txBody>
                  <a:tcPr marL="76200" marR="76200" marT="28575" marB="28575" anchor="ctr">
                    <a:solidFill>
                      <a:srgbClr val="FFFFFF"/>
                    </a:solidFill>
                  </a:tcPr>
                </a:tc>
                <a:tc>
                  <a:txBody>
                    <a:bodyPr lIns="114300" tIns="114300" rIns="114300" bIns="114300">
                      <a:noAutofit/>
                    </a:bodyPr>
                    <a:lstStyle/>
                    <a:p>
                      <a:r>
                        <a:rPr sz="1875" b="0">
                          <a:solidFill>
                            <a:srgbClr val="173B50"/>
                          </a:solidFill>
                          <a:latin typeface="Arial"/>
                          <a:ea typeface="Arial"/>
                          <a:cs typeface="Arial"/>
                        </a:rPr>
                        <a:t>Buildable harness definitions</a:t>
                      </a:r>
                    </a:p>
                  </a:txBody>
                  <a:tcPr marL="76200" marR="76200" marT="28575" marB="28575" anchor="ctr">
                    <a:solidFill>
                      <a:srgbClr val="FFFFFF"/>
                    </a:solidFill>
                  </a:tcPr>
                </a:tc>
              </a:tr>
            </a:tbl>
          </a:graphicData>
        </a:graphic>
      </p:graphicFrame>
      <p:sp>
        <p:nvSpPr>
          <p:cNvPr id="7" name="Qualifying buyers design hardware with harnesses, ">
            <a:extLst xmlns:a="http://schemas.openxmlformats.org/drawingml/2006/main">
              <a:ext uri="{FF2B5EF4-FFF2-40B4-BE49-F238E27FC236}">
                <a16:creationId xmlns:a16="http://schemas.microsoft.com/office/drawing/2014/main" id="{E871ADED-BE9F-4ED4-80FE-B9BDA3B5E19B}"/>
              </a:ext>
            </a:extLst>
          </p:cNvPr>
          <p:cNvSpPr>
            <a:spLocks xmlns:a="http://schemas.openxmlformats.org/drawingml/2006/main" noGrp="1"/>
          </p:cNvSpPr>
          <p:nvPr/>
        </p:nvSpPr>
        <p:spPr>
          <a:xfrm xmlns:a="http://schemas.openxmlformats.org/drawingml/2006/main">
            <a:off x="609600" y="5819775"/>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16C7B"/>
                </a:solidFill>
                <a:latin typeface="Arial"/>
                <a:ea typeface="Arial"/>
                <a:cs typeface="Arial"/>
              </a:defRPr>
            </a:defPPr>
          </a:lstStyle>
          <a:p xmlns:a="http://schemas.openxmlformats.org/drawingml/2006/main">
            <a:pPr>
              <a:defRPr sz="1950" b="0">
                <a:solidFill>
                  <a:srgbClr val="516C7B"/>
                </a:solidFill>
                <a:latin typeface="Arial"/>
                <a:ea typeface="Arial"/>
                <a:cs typeface="Arial"/>
              </a:defRPr>
            </a:pPr>
            <a:r>
              <a:rPr sz="1950" b="0">
                <a:solidFill>
                  <a:srgbClr val="516C7B"/>
                </a:solidFill>
                <a:latin typeface="Arial"/>
                <a:ea typeface="Arial"/>
                <a:cs typeface="Arial"/>
              </a:rPr>
              <a:t>Qualifying buyers design hardware with harnesses, interfaces or cabinet wiring</a:t>
            </a:r>
          </a:p>
        </p:txBody>
      </p:sp>
    </p:spTree>
    <p:extLst>
      <p:ext uri="{BB962C8B-B14F-4D97-AF65-F5344CB8AC3E}">
        <p14:creationId xmlns:p14="http://schemas.microsoft.com/office/powerpoint/2010/main" val="101952117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0ABDC096-15DC-4E34-BE04-95B5EA9615CA}"/>
              </a:ext>
            </a:extLst>
          </p:cNvPr>
          <p:cNvPicPr>
            <a:picLocks xmlns:a="http://schemas.openxmlformats.org/drawingml/2006/main" noChangeAspect="1"/>
          </p:cNvPicPr>
          <p:nvPr/>
        </p:nvPicPr>
        <p:blipFill>
          <a:blip xmlns:r="http://schemas.openxmlformats.org/officeDocument/2006/relationships" xmlns:a="http://schemas.openxmlformats.org/drawingml/2006/main" r:embed="Re62efc095a9e400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Light background wash">
            <a:extLst xmlns:a="http://schemas.openxmlformats.org/drawingml/2006/main">
              <a:ext uri="{FF2B5EF4-FFF2-40B4-BE49-F238E27FC236}">
                <a16:creationId xmlns:a16="http://schemas.microsoft.com/office/drawing/2014/main" id="{AAB6E8D8-C84A-4BBC-AF9A-3941B0C922A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90000"/>
            </a:srgbClr>
          </a:solidFill>
          <a:ln xmlns:a="http://schemas.openxmlformats.org/drawingml/2006/main" w="0">
            <a:noFill/>
          </a:ln>
        </p:spPr>
      </p:sp>
      <p:sp>
        <p:nvSpPr>
          <p:cNvPr id="3" name="Common harness engineering across projects">
            <a:extLst xmlns:a="http://schemas.openxmlformats.org/drawingml/2006/main">
              <a:ext uri="{FF2B5EF4-FFF2-40B4-BE49-F238E27FC236}">
                <a16:creationId xmlns:a16="http://schemas.microsoft.com/office/drawing/2014/main" id="{0B7134D9-1D59-4A0D-BC8B-ACB4A5836636}"/>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73B50"/>
                </a:solidFill>
                <a:latin typeface="Arial"/>
                <a:ea typeface="Arial"/>
                <a:cs typeface="Arial"/>
              </a:defRPr>
            </a:defPPr>
          </a:lstStyle>
          <a:p xmlns:a="http://schemas.openxmlformats.org/drawingml/2006/main">
            <a:pPr>
              <a:defRPr sz="3450" b="1">
                <a:solidFill>
                  <a:srgbClr val="173B50"/>
                </a:solidFill>
                <a:latin typeface="Arial"/>
                <a:ea typeface="Arial"/>
                <a:cs typeface="Arial"/>
              </a:defRPr>
            </a:pPr>
            <a:r>
              <a:rPr sz="3450" b="1">
                <a:solidFill>
                  <a:srgbClr val="173B50"/>
                </a:solidFill>
                <a:latin typeface="Arial"/>
                <a:ea typeface="Arial"/>
                <a:cs typeface="Arial"/>
              </a:rPr>
              <a:t>Common harness engineering across projects</a:t>
            </a:r>
          </a:p>
        </p:txBody>
      </p:sp>
      <p:sp>
        <p:nvSpPr>
          <p:cNvPr id="4" name="04">
            <a:extLst xmlns:a="http://schemas.openxmlformats.org/drawingml/2006/main">
              <a:ext uri="{FF2B5EF4-FFF2-40B4-BE49-F238E27FC236}">
                <a16:creationId xmlns:a16="http://schemas.microsoft.com/office/drawing/2014/main" id="{20A974CA-77E0-4E9E-9A59-2B12757BF8B4}"/>
              </a:ext>
            </a:extLst>
          </p:cNvPr>
          <p:cNvSpPr>
            <a:spLocks xmlns:a="http://schemas.openxmlformats.org/drawingml/2006/main" noGrp="1"/>
          </p:cNvSpPr>
          <p:nvPr/>
        </p:nvSpPr>
        <p:spPr>
          <a:xfrm xmlns:a="http://schemas.openxmlformats.org/drawingml/2006/main">
            <a:off x="11191875"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C7B"/>
                </a:solidFill>
                <a:latin typeface="Arial"/>
                <a:ea typeface="Arial"/>
                <a:cs typeface="Arial"/>
              </a:defRPr>
            </a:defPPr>
          </a:lstStyle>
          <a:p xmlns:a="http://schemas.openxmlformats.org/drawingml/2006/main">
            <a:pPr>
              <a:defRPr sz="1200" b="0">
                <a:solidFill>
                  <a:srgbClr val="516C7B"/>
                </a:solidFill>
                <a:latin typeface="Arial"/>
                <a:ea typeface="Arial"/>
                <a:cs typeface="Arial"/>
              </a:defRPr>
            </a:pPr>
            <a:r>
              <a:rPr sz="1200" b="0">
                <a:solidFill>
                  <a:srgbClr val="516C7B"/>
                </a:solidFill>
                <a:latin typeface="Arial"/>
                <a:ea typeface="Arial"/>
                <a:cs typeface="Arial"/>
              </a:rPr>
              <a:t>04</a:t>
            </a:r>
          </a:p>
        </p:txBody>
      </p:sp>
      <p:sp>
        <p:nvSpPr>
          <p:cNvPr id="5" name="Today: local design reuse. Roadmap: controlled com">
            <a:extLst xmlns:a="http://schemas.openxmlformats.org/drawingml/2006/main">
              <a:ext uri="{FF2B5EF4-FFF2-40B4-BE49-F238E27FC236}">
                <a16:creationId xmlns:a16="http://schemas.microsoft.com/office/drawing/2014/main" id="{DCC3167F-F0B0-47C1-8040-9D16FBAB8A63}"/>
              </a:ext>
            </a:extLst>
          </p:cNvPr>
          <p:cNvSpPr>
            <a:spLocks xmlns:a="http://schemas.openxmlformats.org/drawingml/2006/main" noGrp="1"/>
          </p:cNvSpPr>
          <p:nvPr/>
        </p:nvSpPr>
        <p:spPr>
          <a:xfrm xmlns:a="http://schemas.openxmlformats.org/drawingml/2006/main">
            <a:off x="609600" y="6191250"/>
            <a:ext cx="1019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16C7B"/>
                </a:solidFill>
                <a:latin typeface="Arial"/>
                <a:ea typeface="Arial"/>
                <a:cs typeface="Arial"/>
              </a:defRPr>
            </a:defPPr>
          </a:lstStyle>
          <a:p xmlns:a="http://schemas.openxmlformats.org/drawingml/2006/main">
            <a:pPr>
              <a:defRPr sz="1350" b="0">
                <a:solidFill>
                  <a:srgbClr val="516C7B"/>
                </a:solidFill>
                <a:latin typeface="Arial"/>
                <a:ea typeface="Arial"/>
                <a:cs typeface="Arial"/>
              </a:defRPr>
            </a:pPr>
            <a:r>
              <a:rPr sz="1350" b="0">
                <a:solidFill>
                  <a:srgbClr val="516C7B"/>
                </a:solidFill>
                <a:latin typeface="Arial"/>
                <a:ea typeface="Arial"/>
                <a:cs typeface="Arial"/>
              </a:rPr>
              <a:t>Today: local design reuse. Roadmap: controlled common designs and revisions across projects.</a:t>
            </a:r>
          </a:p>
        </p:txBody>
      </p:sp>
      <p:sp>
        <p:nvSpPr>
          <p:cNvPr id="6" name="Reusable engineering assets become a company pract">
            <a:extLst xmlns:a="http://schemas.openxmlformats.org/drawingml/2006/main">
              <a:ext uri="{FF2B5EF4-FFF2-40B4-BE49-F238E27FC236}">
                <a16:creationId xmlns:a16="http://schemas.microsoft.com/office/drawing/2014/main" id="{546C1D2D-B65A-452F-925F-A84951F43052}"/>
              </a:ext>
            </a:extLst>
          </p:cNvPr>
          <p:cNvSpPr>
            <a:spLocks xmlns:a="http://schemas.openxmlformats.org/drawingml/2006/main" noGrp="1"/>
          </p:cNvSpPr>
          <p:nvPr/>
        </p:nvSpPr>
        <p:spPr>
          <a:xfrm xmlns:a="http://schemas.openxmlformats.org/drawingml/2006/main">
            <a:off x="609600" y="1562100"/>
            <a:ext cx="108394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173B50"/>
                </a:solidFill>
                <a:latin typeface="Arial"/>
                <a:ea typeface="Arial"/>
                <a:cs typeface="Arial"/>
              </a:defRPr>
            </a:defPPr>
          </a:lstStyle>
          <a:p xmlns:a="http://schemas.openxmlformats.org/drawingml/2006/main">
            <a:pPr>
              <a:defRPr sz="2850" b="1">
                <a:solidFill>
                  <a:srgbClr val="173B50"/>
                </a:solidFill>
                <a:latin typeface="Arial"/>
                <a:ea typeface="Arial"/>
                <a:cs typeface="Arial"/>
              </a:defRPr>
            </a:pPr>
            <a:r>
              <a:rPr sz="2850" b="1">
                <a:solidFill>
                  <a:srgbClr val="173B50"/>
                </a:solidFill>
                <a:latin typeface="Arial"/>
                <a:ea typeface="Arial"/>
                <a:cs typeface="Arial"/>
              </a:rPr>
              <a:t>Reusable engineering assets become a company practice</a:t>
            </a:r>
          </a:p>
        </p:txBody>
      </p:sp>
      <p:sp>
        <p:nvSpPr>
          <p:cNvPr id="7" name="Common definitions">
            <a:extLst xmlns:a="http://schemas.openxmlformats.org/drawingml/2006/main">
              <a:ext uri="{FF2B5EF4-FFF2-40B4-BE49-F238E27FC236}">
                <a16:creationId xmlns:a16="http://schemas.microsoft.com/office/drawing/2014/main" id="{72C9D2B2-7241-4523-AA2C-B6F2F5EEF10E}"/>
              </a:ext>
            </a:extLst>
          </p:cNvPr>
          <p:cNvSpPr>
            <a:spLocks xmlns:a="http://schemas.openxmlformats.org/drawingml/2006/main" noGrp="1"/>
          </p:cNvSpPr>
          <p:nvPr/>
        </p:nvSpPr>
        <p:spPr>
          <a:xfrm xmlns:a="http://schemas.openxmlformats.org/drawingml/2006/main">
            <a:off x="609600" y="2914650"/>
            <a:ext cx="33242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73B50"/>
                </a:solidFill>
                <a:latin typeface="Arial"/>
                <a:ea typeface="Arial"/>
                <a:cs typeface="Arial"/>
              </a:defRPr>
            </a:defPPr>
          </a:lstStyle>
          <a:p xmlns:a="http://schemas.openxmlformats.org/drawingml/2006/main">
            <a:pPr>
              <a:defRPr sz="2400" b="1">
                <a:solidFill>
                  <a:srgbClr val="173B50"/>
                </a:solidFill>
                <a:latin typeface="Arial"/>
                <a:ea typeface="Arial"/>
                <a:cs typeface="Arial"/>
              </a:defRPr>
            </a:pPr>
            <a:r>
              <a:rPr sz="2400" b="1">
                <a:solidFill>
                  <a:srgbClr val="173B50"/>
                </a:solidFill>
                <a:latin typeface="Arial"/>
                <a:ea typeface="Arial"/>
                <a:cs typeface="Arial"/>
              </a:rPr>
              <a:t>Common definitions</a:t>
            </a:r>
          </a:p>
        </p:txBody>
      </p:sp>
      <p:sp>
        <p:nvSpPr>
          <p:cNvPr id="8" name="Reuse connector data, drawing templates and engine">
            <a:extLst xmlns:a="http://schemas.openxmlformats.org/drawingml/2006/main">
              <a:ext uri="{FF2B5EF4-FFF2-40B4-BE49-F238E27FC236}">
                <a16:creationId xmlns:a16="http://schemas.microsoft.com/office/drawing/2014/main" id="{53CB2C29-95F8-4456-8599-A938329992DC}"/>
              </a:ext>
            </a:extLst>
          </p:cNvPr>
          <p:cNvSpPr>
            <a:spLocks xmlns:a="http://schemas.openxmlformats.org/drawingml/2006/main" noGrp="1"/>
          </p:cNvSpPr>
          <p:nvPr/>
        </p:nvSpPr>
        <p:spPr>
          <a:xfrm xmlns:a="http://schemas.openxmlformats.org/drawingml/2006/main">
            <a:off x="609600" y="3714750"/>
            <a:ext cx="33242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16C7B"/>
                </a:solidFill>
                <a:latin typeface="Arial"/>
                <a:ea typeface="Arial"/>
                <a:cs typeface="Arial"/>
              </a:defRPr>
            </a:defPPr>
          </a:lstStyle>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Reuse connector data, drawing templates and engineering rules instead of rebuilding the same information.</a:t>
            </a:r>
          </a:p>
        </p:txBody>
      </p:sp>
      <p:sp>
        <p:nvSpPr>
          <p:cNvPr id="9" name="Project-specific designs">
            <a:extLst xmlns:a="http://schemas.openxmlformats.org/drawingml/2006/main">
              <a:ext uri="{FF2B5EF4-FFF2-40B4-BE49-F238E27FC236}">
                <a16:creationId xmlns:a16="http://schemas.microsoft.com/office/drawing/2014/main" id="{F2496164-B3AA-41C9-A856-E68D3F4A39AE}"/>
              </a:ext>
            </a:extLst>
          </p:cNvPr>
          <p:cNvSpPr>
            <a:spLocks xmlns:a="http://schemas.openxmlformats.org/drawingml/2006/main" noGrp="1"/>
          </p:cNvSpPr>
          <p:nvPr/>
        </p:nvSpPr>
        <p:spPr>
          <a:xfrm xmlns:a="http://schemas.openxmlformats.org/drawingml/2006/main">
            <a:off x="4410075" y="2914650"/>
            <a:ext cx="33242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73B50"/>
                </a:solidFill>
                <a:latin typeface="Arial"/>
                <a:ea typeface="Arial"/>
                <a:cs typeface="Arial"/>
              </a:defRPr>
            </a:defPPr>
          </a:lstStyle>
          <a:p xmlns:a="http://schemas.openxmlformats.org/drawingml/2006/main">
            <a:pPr>
              <a:defRPr sz="2400" b="1">
                <a:solidFill>
                  <a:srgbClr val="173B50"/>
                </a:solidFill>
                <a:latin typeface="Arial"/>
                <a:ea typeface="Arial"/>
                <a:cs typeface="Arial"/>
              </a:defRPr>
            </a:pPr>
            <a:r>
              <a:rPr sz="2400" b="1">
                <a:solidFill>
                  <a:srgbClr val="173B50"/>
                </a:solidFill>
                <a:latin typeface="Arial"/>
                <a:ea typeface="Arial"/>
                <a:cs typeface="Arial"/>
              </a:rPr>
              <a:t>Project-specific designs</a:t>
            </a:r>
          </a:p>
        </p:txBody>
      </p:sp>
      <p:sp>
        <p:nvSpPr>
          <p:cNvPr id="10" name="Apply a common approach to each system while prese">
            <a:extLst xmlns:a="http://schemas.openxmlformats.org/drawingml/2006/main">
              <a:ext uri="{FF2B5EF4-FFF2-40B4-BE49-F238E27FC236}">
                <a16:creationId xmlns:a16="http://schemas.microsoft.com/office/drawing/2014/main" id="{E7A97BC2-EA3B-476F-8E2B-96A8697CFB17}"/>
              </a:ext>
            </a:extLst>
          </p:cNvPr>
          <p:cNvSpPr>
            <a:spLocks xmlns:a="http://schemas.openxmlformats.org/drawingml/2006/main" noGrp="1"/>
          </p:cNvSpPr>
          <p:nvPr/>
        </p:nvSpPr>
        <p:spPr>
          <a:xfrm xmlns:a="http://schemas.openxmlformats.org/drawingml/2006/main">
            <a:off x="4410075" y="3714750"/>
            <a:ext cx="33242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16C7B"/>
                </a:solidFill>
                <a:latin typeface="Arial"/>
                <a:ea typeface="Arial"/>
                <a:cs typeface="Arial"/>
              </a:defRPr>
            </a:defPPr>
          </a:lstStyle>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Apply a common approach to each system while preserving the project drawing identity and revision.</a:t>
            </a:r>
          </a:p>
        </p:txBody>
      </p:sp>
      <p:sp>
        <p:nvSpPr>
          <p:cNvPr id="11" name="Controlled evolution">
            <a:extLst xmlns:a="http://schemas.openxmlformats.org/drawingml/2006/main">
              <a:ext uri="{FF2B5EF4-FFF2-40B4-BE49-F238E27FC236}">
                <a16:creationId xmlns:a16="http://schemas.microsoft.com/office/drawing/2014/main" id="{A5230B62-9B1C-4689-AA20-A901EBCF3479}"/>
              </a:ext>
            </a:extLst>
          </p:cNvPr>
          <p:cNvSpPr>
            <a:spLocks xmlns:a="http://schemas.openxmlformats.org/drawingml/2006/main" noGrp="1"/>
          </p:cNvSpPr>
          <p:nvPr/>
        </p:nvSpPr>
        <p:spPr>
          <a:xfrm xmlns:a="http://schemas.openxmlformats.org/drawingml/2006/main">
            <a:off x="8210550" y="2914650"/>
            <a:ext cx="33242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73B50"/>
                </a:solidFill>
                <a:latin typeface="Arial"/>
                <a:ea typeface="Arial"/>
                <a:cs typeface="Arial"/>
              </a:defRPr>
            </a:defPPr>
          </a:lstStyle>
          <a:p xmlns:a="http://schemas.openxmlformats.org/drawingml/2006/main">
            <a:pPr>
              <a:defRPr sz="2400" b="1">
                <a:solidFill>
                  <a:srgbClr val="173B50"/>
                </a:solidFill>
                <a:latin typeface="Arial"/>
                <a:ea typeface="Arial"/>
                <a:cs typeface="Arial"/>
              </a:defRPr>
            </a:pPr>
            <a:r>
              <a:rPr sz="2400" b="1">
                <a:solidFill>
                  <a:srgbClr val="173B50"/>
                </a:solidFill>
                <a:latin typeface="Arial"/>
                <a:ea typeface="Arial"/>
                <a:cs typeface="Arial"/>
              </a:rPr>
              <a:t>Controlled evolution</a:t>
            </a:r>
          </a:p>
        </p:txBody>
      </p:sp>
      <p:sp>
        <p:nvSpPr>
          <p:cNvPr id="12" name="Build a managed harness catalog and revision-impac">
            <a:extLst xmlns:a="http://schemas.openxmlformats.org/drawingml/2006/main">
              <a:ext uri="{FF2B5EF4-FFF2-40B4-BE49-F238E27FC236}">
                <a16:creationId xmlns:a16="http://schemas.microsoft.com/office/drawing/2014/main" id="{DA0D05F7-81DF-42FC-8D8A-7135F26041D9}"/>
              </a:ext>
            </a:extLst>
          </p:cNvPr>
          <p:cNvSpPr>
            <a:spLocks xmlns:a="http://schemas.openxmlformats.org/drawingml/2006/main" noGrp="1"/>
          </p:cNvSpPr>
          <p:nvPr/>
        </p:nvSpPr>
        <p:spPr>
          <a:xfrm xmlns:a="http://schemas.openxmlformats.org/drawingml/2006/main">
            <a:off x="8210550" y="3714750"/>
            <a:ext cx="33242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16C7B"/>
                </a:solidFill>
                <a:latin typeface="Arial"/>
                <a:ea typeface="Arial"/>
                <a:cs typeface="Arial"/>
              </a:defRPr>
            </a:defPPr>
          </a:lstStyle>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Build a managed harness catalog and revision-impact review as the company ecosystem grows.</a:t>
            </a:r>
          </a:p>
        </p:txBody>
      </p:sp>
      <p:sp>
        <p:nvSpPr>
          <p:cNvPr id="13" name="Common assets reduce repeated work and improve pro">
            <a:extLst xmlns:a="http://schemas.openxmlformats.org/drawingml/2006/main">
              <a:ext uri="{FF2B5EF4-FFF2-40B4-BE49-F238E27FC236}">
                <a16:creationId xmlns:a16="http://schemas.microsoft.com/office/drawing/2014/main" id="{C63C05EF-93B1-4706-807B-E9FD7F7F34E7}"/>
              </a:ext>
            </a:extLst>
          </p:cNvPr>
          <p:cNvSpPr>
            <a:spLocks xmlns:a="http://schemas.openxmlformats.org/drawingml/2006/main" noGrp="1"/>
          </p:cNvSpPr>
          <p:nvPr/>
        </p:nvSpPr>
        <p:spPr>
          <a:xfrm xmlns:a="http://schemas.openxmlformats.org/drawingml/2006/main">
            <a:off x="609600" y="5619750"/>
            <a:ext cx="10839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73B50"/>
                </a:solidFill>
                <a:latin typeface="Arial"/>
                <a:ea typeface="Arial"/>
                <a:cs typeface="Arial"/>
              </a:defRPr>
            </a:defPPr>
          </a:lstStyle>
          <a:p xmlns:a="http://schemas.openxmlformats.org/drawingml/2006/main">
            <a:pPr>
              <a:defRPr sz="2175" b="1">
                <a:solidFill>
                  <a:srgbClr val="173B50"/>
                </a:solidFill>
                <a:latin typeface="Arial"/>
                <a:ea typeface="Arial"/>
                <a:cs typeface="Arial"/>
              </a:defRPr>
            </a:pPr>
            <a:r>
              <a:rPr sz="2175" b="1">
                <a:solidFill>
                  <a:srgbClr val="173B50"/>
                </a:solidFill>
                <a:latin typeface="Arial"/>
                <a:ea typeface="Arial"/>
                <a:cs typeface="Arial"/>
              </a:rPr>
              <a:t>Common assets reduce repeated work and improve project consistency</a:t>
            </a:r>
          </a:p>
        </p:txBody>
      </p:sp>
    </p:spTree>
    <p:extLst>
      <p:ext uri="{BB962C8B-B14F-4D97-AF65-F5344CB8AC3E}">
        <p14:creationId xmlns:p14="http://schemas.microsoft.com/office/powerpoint/2010/main" val="186313382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FF2ECE32-DC3B-47DA-94F0-3D3A42B9CB5A}"/>
              </a:ext>
            </a:extLst>
          </p:cNvPr>
          <p:cNvPicPr>
            <a:picLocks xmlns:a="http://schemas.openxmlformats.org/drawingml/2006/main" noChangeAspect="1"/>
          </p:cNvPicPr>
          <p:nvPr/>
        </p:nvPicPr>
        <p:blipFill>
          <a:blip xmlns:r="http://schemas.openxmlformats.org/officeDocument/2006/relationships" xmlns:a="http://schemas.openxmlformats.org/drawingml/2006/main" r:embed="Re7f224bee1674f1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Light background wash">
            <a:extLst xmlns:a="http://schemas.openxmlformats.org/drawingml/2006/main">
              <a:ext uri="{FF2B5EF4-FFF2-40B4-BE49-F238E27FC236}">
                <a16:creationId xmlns:a16="http://schemas.microsoft.com/office/drawing/2014/main" id="{B62C4765-85B1-4ED4-8806-0D36BA76B90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90000"/>
            </a:srgbClr>
          </a:solidFill>
          <a:ln xmlns:a="http://schemas.openxmlformats.org/drawingml/2006/main" w="0">
            <a:noFill/>
          </a:ln>
        </p:spPr>
      </p:sp>
      <p:sp>
        <p:nvSpPr>
          <p:cNvPr id="3" name="The engineering problem">
            <a:extLst xmlns:a="http://schemas.openxmlformats.org/drawingml/2006/main">
              <a:ext uri="{FF2B5EF4-FFF2-40B4-BE49-F238E27FC236}">
                <a16:creationId xmlns:a16="http://schemas.microsoft.com/office/drawing/2014/main" id="{66E1312A-8848-4E05-86FA-D66EB32CCBA4}"/>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73B50"/>
                </a:solidFill>
                <a:latin typeface="Arial"/>
                <a:ea typeface="Arial"/>
                <a:cs typeface="Arial"/>
              </a:defRPr>
            </a:defPPr>
          </a:lstStyle>
          <a:p xmlns:a="http://schemas.openxmlformats.org/drawingml/2006/main">
            <a:pPr>
              <a:defRPr sz="3450" b="1">
                <a:solidFill>
                  <a:srgbClr val="173B50"/>
                </a:solidFill>
                <a:latin typeface="Arial"/>
                <a:ea typeface="Arial"/>
                <a:cs typeface="Arial"/>
              </a:defRPr>
            </a:pPr>
            <a:r>
              <a:rPr sz="3450" b="1">
                <a:solidFill>
                  <a:srgbClr val="173B50"/>
                </a:solidFill>
                <a:latin typeface="Arial"/>
                <a:ea typeface="Arial"/>
                <a:cs typeface="Arial"/>
              </a:rPr>
              <a:t>The engineering problem</a:t>
            </a:r>
          </a:p>
        </p:txBody>
      </p:sp>
      <p:sp>
        <p:nvSpPr>
          <p:cNvPr id="4" name="05">
            <a:extLst xmlns:a="http://schemas.openxmlformats.org/drawingml/2006/main">
              <a:ext uri="{FF2B5EF4-FFF2-40B4-BE49-F238E27FC236}">
                <a16:creationId xmlns:a16="http://schemas.microsoft.com/office/drawing/2014/main" id="{D93BB5A4-A458-4678-9C96-F6F270119F5A}"/>
              </a:ext>
            </a:extLst>
          </p:cNvPr>
          <p:cNvSpPr>
            <a:spLocks xmlns:a="http://schemas.openxmlformats.org/drawingml/2006/main" noGrp="1"/>
          </p:cNvSpPr>
          <p:nvPr/>
        </p:nvSpPr>
        <p:spPr>
          <a:xfrm xmlns:a="http://schemas.openxmlformats.org/drawingml/2006/main">
            <a:off x="11191875"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C7B"/>
                </a:solidFill>
                <a:latin typeface="Arial"/>
                <a:ea typeface="Arial"/>
                <a:cs typeface="Arial"/>
              </a:defRPr>
            </a:defPPr>
          </a:lstStyle>
          <a:p xmlns:a="http://schemas.openxmlformats.org/drawingml/2006/main">
            <a:pPr>
              <a:defRPr sz="1200" b="0">
                <a:solidFill>
                  <a:srgbClr val="516C7B"/>
                </a:solidFill>
                <a:latin typeface="Arial"/>
                <a:ea typeface="Arial"/>
                <a:cs typeface="Arial"/>
              </a:defRPr>
            </a:pPr>
            <a:r>
              <a:rPr sz="1200" b="0">
                <a:solidFill>
                  <a:srgbClr val="516C7B"/>
                </a:solidFill>
                <a:latin typeface="Arial"/>
                <a:ea typeface="Arial"/>
                <a:cs typeface="Arial"/>
              </a:rPr>
              <a:t>05</a:t>
            </a:r>
          </a:p>
        </p:txBody>
      </p:sp>
      <p:sp>
        <p:nvSpPr>
          <p:cNvPr id="5" name="Repeated harness work grows&#10;with every new project">
            <a:extLst xmlns:a="http://schemas.openxmlformats.org/drawingml/2006/main">
              <a:ext uri="{FF2B5EF4-FFF2-40B4-BE49-F238E27FC236}">
                <a16:creationId xmlns:a16="http://schemas.microsoft.com/office/drawing/2014/main" id="{C17BC6BA-88FC-4F34-B134-06EA2AEB9EDA}"/>
              </a:ext>
            </a:extLst>
          </p:cNvPr>
          <p:cNvSpPr>
            <a:spLocks xmlns:a="http://schemas.openxmlformats.org/drawingml/2006/main" noGrp="1"/>
          </p:cNvSpPr>
          <p:nvPr/>
        </p:nvSpPr>
        <p:spPr>
          <a:xfrm xmlns:a="http://schemas.openxmlformats.org/drawingml/2006/main">
            <a:off x="609600" y="1609725"/>
            <a:ext cx="1057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73B50"/>
                </a:solidFill>
                <a:latin typeface="Arial"/>
                <a:ea typeface="Arial"/>
                <a:cs typeface="Arial"/>
              </a:defRPr>
            </a:defPPr>
          </a:lstStyle>
          <a:p xmlns:a="http://schemas.openxmlformats.org/drawingml/2006/main">
            <a:pPr>
              <a:defRPr sz="3375" b="1">
                <a:solidFill>
                  <a:srgbClr val="173B50"/>
                </a:solidFill>
                <a:latin typeface="Arial"/>
                <a:ea typeface="Arial"/>
                <a:cs typeface="Arial"/>
              </a:defRPr>
            </a:pPr>
            <a:r>
              <a:rPr sz="3375" b="1">
                <a:solidFill>
                  <a:srgbClr val="173B50"/>
                </a:solidFill>
                <a:latin typeface="Arial"/>
                <a:ea typeface="Arial"/>
                <a:cs typeface="Arial"/>
              </a:rPr>
              <a:t>Repeated harness work grows</a:t>
            </a:r>
          </a:p>
          <a:p xmlns:a="http://schemas.openxmlformats.org/drawingml/2006/main">
            <a:pPr>
              <a:defRPr sz="3375" b="1">
                <a:solidFill>
                  <a:srgbClr val="173B50"/>
                </a:solidFill>
                <a:latin typeface="Arial"/>
                <a:ea typeface="Arial"/>
                <a:cs typeface="Arial"/>
              </a:defRPr>
            </a:pPr>
            <a:r>
              <a:rPr sz="3375" b="1">
                <a:solidFill>
                  <a:srgbClr val="173B50"/>
                </a:solidFill>
                <a:latin typeface="Arial"/>
                <a:ea typeface="Arial"/>
                <a:cs typeface="Arial"/>
              </a:rPr>
              <a:t>with every new project</a:t>
            </a:r>
          </a:p>
        </p:txBody>
      </p:sp>
      <p:sp>
        <p:nvSpPr>
          <p:cNvPr id="6" name="Repeated data">
            <a:extLst xmlns:a="http://schemas.openxmlformats.org/drawingml/2006/main">
              <a:ext uri="{FF2B5EF4-FFF2-40B4-BE49-F238E27FC236}">
                <a16:creationId xmlns:a16="http://schemas.microsoft.com/office/drawing/2014/main" id="{B9EEB176-C0CB-429F-9EB4-EC22B81AC24A}"/>
              </a:ext>
            </a:extLst>
          </p:cNvPr>
          <p:cNvSpPr>
            <a:spLocks xmlns:a="http://schemas.openxmlformats.org/drawingml/2006/main" noGrp="1"/>
          </p:cNvSpPr>
          <p:nvPr/>
        </p:nvSpPr>
        <p:spPr>
          <a:xfrm xmlns:a="http://schemas.openxmlformats.org/drawingml/2006/main">
            <a:off x="609600" y="325755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73B50"/>
                </a:solidFill>
                <a:latin typeface="Arial"/>
                <a:ea typeface="Arial"/>
                <a:cs typeface="Arial"/>
              </a:defRPr>
            </a:defPPr>
          </a:lstStyle>
          <a:p xmlns:a="http://schemas.openxmlformats.org/drawingml/2006/main">
            <a:pPr>
              <a:defRPr sz="2400" b="1">
                <a:solidFill>
                  <a:srgbClr val="173B50"/>
                </a:solidFill>
                <a:latin typeface="Arial"/>
                <a:ea typeface="Arial"/>
                <a:cs typeface="Arial"/>
              </a:defRPr>
            </a:pPr>
            <a:r>
              <a:rPr sz="2400" b="1">
                <a:solidFill>
                  <a:srgbClr val="173B50"/>
                </a:solidFill>
                <a:latin typeface="Arial"/>
                <a:ea typeface="Arial"/>
                <a:cs typeface="Arial"/>
              </a:rPr>
              <a:t>Repeated data</a:t>
            </a:r>
          </a:p>
        </p:txBody>
      </p:sp>
      <p:sp>
        <p:nvSpPr>
          <p:cNvPr id="7" name="Teams repeat connector data, harness layouts and d">
            <a:extLst xmlns:a="http://schemas.openxmlformats.org/drawingml/2006/main">
              <a:ext uri="{FF2B5EF4-FFF2-40B4-BE49-F238E27FC236}">
                <a16:creationId xmlns:a16="http://schemas.microsoft.com/office/drawing/2014/main" id="{7BFF205B-EDE9-4D00-837B-B8E997355C44}"/>
              </a:ext>
            </a:extLst>
          </p:cNvPr>
          <p:cNvSpPr>
            <a:spLocks xmlns:a="http://schemas.openxmlformats.org/drawingml/2006/main" noGrp="1"/>
          </p:cNvSpPr>
          <p:nvPr/>
        </p:nvSpPr>
        <p:spPr>
          <a:xfrm xmlns:a="http://schemas.openxmlformats.org/drawingml/2006/main">
            <a:off x="609600" y="4057650"/>
            <a:ext cx="33337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16C7B"/>
                </a:solidFill>
                <a:latin typeface="Arial"/>
                <a:ea typeface="Arial"/>
                <a:cs typeface="Arial"/>
              </a:defRPr>
            </a:defPPr>
          </a:lstStyle>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Teams repeat connector data, harness layouts and drawing details across systems and projects.</a:t>
            </a:r>
          </a:p>
        </p:txBody>
      </p:sp>
      <p:sp>
        <p:nvSpPr>
          <p:cNvPr id="8" name="Manual reconciliation">
            <a:extLst xmlns:a="http://schemas.openxmlformats.org/drawingml/2006/main">
              <a:ext uri="{FF2B5EF4-FFF2-40B4-BE49-F238E27FC236}">
                <a16:creationId xmlns:a16="http://schemas.microsoft.com/office/drawing/2014/main" id="{D1D9286D-B2A5-4331-8B2C-4684D32C2E4D}"/>
              </a:ext>
            </a:extLst>
          </p:cNvPr>
          <p:cNvSpPr>
            <a:spLocks xmlns:a="http://schemas.openxmlformats.org/drawingml/2006/main" noGrp="1"/>
          </p:cNvSpPr>
          <p:nvPr/>
        </p:nvSpPr>
        <p:spPr>
          <a:xfrm xmlns:a="http://schemas.openxmlformats.org/drawingml/2006/main">
            <a:off x="4410075" y="325755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73B50"/>
                </a:solidFill>
                <a:latin typeface="Arial"/>
                <a:ea typeface="Arial"/>
                <a:cs typeface="Arial"/>
              </a:defRPr>
            </a:defPPr>
          </a:lstStyle>
          <a:p xmlns:a="http://schemas.openxmlformats.org/drawingml/2006/main">
            <a:pPr>
              <a:defRPr sz="2400" b="1">
                <a:solidFill>
                  <a:srgbClr val="173B50"/>
                </a:solidFill>
                <a:latin typeface="Arial"/>
                <a:ea typeface="Arial"/>
                <a:cs typeface="Arial"/>
              </a:defRPr>
            </a:pPr>
            <a:r>
              <a:rPr sz="2400" b="1">
                <a:solidFill>
                  <a:srgbClr val="173B50"/>
                </a:solidFill>
                <a:latin typeface="Arial"/>
                <a:ea typeface="Arial"/>
                <a:cs typeface="Arial"/>
              </a:rPr>
              <a:t>Manual reconciliation</a:t>
            </a:r>
          </a:p>
        </p:txBody>
      </p:sp>
      <p:sp>
        <p:nvSpPr>
          <p:cNvPr id="9" name="Project drawings can disagree when teams copy info">
            <a:extLst xmlns:a="http://schemas.openxmlformats.org/drawingml/2006/main">
              <a:ext uri="{FF2B5EF4-FFF2-40B4-BE49-F238E27FC236}">
                <a16:creationId xmlns:a16="http://schemas.microsoft.com/office/drawing/2014/main" id="{A7DDF1ED-F796-453D-B040-2BF79C1F5D0A}"/>
              </a:ext>
            </a:extLst>
          </p:cNvPr>
          <p:cNvSpPr>
            <a:spLocks xmlns:a="http://schemas.openxmlformats.org/drawingml/2006/main" noGrp="1"/>
          </p:cNvSpPr>
          <p:nvPr/>
        </p:nvSpPr>
        <p:spPr>
          <a:xfrm xmlns:a="http://schemas.openxmlformats.org/drawingml/2006/main">
            <a:off x="4410075" y="4057650"/>
            <a:ext cx="33337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16C7B"/>
                </a:solidFill>
                <a:latin typeface="Arial"/>
                <a:ea typeface="Arial"/>
                <a:cs typeface="Arial"/>
              </a:defRPr>
            </a:defPPr>
          </a:lstStyle>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Project drawings can disagree when teams copy information and revise it separately.</a:t>
            </a:r>
          </a:p>
        </p:txBody>
      </p:sp>
      <p:sp>
        <p:nvSpPr>
          <p:cNvPr id="10" name="Unclear release state">
            <a:extLst xmlns:a="http://schemas.openxmlformats.org/drawingml/2006/main">
              <a:ext uri="{FF2B5EF4-FFF2-40B4-BE49-F238E27FC236}">
                <a16:creationId xmlns:a16="http://schemas.microsoft.com/office/drawing/2014/main" id="{8F715FAD-8664-41E8-9E70-12FFB20A2059}"/>
              </a:ext>
            </a:extLst>
          </p:cNvPr>
          <p:cNvSpPr>
            <a:spLocks xmlns:a="http://schemas.openxmlformats.org/drawingml/2006/main" noGrp="1"/>
          </p:cNvSpPr>
          <p:nvPr/>
        </p:nvSpPr>
        <p:spPr>
          <a:xfrm xmlns:a="http://schemas.openxmlformats.org/drawingml/2006/main">
            <a:off x="8210550" y="325755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73B50"/>
                </a:solidFill>
                <a:latin typeface="Arial"/>
                <a:ea typeface="Arial"/>
                <a:cs typeface="Arial"/>
              </a:defRPr>
            </a:defPPr>
          </a:lstStyle>
          <a:p xmlns:a="http://schemas.openxmlformats.org/drawingml/2006/main">
            <a:pPr>
              <a:defRPr sz="2400" b="1">
                <a:solidFill>
                  <a:srgbClr val="173B50"/>
                </a:solidFill>
                <a:latin typeface="Arial"/>
                <a:ea typeface="Arial"/>
                <a:cs typeface="Arial"/>
              </a:defRPr>
            </a:pPr>
            <a:r>
              <a:rPr sz="2400" b="1">
                <a:solidFill>
                  <a:srgbClr val="173B50"/>
                </a:solidFill>
                <a:latin typeface="Arial"/>
                <a:ea typeface="Arial"/>
                <a:cs typeface="Arial"/>
              </a:rPr>
              <a:t>Unclear release state</a:t>
            </a:r>
          </a:p>
        </p:txBody>
      </p:sp>
      <p:sp>
        <p:nvSpPr>
          <p:cNvPr id="11" name="A check performed before an edit can look valid af">
            <a:extLst xmlns:a="http://schemas.openxmlformats.org/drawingml/2006/main">
              <a:ext uri="{FF2B5EF4-FFF2-40B4-BE49-F238E27FC236}">
                <a16:creationId xmlns:a16="http://schemas.microsoft.com/office/drawing/2014/main" id="{BC585535-041E-4931-B45F-D27145AC10E4}"/>
              </a:ext>
            </a:extLst>
          </p:cNvPr>
          <p:cNvSpPr>
            <a:spLocks xmlns:a="http://schemas.openxmlformats.org/drawingml/2006/main" noGrp="1"/>
          </p:cNvSpPr>
          <p:nvPr/>
        </p:nvSpPr>
        <p:spPr>
          <a:xfrm xmlns:a="http://schemas.openxmlformats.org/drawingml/2006/main">
            <a:off x="8210550" y="4057650"/>
            <a:ext cx="33337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16C7B"/>
                </a:solidFill>
                <a:latin typeface="Arial"/>
                <a:ea typeface="Arial"/>
                <a:cs typeface="Arial"/>
              </a:defRPr>
            </a:defPPr>
          </a:lstStyle>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A check performed before an edit can look valid after the drawing has changed.</a:t>
            </a:r>
          </a:p>
        </p:txBody>
      </p:sp>
    </p:spTree>
    <p:extLst>
      <p:ext uri="{BB962C8B-B14F-4D97-AF65-F5344CB8AC3E}">
        <p14:creationId xmlns:p14="http://schemas.microsoft.com/office/powerpoint/2010/main" val="136496333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AFB98989-A65F-4BC5-A3E4-EA451BF78CCD}"/>
              </a:ext>
            </a:extLst>
          </p:cNvPr>
          <p:cNvPicPr>
            <a:picLocks xmlns:a="http://schemas.openxmlformats.org/drawingml/2006/main" noChangeAspect="1"/>
          </p:cNvPicPr>
          <p:nvPr/>
        </p:nvPicPr>
        <p:blipFill>
          <a:blip xmlns:r="http://schemas.openxmlformats.org/officeDocument/2006/relationships" xmlns:a="http://schemas.openxmlformats.org/drawingml/2006/main" r:embed="R36aa616e02ef45c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Light background wash">
            <a:extLst xmlns:a="http://schemas.openxmlformats.org/drawingml/2006/main">
              <a:ext uri="{FF2B5EF4-FFF2-40B4-BE49-F238E27FC236}">
                <a16:creationId xmlns:a16="http://schemas.microsoft.com/office/drawing/2014/main" id="{0F053734-2C15-4A31-97EA-9129F640B1E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90000"/>
            </a:srgbClr>
          </a:solidFill>
          <a:ln xmlns:a="http://schemas.openxmlformats.org/drawingml/2006/main" w="0">
            <a:noFill/>
          </a:ln>
        </p:spPr>
      </p:sp>
      <p:sp>
        <p:nvSpPr>
          <p:cNvPr id="3" name="The harness engineering ecosystem">
            <a:extLst xmlns:a="http://schemas.openxmlformats.org/drawingml/2006/main">
              <a:ext uri="{FF2B5EF4-FFF2-40B4-BE49-F238E27FC236}">
                <a16:creationId xmlns:a16="http://schemas.microsoft.com/office/drawing/2014/main" id="{3DEB0CB6-8AC5-4103-8C59-7AED138CFE40}"/>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73B50"/>
                </a:solidFill>
                <a:latin typeface="Arial"/>
                <a:ea typeface="Arial"/>
                <a:cs typeface="Arial"/>
              </a:defRPr>
            </a:defPPr>
          </a:lstStyle>
          <a:p xmlns:a="http://schemas.openxmlformats.org/drawingml/2006/main">
            <a:pPr>
              <a:defRPr sz="3450" b="1">
                <a:solidFill>
                  <a:srgbClr val="173B50"/>
                </a:solidFill>
                <a:latin typeface="Arial"/>
                <a:ea typeface="Arial"/>
                <a:cs typeface="Arial"/>
              </a:defRPr>
            </a:pPr>
            <a:r>
              <a:rPr sz="3450" b="1">
                <a:solidFill>
                  <a:srgbClr val="173B50"/>
                </a:solidFill>
                <a:latin typeface="Arial"/>
                <a:ea typeface="Arial"/>
                <a:cs typeface="Arial"/>
              </a:rPr>
              <a:t>The harness engineering ecosystem</a:t>
            </a:r>
          </a:p>
        </p:txBody>
      </p:sp>
      <p:sp>
        <p:nvSpPr>
          <p:cNvPr id="4" name="06">
            <a:extLst xmlns:a="http://schemas.openxmlformats.org/drawingml/2006/main">
              <a:ext uri="{FF2B5EF4-FFF2-40B4-BE49-F238E27FC236}">
                <a16:creationId xmlns:a16="http://schemas.microsoft.com/office/drawing/2014/main" id="{A7363588-AD71-45B8-93AA-32DAEA7DAA0A}"/>
              </a:ext>
            </a:extLst>
          </p:cNvPr>
          <p:cNvSpPr>
            <a:spLocks xmlns:a="http://schemas.openxmlformats.org/drawingml/2006/main" noGrp="1"/>
          </p:cNvSpPr>
          <p:nvPr/>
        </p:nvSpPr>
        <p:spPr>
          <a:xfrm xmlns:a="http://schemas.openxmlformats.org/drawingml/2006/main">
            <a:off x="11191875"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C7B"/>
                </a:solidFill>
                <a:latin typeface="Arial"/>
                <a:ea typeface="Arial"/>
                <a:cs typeface="Arial"/>
              </a:defRPr>
            </a:defPPr>
          </a:lstStyle>
          <a:p xmlns:a="http://schemas.openxmlformats.org/drawingml/2006/main">
            <a:pPr>
              <a:defRPr sz="1200" b="0">
                <a:solidFill>
                  <a:srgbClr val="516C7B"/>
                </a:solidFill>
                <a:latin typeface="Arial"/>
                <a:ea typeface="Arial"/>
                <a:cs typeface="Arial"/>
              </a:defRPr>
            </a:pPr>
            <a:r>
              <a:rPr sz="1200" b="0">
                <a:solidFill>
                  <a:srgbClr val="516C7B"/>
                </a:solidFill>
                <a:latin typeface="Arial"/>
                <a:ea typeface="Arial"/>
                <a:cs typeface="Arial"/>
              </a:rPr>
              <a:t>06</a:t>
            </a:r>
          </a:p>
        </p:txBody>
      </p:sp>
      <p:sp>
        <p:nvSpPr>
          <p:cNvPr id="5" name="Available = implemented in the current development">
            <a:extLst xmlns:a="http://schemas.openxmlformats.org/drawingml/2006/main">
              <a:ext uri="{FF2B5EF4-FFF2-40B4-BE49-F238E27FC236}">
                <a16:creationId xmlns:a16="http://schemas.microsoft.com/office/drawing/2014/main" id="{4A4D9761-2C23-4E02-942C-B635AA2F585D}"/>
              </a:ext>
            </a:extLst>
          </p:cNvPr>
          <p:cNvSpPr>
            <a:spLocks xmlns:a="http://schemas.openxmlformats.org/drawingml/2006/main" noGrp="1"/>
          </p:cNvSpPr>
          <p:nvPr/>
        </p:nvSpPr>
        <p:spPr>
          <a:xfrm xmlns:a="http://schemas.openxmlformats.org/drawingml/2006/main">
            <a:off x="609600" y="6191250"/>
            <a:ext cx="1019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16C7B"/>
                </a:solidFill>
                <a:latin typeface="Arial"/>
                <a:ea typeface="Arial"/>
                <a:cs typeface="Arial"/>
              </a:defRPr>
            </a:defPPr>
          </a:lstStyle>
          <a:p xmlns:a="http://schemas.openxmlformats.org/drawingml/2006/main">
            <a:pPr>
              <a:defRPr sz="1350" b="0">
                <a:solidFill>
                  <a:srgbClr val="516C7B"/>
                </a:solidFill>
                <a:latin typeface="Arial"/>
                <a:ea typeface="Arial"/>
                <a:cs typeface="Arial"/>
              </a:defRPr>
            </a:pPr>
            <a:r>
              <a:rPr sz="1350" b="0">
                <a:solidFill>
                  <a:srgbClr val="516C7B"/>
                </a:solidFill>
                <a:latin typeface="Arial"/>
                <a:ea typeface="Arial"/>
                <a:cs typeface="Arial"/>
              </a:rPr>
              <a:t>Available = implemented in the current development build. Proposed = future product work.</a:t>
            </a:r>
          </a:p>
        </p:txBody>
      </p:sp>
      <p:graphicFrame>
        <p:nvGraphicFramePr>
          <p:cNvPr id="6" name="">
            <a:extLst xmlns:a="http://schemas.openxmlformats.org/drawingml/2006/main">
              <a:ext uri="{FF2B5EF4-FFF2-40B4-BE49-F238E27FC236}">
                <a16:creationId xmlns:a16="http://schemas.microsoft.com/office/drawing/2014/main" id="{1448C93D-28FE-4FF8-9FE6-DB905C8A4679}"/>
              </a:ext>
            </a:extLst>
          </p:cNvPr>
          <p:cNvGraphicFramePr/>
          <p:nvPr/>
        </p:nvGraphicFramePr>
        <p:xfrm>
          <a:off xmlns:a="http://schemas.openxmlformats.org/drawingml/2006/main" x="609600" y="1600200"/>
          <a:ext xmlns:a="http://schemas.openxmlformats.org/drawingml/2006/main" cx="10972800" cy="4286250"/>
        </p:xfrm>
        <a:graphic xmlns:a="http://schemas.openxmlformats.org/drawingml/2006/main">
          <a:graphicData uri="http://schemas.openxmlformats.org/drawingml/2006/table">
            <a:tbl>
              <a:tblPr/>
              <a:tblGrid>
                <a:gridCol w="2762250"/>
                <a:gridCol w="6953250"/>
                <a:gridCol w="1257300"/>
              </a:tblGrid>
              <a:tr h="535781">
                <a:tc>
                  <a:txBody>
                    <a:bodyPr lIns="114300" tIns="114300" rIns="114300" bIns="114300">
                      <a:noAutofit/>
                    </a:bodyPr>
                    <a:lstStyle/>
                    <a:p>
                      <a:r>
                        <a:rPr sz="1725" b="1">
                          <a:solidFill>
                            <a:srgbClr val="173B50"/>
                          </a:solidFill>
                          <a:latin typeface="Arial"/>
                          <a:ea typeface="Arial"/>
                          <a:cs typeface="Arial"/>
                        </a:rPr>
                        <a:t>Engineering stage</a:t>
                      </a:r>
                    </a:p>
                  </a:txBody>
                  <a:tcPr marL="76200" marR="76200" marT="28575" marB="28575" anchor="ctr">
                    <a:solidFill>
                      <a:srgbClr val="E3EFF3"/>
                    </a:solidFill>
                  </a:tcPr>
                </a:tc>
                <a:tc>
                  <a:txBody>
                    <a:bodyPr lIns="114300" tIns="114300" rIns="114300" bIns="114300">
                      <a:noAutofit/>
                    </a:bodyPr>
                    <a:lstStyle/>
                    <a:p>
                      <a:r>
                        <a:rPr sz="1725" b="1">
                          <a:solidFill>
                            <a:srgbClr val="173B50"/>
                          </a:solidFill>
                          <a:latin typeface="Arial"/>
                          <a:ea typeface="Arial"/>
                          <a:cs typeface="Arial"/>
                        </a:rPr>
                        <a:t>Current capability</a:t>
                      </a:r>
                    </a:p>
                  </a:txBody>
                  <a:tcPr marL="76200" marR="76200" marT="28575" marB="28575" anchor="ctr">
                    <a:solidFill>
                      <a:srgbClr val="E3EFF3"/>
                    </a:solidFill>
                  </a:tcPr>
                </a:tc>
                <a:tc>
                  <a:txBody>
                    <a:bodyPr lIns="114300" tIns="114300" rIns="114300" bIns="114300">
                      <a:noAutofit/>
                    </a:bodyPr>
                    <a:lstStyle/>
                    <a:p>
                      <a:r>
                        <a:rPr sz="1725" b="1">
                          <a:solidFill>
                            <a:srgbClr val="173B50"/>
                          </a:solidFill>
                          <a:latin typeface="Arial"/>
                          <a:ea typeface="Arial"/>
                          <a:cs typeface="Arial"/>
                        </a:rPr>
                        <a:t>Status</a:t>
                      </a:r>
                    </a:p>
                  </a:txBody>
                  <a:tcPr marL="76200" marR="76200" marT="28575" marB="28575" anchor="ctr">
                    <a:solidFill>
                      <a:srgbClr val="E3EFF3"/>
                    </a:solidFill>
                  </a:tcPr>
                </a:tc>
              </a:tr>
              <a:tr h="535781">
                <a:tc>
                  <a:txBody>
                    <a:bodyPr lIns="114300" tIns="114300" rIns="114300" bIns="114300">
                      <a:noAutofit/>
                    </a:bodyPr>
                    <a:lstStyle/>
                    <a:p>
                      <a:r>
                        <a:rPr sz="1725" b="0">
                          <a:solidFill>
                            <a:srgbClr val="173B50"/>
                          </a:solidFill>
                          <a:latin typeface="Arial"/>
                          <a:ea typeface="Arial"/>
                          <a:cs typeface="Arial"/>
                        </a:rPr>
                        <a:t>Project architecture</a:t>
                      </a:r>
                    </a:p>
                  </a:txBody>
                  <a:tcPr marL="76200" marR="76200" marT="28575" marB="28575" anchor="ctr">
                    <a:solidFill>
                      <a:srgbClr val="FFFFFF"/>
                    </a:solidFill>
                  </a:tcPr>
                </a:tc>
                <a:tc>
                  <a:txBody>
                    <a:bodyPr lIns="114300" tIns="114300" rIns="114300" bIns="114300">
                      <a:noAutofit/>
                    </a:bodyPr>
                    <a:lstStyle/>
                    <a:p>
                      <a:r>
                        <a:rPr sz="1725" b="0">
                          <a:solidFill>
                            <a:srgbClr val="173B50"/>
                          </a:solidFill>
                          <a:latin typeface="Arial"/>
                          <a:ea typeface="Arial"/>
                          <a:cs typeface="Arial"/>
                        </a:rPr>
                        <a:t>Nested units, ports, cables and drawings</a:t>
                      </a:r>
                    </a:p>
                  </a:txBody>
                  <a:tcPr marL="76200" marR="76200" marT="28575" marB="28575" anchor="ctr">
                    <a:solidFill>
                      <a:srgbClr val="FFFFFF"/>
                    </a:solidFill>
                  </a:tcPr>
                </a:tc>
                <a:tc>
                  <a:txBody>
                    <a:bodyPr lIns="114300" tIns="114300" rIns="114300" bIns="114300">
                      <a:noAutofit/>
                    </a:bodyPr>
                    <a:lstStyle/>
                    <a:p>
                      <a:r>
                        <a:rPr sz="1725" b="0">
                          <a:solidFill>
                            <a:srgbClr val="173B50"/>
                          </a:solidFill>
                          <a:latin typeface="Arial"/>
                          <a:ea typeface="Arial"/>
                          <a:cs typeface="Arial"/>
                        </a:rPr>
                        <a:t>Available</a:t>
                      </a:r>
                    </a:p>
                  </a:txBody>
                  <a:tcPr marL="76200" marR="76200" marT="28575" marB="28575" anchor="ctr">
                    <a:solidFill>
                      <a:srgbClr val="FFFFFF"/>
                    </a:solidFill>
                  </a:tcPr>
                </a:tc>
              </a:tr>
              <a:tr h="535781">
                <a:tc>
                  <a:txBody>
                    <a:bodyPr lIns="114300" tIns="114300" rIns="114300" bIns="114300">
                      <a:noAutofit/>
                    </a:bodyPr>
                    <a:lstStyle/>
                    <a:p>
                      <a:r>
                        <a:rPr sz="1725" b="0">
                          <a:solidFill>
                            <a:srgbClr val="173B50"/>
                          </a:solidFill>
                          <a:latin typeface="Arial"/>
                          <a:ea typeface="Arial"/>
                          <a:cs typeface="Arial"/>
                        </a:rPr>
                        <a:t>Schematic design</a:t>
                      </a:r>
                    </a:p>
                  </a:txBody>
                  <a:tcPr marL="76200" marR="76200" marT="28575" marB="28575" anchor="ctr">
                    <a:solidFill>
                      <a:srgbClr val="F2F6F7"/>
                    </a:solidFill>
                  </a:tcPr>
                </a:tc>
                <a:tc>
                  <a:txBody>
                    <a:bodyPr lIns="114300" tIns="114300" rIns="114300" bIns="114300">
                      <a:noAutofit/>
                    </a:bodyPr>
                    <a:lstStyle/>
                    <a:p>
                      <a:r>
                        <a:rPr sz="1725" b="0">
                          <a:solidFill>
                            <a:srgbClr val="173B50"/>
                          </a:solidFill>
                          <a:latin typeface="Arial"/>
                          <a:ea typeface="Arial"/>
                          <a:cs typeface="Arial"/>
                        </a:rPr>
                        <a:t>Connectors, conductors and schematic DRC</a:t>
                      </a:r>
                    </a:p>
                  </a:txBody>
                  <a:tcPr marL="76200" marR="76200" marT="28575" marB="28575" anchor="ctr">
                    <a:solidFill>
                      <a:srgbClr val="F2F6F7"/>
                    </a:solidFill>
                  </a:tcPr>
                </a:tc>
                <a:tc>
                  <a:txBody>
                    <a:bodyPr lIns="114300" tIns="114300" rIns="114300" bIns="114300">
                      <a:noAutofit/>
                    </a:bodyPr>
                    <a:lstStyle/>
                    <a:p>
                      <a:r>
                        <a:rPr sz="1725" b="0">
                          <a:solidFill>
                            <a:srgbClr val="173B50"/>
                          </a:solidFill>
                          <a:latin typeface="Arial"/>
                          <a:ea typeface="Arial"/>
                          <a:cs typeface="Arial"/>
                        </a:rPr>
                        <a:t>Available</a:t>
                      </a:r>
                    </a:p>
                  </a:txBody>
                  <a:tcPr marL="76200" marR="76200" marT="28575" marB="28575" anchor="ctr">
                    <a:solidFill>
                      <a:srgbClr val="F2F6F7"/>
                    </a:solidFill>
                  </a:tcPr>
                </a:tc>
              </a:tr>
              <a:tr h="535781">
                <a:tc>
                  <a:txBody>
                    <a:bodyPr lIns="114300" tIns="114300" rIns="114300" bIns="114300">
                      <a:noAutofit/>
                    </a:bodyPr>
                    <a:lstStyle/>
                    <a:p>
                      <a:r>
                        <a:rPr sz="1725" b="0">
                          <a:solidFill>
                            <a:srgbClr val="173B50"/>
                          </a:solidFill>
                          <a:latin typeface="Arial"/>
                          <a:ea typeface="Arial"/>
                          <a:cs typeface="Arial"/>
                        </a:rPr>
                        <a:t>Harness design</a:t>
                      </a:r>
                    </a:p>
                  </a:txBody>
                  <a:tcPr marL="76200" marR="76200" marT="28575" marB="28575" anchor="ctr">
                    <a:solidFill>
                      <a:srgbClr val="FFFFFF"/>
                    </a:solidFill>
                  </a:tcPr>
                </a:tc>
                <a:tc>
                  <a:txBody>
                    <a:bodyPr lIns="114300" tIns="114300" rIns="114300" bIns="114300">
                      <a:noAutofit/>
                    </a:bodyPr>
                    <a:lstStyle/>
                    <a:p>
                      <a:r>
                        <a:rPr sz="1725" b="0">
                          <a:solidFill>
                            <a:srgbClr val="173B50"/>
                          </a:solidFill>
                          <a:latin typeface="Arial"/>
                          <a:ea typeface="Arial"/>
                          <a:cs typeface="Arial"/>
                        </a:rPr>
                        <a:t>Wizard, dimensions, coverings and BOM</a:t>
                      </a:r>
                    </a:p>
                  </a:txBody>
                  <a:tcPr marL="76200" marR="76200" marT="28575" marB="28575" anchor="ctr">
                    <a:solidFill>
                      <a:srgbClr val="FFFFFF"/>
                    </a:solidFill>
                  </a:tcPr>
                </a:tc>
                <a:tc>
                  <a:txBody>
                    <a:bodyPr lIns="114300" tIns="114300" rIns="114300" bIns="114300">
                      <a:noAutofit/>
                    </a:bodyPr>
                    <a:lstStyle/>
                    <a:p>
                      <a:r>
                        <a:rPr sz="1725" b="0">
                          <a:solidFill>
                            <a:srgbClr val="173B50"/>
                          </a:solidFill>
                          <a:latin typeface="Arial"/>
                          <a:ea typeface="Arial"/>
                          <a:cs typeface="Arial"/>
                        </a:rPr>
                        <a:t>Available</a:t>
                      </a:r>
                    </a:p>
                  </a:txBody>
                  <a:tcPr marL="76200" marR="76200" marT="28575" marB="28575" anchor="ctr">
                    <a:solidFill>
                      <a:srgbClr val="FFFFFF"/>
                    </a:solidFill>
                  </a:tcPr>
                </a:tc>
              </a:tr>
              <a:tr h="535781">
                <a:tc>
                  <a:txBody>
                    <a:bodyPr lIns="114300" tIns="114300" rIns="114300" bIns="114300">
                      <a:noAutofit/>
                    </a:bodyPr>
                    <a:lstStyle/>
                    <a:p>
                      <a:r>
                        <a:rPr sz="1725" b="0">
                          <a:solidFill>
                            <a:srgbClr val="173B50"/>
                          </a:solidFill>
                          <a:latin typeface="Arial"/>
                          <a:ea typeface="Arial"/>
                          <a:cs typeface="Arial"/>
                        </a:rPr>
                        <a:t>3D engineering</a:t>
                      </a:r>
                    </a:p>
                  </a:txBody>
                  <a:tcPr marL="76200" marR="76200" marT="28575" marB="28575" anchor="ctr">
                    <a:solidFill>
                      <a:srgbClr val="F2F6F7"/>
                    </a:solidFill>
                  </a:tcPr>
                </a:tc>
                <a:tc>
                  <a:txBody>
                    <a:bodyPr lIns="114300" tIns="114300" rIns="114300" bIns="114300">
                      <a:noAutofit/>
                    </a:bodyPr>
                    <a:lstStyle/>
                    <a:p>
                      <a:r>
                        <a:rPr sz="1725" b="0">
                          <a:solidFill>
                            <a:srgbClr val="173B50"/>
                          </a:solidFill>
                          <a:latin typeface="Arial"/>
                          <a:ea typeface="Arial"/>
                          <a:cs typeface="Arial"/>
                        </a:rPr>
                        <a:t>3D file import, route and length checks during design</a:t>
                      </a:r>
                    </a:p>
                  </a:txBody>
                  <a:tcPr marL="76200" marR="76200" marT="28575" marB="28575" anchor="ctr">
                    <a:solidFill>
                      <a:srgbClr val="F2F6F7"/>
                    </a:solidFill>
                  </a:tcPr>
                </a:tc>
                <a:tc>
                  <a:txBody>
                    <a:bodyPr lIns="114300" tIns="114300" rIns="114300" bIns="114300">
                      <a:noAutofit/>
                    </a:bodyPr>
                    <a:lstStyle/>
                    <a:p>
                      <a:r>
                        <a:rPr sz="1725" b="0">
                          <a:solidFill>
                            <a:srgbClr val="173B50"/>
                          </a:solidFill>
                          <a:latin typeface="Arial"/>
                          <a:ea typeface="Arial"/>
                          <a:cs typeface="Arial"/>
                        </a:rPr>
                        <a:t>Available</a:t>
                      </a:r>
                    </a:p>
                  </a:txBody>
                  <a:tcPr marL="76200" marR="76200" marT="28575" marB="28575" anchor="ctr">
                    <a:solidFill>
                      <a:srgbClr val="F2F6F7"/>
                    </a:solidFill>
                  </a:tcPr>
                </a:tc>
              </a:tr>
              <a:tr h="535781">
                <a:tc>
                  <a:txBody>
                    <a:bodyPr lIns="114300" tIns="114300" rIns="114300" bIns="114300">
                      <a:noAutofit/>
                    </a:bodyPr>
                    <a:lstStyle/>
                    <a:p>
                      <a:r>
                        <a:rPr sz="1725" b="0">
                          <a:solidFill>
                            <a:srgbClr val="173B50"/>
                          </a:solidFill>
                          <a:latin typeface="Arial"/>
                          <a:ea typeface="Arial"/>
                          <a:cs typeface="Arial"/>
                        </a:rPr>
                        <a:t>Data and checks</a:t>
                      </a:r>
                    </a:p>
                  </a:txBody>
                  <a:tcPr marL="76200" marR="76200" marT="28575" marB="28575" anchor="ctr">
                    <a:solidFill>
                      <a:srgbClr val="FFFFFF"/>
                    </a:solidFill>
                  </a:tcPr>
                </a:tc>
                <a:tc>
                  <a:txBody>
                    <a:bodyPr lIns="114300" tIns="114300" rIns="114300" bIns="114300">
                      <a:noAutofit/>
                    </a:bodyPr>
                    <a:lstStyle/>
                    <a:p>
                      <a:r>
                        <a:rPr sz="1725" b="0">
                          <a:solidFill>
                            <a:srgbClr val="173B50"/>
                          </a:solidFill>
                          <a:latin typeface="Arial"/>
                          <a:ea typeface="Arial"/>
                          <a:cs typeface="Arial"/>
                        </a:rPr>
                        <a:t>Parts, search and saved drawing checks</a:t>
                      </a:r>
                    </a:p>
                  </a:txBody>
                  <a:tcPr marL="76200" marR="76200" marT="28575" marB="28575" anchor="ctr">
                    <a:solidFill>
                      <a:srgbClr val="FFFFFF"/>
                    </a:solidFill>
                  </a:tcPr>
                </a:tc>
                <a:tc>
                  <a:txBody>
                    <a:bodyPr lIns="114300" tIns="114300" rIns="114300" bIns="114300">
                      <a:noAutofit/>
                    </a:bodyPr>
                    <a:lstStyle/>
                    <a:p>
                      <a:r>
                        <a:rPr sz="1725" b="0">
                          <a:solidFill>
                            <a:srgbClr val="173B50"/>
                          </a:solidFill>
                          <a:latin typeface="Arial"/>
                          <a:ea typeface="Arial"/>
                          <a:cs typeface="Arial"/>
                        </a:rPr>
                        <a:t>Available</a:t>
                      </a:r>
                    </a:p>
                  </a:txBody>
                  <a:tcPr marL="76200" marR="76200" marT="28575" marB="28575" anchor="ctr">
                    <a:solidFill>
                      <a:srgbClr val="FFFFFF"/>
                    </a:solidFill>
                  </a:tcPr>
                </a:tc>
              </a:tr>
              <a:tr h="535781">
                <a:tc>
                  <a:txBody>
                    <a:bodyPr lIns="114300" tIns="114300" rIns="114300" bIns="114300">
                      <a:noAutofit/>
                    </a:bodyPr>
                    <a:lstStyle/>
                    <a:p>
                      <a:r>
                        <a:rPr sz="1725" b="0">
                          <a:solidFill>
                            <a:srgbClr val="173B50"/>
                          </a:solidFill>
                          <a:latin typeface="Arial"/>
                          <a:ea typeface="Arial"/>
                          <a:cs typeface="Arial"/>
                        </a:rPr>
                        <a:t>Electrical CAB wiring</a:t>
                      </a:r>
                    </a:p>
                  </a:txBody>
                  <a:tcPr marL="76200" marR="76200" marT="28575" marB="28575" anchor="ctr">
                    <a:solidFill>
                      <a:srgbClr val="F2F6F7"/>
                    </a:solidFill>
                  </a:tcPr>
                </a:tc>
                <a:tc>
                  <a:txBody>
                    <a:bodyPr lIns="114300" tIns="114300" rIns="114300" bIns="114300">
                      <a:noAutofit/>
                    </a:bodyPr>
                    <a:lstStyle/>
                    <a:p>
                      <a:r>
                        <a:rPr sz="1725" b="0">
                          <a:solidFill>
                            <a:srgbClr val="173B50"/>
                          </a:solidFill>
                          <a:latin typeface="Arial"/>
                          <a:ea typeface="Arial"/>
                          <a:cs typeface="Arial"/>
                        </a:rPr>
                        <a:t>Cabinet components, terminals and wire routing</a:t>
                      </a:r>
                    </a:p>
                  </a:txBody>
                  <a:tcPr marL="76200" marR="76200" marT="28575" marB="28575" anchor="ctr">
                    <a:solidFill>
                      <a:srgbClr val="F2F6F7"/>
                    </a:solidFill>
                  </a:tcPr>
                </a:tc>
                <a:tc>
                  <a:txBody>
                    <a:bodyPr lIns="114300" tIns="114300" rIns="114300" bIns="114300">
                      <a:noAutofit/>
                    </a:bodyPr>
                    <a:lstStyle/>
                    <a:p>
                      <a:r>
                        <a:rPr sz="1725" b="0">
                          <a:solidFill>
                            <a:srgbClr val="173B50"/>
                          </a:solidFill>
                          <a:latin typeface="Arial"/>
                          <a:ea typeface="Arial"/>
                          <a:cs typeface="Arial"/>
                        </a:rPr>
                        <a:t>Proposed</a:t>
                      </a:r>
                    </a:p>
                  </a:txBody>
                  <a:tcPr marL="76200" marR="76200" marT="28575" marB="28575" anchor="ctr">
                    <a:solidFill>
                      <a:srgbClr val="F2F6F7"/>
                    </a:solidFill>
                  </a:tcPr>
                </a:tc>
              </a:tr>
              <a:tr h="535781">
                <a:tc>
                  <a:txBody>
                    <a:bodyPr lIns="114300" tIns="114300" rIns="114300" bIns="114300">
                      <a:noAutofit/>
                    </a:bodyPr>
                    <a:lstStyle/>
                    <a:p>
                      <a:r>
                        <a:rPr sz="1725" b="0">
                          <a:solidFill>
                            <a:srgbClr val="173B50"/>
                          </a:solidFill>
                          <a:latin typeface="Arial"/>
                          <a:ea typeface="Arial"/>
                          <a:cs typeface="Arial"/>
                        </a:rPr>
                        <a:t>Release management</a:t>
                      </a:r>
                    </a:p>
                  </a:txBody>
                  <a:tcPr marL="76200" marR="76200" marT="28575" marB="28575" anchor="ctr">
                    <a:solidFill>
                      <a:srgbClr val="FFFFFF"/>
                    </a:solidFill>
                  </a:tcPr>
                </a:tc>
                <a:tc>
                  <a:txBody>
                    <a:bodyPr lIns="114300" tIns="114300" rIns="114300" bIns="114300">
                      <a:noAutofit/>
                    </a:bodyPr>
                    <a:lstStyle/>
                    <a:p>
                      <a:r>
                        <a:rPr sz="1725" b="0">
                          <a:solidFill>
                            <a:srgbClr val="173B50"/>
                          </a:solidFill>
                          <a:latin typeface="Arial"/>
                          <a:ea typeface="Arial"/>
                          <a:cs typeface="Arial"/>
                        </a:rPr>
                        <a:t>Approvals, revision compare and PLM / ERP</a:t>
                      </a:r>
                    </a:p>
                  </a:txBody>
                  <a:tcPr marL="76200" marR="76200" marT="28575" marB="28575" anchor="ctr">
                    <a:solidFill>
                      <a:srgbClr val="FFFFFF"/>
                    </a:solidFill>
                  </a:tcPr>
                </a:tc>
                <a:tc>
                  <a:txBody>
                    <a:bodyPr lIns="114300" tIns="114300" rIns="114300" bIns="114300">
                      <a:noAutofit/>
                    </a:bodyPr>
                    <a:lstStyle/>
                    <a:p>
                      <a:r>
                        <a:rPr sz="1725" b="0">
                          <a:solidFill>
                            <a:srgbClr val="173B50"/>
                          </a:solidFill>
                          <a:latin typeface="Arial"/>
                          <a:ea typeface="Arial"/>
                          <a:cs typeface="Arial"/>
                        </a:rPr>
                        <a:t>Proposed</a:t>
                      </a:r>
                    </a:p>
                  </a:txBody>
                  <a:tcPr marL="76200" marR="76200" marT="28575" marB="28575" anchor="ctr">
                    <a:solidFill>
                      <a:srgbClr val="FFFFFF"/>
                    </a:solidFill>
                  </a:tcPr>
                </a:tc>
              </a:tr>
            </a:tbl>
          </a:graphicData>
        </a:graphic>
      </p:graphicFrame>
    </p:spTree>
    <p:extLst>
      <p:ext uri="{BB962C8B-B14F-4D97-AF65-F5344CB8AC3E}">
        <p14:creationId xmlns:p14="http://schemas.microsoft.com/office/powerpoint/2010/main" val="9942155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B2D620EE-4076-4E5E-8FFD-E1FE35F40CA6}"/>
              </a:ext>
            </a:extLst>
          </p:cNvPr>
          <p:cNvPicPr>
            <a:picLocks xmlns:a="http://schemas.openxmlformats.org/drawingml/2006/main" noChangeAspect="1"/>
          </p:cNvPicPr>
          <p:nvPr/>
        </p:nvPicPr>
        <p:blipFill>
          <a:blip xmlns:r="http://schemas.openxmlformats.org/officeDocument/2006/relationships" xmlns:a="http://schemas.openxmlformats.org/drawingml/2006/main" r:embed="R7b06285962c54ee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Light background wash">
            <a:extLst xmlns:a="http://schemas.openxmlformats.org/drawingml/2006/main">
              <a:ext uri="{FF2B5EF4-FFF2-40B4-BE49-F238E27FC236}">
                <a16:creationId xmlns:a16="http://schemas.microsoft.com/office/drawing/2014/main" id="{F8C50979-079B-457C-96AE-FBDDF7C6B6D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90000"/>
            </a:srgbClr>
          </a:solidFill>
          <a:ln xmlns:a="http://schemas.openxmlformats.org/drawingml/2006/main" w="0">
            <a:noFill/>
          </a:ln>
        </p:spPr>
      </p:sp>
      <p:sp>
        <p:nvSpPr>
          <p:cNvPr id="3" name="Proposed Electrical CAB wiring module">
            <a:extLst xmlns:a="http://schemas.openxmlformats.org/drawingml/2006/main">
              <a:ext uri="{FF2B5EF4-FFF2-40B4-BE49-F238E27FC236}">
                <a16:creationId xmlns:a16="http://schemas.microsoft.com/office/drawing/2014/main" id="{99040ACA-B6D9-4025-AAA2-2A36D8F0F0E1}"/>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73B50"/>
                </a:solidFill>
                <a:latin typeface="Arial"/>
                <a:ea typeface="Arial"/>
                <a:cs typeface="Arial"/>
              </a:defRPr>
            </a:defPPr>
          </a:lstStyle>
          <a:p xmlns:a="http://schemas.openxmlformats.org/drawingml/2006/main">
            <a:pPr>
              <a:defRPr sz="3450" b="1">
                <a:solidFill>
                  <a:srgbClr val="173B50"/>
                </a:solidFill>
                <a:latin typeface="Arial"/>
                <a:ea typeface="Arial"/>
                <a:cs typeface="Arial"/>
              </a:defRPr>
            </a:pPr>
            <a:r>
              <a:rPr sz="3450" b="1">
                <a:solidFill>
                  <a:srgbClr val="173B50"/>
                </a:solidFill>
                <a:latin typeface="Arial"/>
                <a:ea typeface="Arial"/>
                <a:cs typeface="Arial"/>
              </a:rPr>
              <a:t>Proposed Electrical CAB wiring module</a:t>
            </a:r>
          </a:p>
        </p:txBody>
      </p:sp>
      <p:sp>
        <p:nvSpPr>
          <p:cNvPr id="4" name="07">
            <a:extLst xmlns:a="http://schemas.openxmlformats.org/drawingml/2006/main">
              <a:ext uri="{FF2B5EF4-FFF2-40B4-BE49-F238E27FC236}">
                <a16:creationId xmlns:a16="http://schemas.microsoft.com/office/drawing/2014/main" id="{35912F7E-1534-40EA-A6F6-B58A5865CC4D}"/>
              </a:ext>
            </a:extLst>
          </p:cNvPr>
          <p:cNvSpPr>
            <a:spLocks xmlns:a="http://schemas.openxmlformats.org/drawingml/2006/main" noGrp="1"/>
          </p:cNvSpPr>
          <p:nvPr/>
        </p:nvSpPr>
        <p:spPr>
          <a:xfrm xmlns:a="http://schemas.openxmlformats.org/drawingml/2006/main">
            <a:off x="11191875"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C7B"/>
                </a:solidFill>
                <a:latin typeface="Arial"/>
                <a:ea typeface="Arial"/>
                <a:cs typeface="Arial"/>
              </a:defRPr>
            </a:defPPr>
          </a:lstStyle>
          <a:p xmlns:a="http://schemas.openxmlformats.org/drawingml/2006/main">
            <a:pPr>
              <a:defRPr sz="1200" b="0">
                <a:solidFill>
                  <a:srgbClr val="516C7B"/>
                </a:solidFill>
                <a:latin typeface="Arial"/>
                <a:ea typeface="Arial"/>
                <a:cs typeface="Arial"/>
              </a:defRPr>
            </a:pPr>
            <a:r>
              <a:rPr sz="1200" b="0">
                <a:solidFill>
                  <a:srgbClr val="516C7B"/>
                </a:solidFill>
                <a:latin typeface="Arial"/>
                <a:ea typeface="Arial"/>
                <a:cs typeface="Arial"/>
              </a:rPr>
              <a:t>07</a:t>
            </a:r>
          </a:p>
        </p:txBody>
      </p:sp>
      <p:sp>
        <p:nvSpPr>
          <p:cNvPr id="5" name="Proposed module. Detailed functionality, pricing a">
            <a:extLst xmlns:a="http://schemas.openxmlformats.org/drawingml/2006/main">
              <a:ext uri="{FF2B5EF4-FFF2-40B4-BE49-F238E27FC236}">
                <a16:creationId xmlns:a16="http://schemas.microsoft.com/office/drawing/2014/main" id="{BED47D99-7AB8-48D0-8C8E-BDD13770D6F0}"/>
              </a:ext>
            </a:extLst>
          </p:cNvPr>
          <p:cNvSpPr>
            <a:spLocks xmlns:a="http://schemas.openxmlformats.org/drawingml/2006/main" noGrp="1"/>
          </p:cNvSpPr>
          <p:nvPr/>
        </p:nvSpPr>
        <p:spPr>
          <a:xfrm xmlns:a="http://schemas.openxmlformats.org/drawingml/2006/main">
            <a:off x="609600" y="6191250"/>
            <a:ext cx="1019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16C7B"/>
                </a:solidFill>
                <a:latin typeface="Arial"/>
                <a:ea typeface="Arial"/>
                <a:cs typeface="Arial"/>
              </a:defRPr>
            </a:defPPr>
          </a:lstStyle>
          <a:p xmlns:a="http://schemas.openxmlformats.org/drawingml/2006/main">
            <a:pPr>
              <a:defRPr sz="1350" b="0">
                <a:solidFill>
                  <a:srgbClr val="516C7B"/>
                </a:solidFill>
                <a:latin typeface="Arial"/>
                <a:ea typeface="Arial"/>
                <a:cs typeface="Arial"/>
              </a:defRPr>
            </a:pPr>
            <a:r>
              <a:rPr sz="1350" b="0">
                <a:solidFill>
                  <a:srgbClr val="516C7B"/>
                </a:solidFill>
                <a:latin typeface="Arial"/>
                <a:ea typeface="Arial"/>
                <a:cs typeface="Arial"/>
              </a:rPr>
              <a:t>Proposed module. Detailed functionality, pricing and delivery milestones still need definition.</a:t>
            </a:r>
          </a:p>
        </p:txBody>
      </p:sp>
      <p:sp>
        <p:nvSpPr>
          <p:cNvPr id="6" name="Control cabinet wiring within the same project eco">
            <a:extLst xmlns:a="http://schemas.openxmlformats.org/drawingml/2006/main">
              <a:ext uri="{FF2B5EF4-FFF2-40B4-BE49-F238E27FC236}">
                <a16:creationId xmlns:a16="http://schemas.microsoft.com/office/drawing/2014/main" id="{E0F33A3B-6551-4726-9F80-36C876A4E144}"/>
              </a:ext>
            </a:extLst>
          </p:cNvPr>
          <p:cNvSpPr>
            <a:spLocks xmlns:a="http://schemas.openxmlformats.org/drawingml/2006/main" noGrp="1"/>
          </p:cNvSpPr>
          <p:nvPr/>
        </p:nvSpPr>
        <p:spPr>
          <a:xfrm xmlns:a="http://schemas.openxmlformats.org/drawingml/2006/main">
            <a:off x="609600" y="1571625"/>
            <a:ext cx="10839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173B50"/>
                </a:solidFill>
                <a:latin typeface="Arial"/>
                <a:ea typeface="Arial"/>
                <a:cs typeface="Arial"/>
              </a:defRPr>
            </a:defPPr>
          </a:lstStyle>
          <a:p xmlns:a="http://schemas.openxmlformats.org/drawingml/2006/main">
            <a:pPr>
              <a:defRPr sz="2850" b="1">
                <a:solidFill>
                  <a:srgbClr val="173B50"/>
                </a:solidFill>
                <a:latin typeface="Arial"/>
                <a:ea typeface="Arial"/>
                <a:cs typeface="Arial"/>
              </a:defRPr>
            </a:pPr>
            <a:r>
              <a:rPr sz="2850" b="1">
                <a:solidFill>
                  <a:srgbClr val="173B50"/>
                </a:solidFill>
                <a:latin typeface="Arial"/>
                <a:ea typeface="Arial"/>
                <a:cs typeface="Arial"/>
              </a:rPr>
              <a:t>Control cabinet wiring within the same project ecosystem</a:t>
            </a:r>
          </a:p>
        </p:txBody>
      </p:sp>
      <p:graphicFrame>
        <p:nvGraphicFramePr>
          <p:cNvPr id="7" name="">
            <a:extLst xmlns:a="http://schemas.openxmlformats.org/drawingml/2006/main">
              <a:ext uri="{FF2B5EF4-FFF2-40B4-BE49-F238E27FC236}">
                <a16:creationId xmlns:a16="http://schemas.microsoft.com/office/drawing/2014/main" id="{382B1E77-AC0E-4264-BBBA-8D4A4FD2C60A}"/>
              </a:ext>
            </a:extLst>
          </p:cNvPr>
          <p:cNvGraphicFramePr/>
          <p:nvPr/>
        </p:nvGraphicFramePr>
        <p:xfrm>
          <a:off xmlns:a="http://schemas.openxmlformats.org/drawingml/2006/main" x="609600" y="2676525"/>
          <a:ext xmlns:a="http://schemas.openxmlformats.org/drawingml/2006/main" cx="10972800" cy="2905125"/>
        </p:xfrm>
        <a:graphic xmlns:a="http://schemas.openxmlformats.org/drawingml/2006/main">
          <a:graphicData uri="http://schemas.openxmlformats.org/drawingml/2006/table">
            <a:tbl>
              <a:tblPr/>
              <a:tblGrid>
                <a:gridCol w="3857625"/>
                <a:gridCol w="7115175"/>
              </a:tblGrid>
              <a:tr h="581025">
                <a:tc>
                  <a:txBody>
                    <a:bodyPr lIns="114300" tIns="114300" rIns="114300" bIns="114300">
                      <a:noAutofit/>
                    </a:bodyPr>
                    <a:lstStyle/>
                    <a:p>
                      <a:r>
                        <a:rPr sz="1875" b="1">
                          <a:solidFill>
                            <a:srgbClr val="173B50"/>
                          </a:solidFill>
                          <a:latin typeface="Arial"/>
                          <a:ea typeface="Arial"/>
                          <a:cs typeface="Arial"/>
                        </a:rPr>
                        <a:t>Design area</a:t>
                      </a:r>
                    </a:p>
                  </a:txBody>
                  <a:tcPr marL="76200" marR="76200" marT="28575" marB="28575" anchor="ctr">
                    <a:solidFill>
                      <a:srgbClr val="E3EFF3"/>
                    </a:solidFill>
                  </a:tcPr>
                </a:tc>
                <a:tc>
                  <a:txBody>
                    <a:bodyPr lIns="114300" tIns="114300" rIns="114300" bIns="114300">
                      <a:noAutofit/>
                    </a:bodyPr>
                    <a:lstStyle/>
                    <a:p>
                      <a:r>
                        <a:rPr sz="1875" b="1">
                          <a:solidFill>
                            <a:srgbClr val="173B50"/>
                          </a:solidFill>
                          <a:latin typeface="Arial"/>
                          <a:ea typeface="Arial"/>
                          <a:cs typeface="Arial"/>
                        </a:rPr>
                        <a:t>Proposed capabilities</a:t>
                      </a:r>
                    </a:p>
                  </a:txBody>
                  <a:tcPr marL="76200" marR="76200" marT="28575" marB="28575" anchor="ctr">
                    <a:solidFill>
                      <a:srgbClr val="E3EFF3"/>
                    </a:solidFill>
                  </a:tcPr>
                </a:tc>
              </a:tr>
              <a:tr h="581025">
                <a:tc>
                  <a:txBody>
                    <a:bodyPr lIns="114300" tIns="114300" rIns="114300" bIns="114300">
                      <a:noAutofit/>
                    </a:bodyPr>
                    <a:lstStyle/>
                    <a:p>
                      <a:r>
                        <a:rPr sz="1875" b="0">
                          <a:solidFill>
                            <a:srgbClr val="173B50"/>
                          </a:solidFill>
                          <a:latin typeface="Arial"/>
                          <a:ea typeface="Arial"/>
                          <a:cs typeface="Arial"/>
                        </a:rPr>
                        <a:t>Components and layout</a:t>
                      </a:r>
                    </a:p>
                  </a:txBody>
                  <a:tcPr marL="76200" marR="76200" marT="28575" marB="28575" anchor="ctr">
                    <a:solidFill>
                      <a:srgbClr val="FFFFFF"/>
                    </a:solidFill>
                  </a:tcPr>
                </a:tc>
                <a:tc>
                  <a:txBody>
                    <a:bodyPr lIns="114300" tIns="114300" rIns="114300" bIns="114300">
                      <a:noAutofit/>
                    </a:bodyPr>
                    <a:lstStyle/>
                    <a:p>
                      <a:r>
                        <a:rPr sz="1875" b="0">
                          <a:solidFill>
                            <a:srgbClr val="173B50"/>
                          </a:solidFill>
                          <a:latin typeface="Arial"/>
                          <a:ea typeface="Arial"/>
                          <a:cs typeface="Arial"/>
                        </a:rPr>
                        <a:t>Cabinet equipment, DIN rails and terminal strips</a:t>
                      </a:r>
                    </a:p>
                  </a:txBody>
                  <a:tcPr marL="76200" marR="76200" marT="28575" marB="28575" anchor="ctr">
                    <a:solidFill>
                      <a:srgbClr val="FFFFFF"/>
                    </a:solidFill>
                  </a:tcPr>
                </a:tc>
              </a:tr>
              <a:tr h="581025">
                <a:tc>
                  <a:txBody>
                    <a:bodyPr lIns="114300" tIns="114300" rIns="114300" bIns="114300">
                      <a:noAutofit/>
                    </a:bodyPr>
                    <a:lstStyle/>
                    <a:p>
                      <a:r>
                        <a:rPr sz="1875" b="0">
                          <a:solidFill>
                            <a:srgbClr val="173B50"/>
                          </a:solidFill>
                          <a:latin typeface="Arial"/>
                          <a:ea typeface="Arial"/>
                          <a:cs typeface="Arial"/>
                        </a:rPr>
                        <a:t>Wiring definitions</a:t>
                      </a:r>
                    </a:p>
                  </a:txBody>
                  <a:tcPr marL="76200" marR="76200" marT="28575" marB="28575" anchor="ctr">
                    <a:solidFill>
                      <a:srgbClr val="F2F6F7"/>
                    </a:solidFill>
                  </a:tcPr>
                </a:tc>
                <a:tc>
                  <a:txBody>
                    <a:bodyPr lIns="114300" tIns="114300" rIns="114300" bIns="114300">
                      <a:noAutofit/>
                    </a:bodyPr>
                    <a:lstStyle/>
                    <a:p>
                      <a:r>
                        <a:rPr sz="1875" b="0">
                          <a:solidFill>
                            <a:srgbClr val="173B50"/>
                          </a:solidFill>
                          <a:latin typeface="Arial"/>
                          <a:ea typeface="Arial"/>
                          <a:cs typeface="Arial"/>
                        </a:rPr>
                        <a:t>Wire numbers, terminals and from/to connections</a:t>
                      </a:r>
                    </a:p>
                  </a:txBody>
                  <a:tcPr marL="76200" marR="76200" marT="28575" marB="28575" anchor="ctr">
                    <a:solidFill>
                      <a:srgbClr val="F2F6F7"/>
                    </a:solidFill>
                  </a:tcPr>
                </a:tc>
              </a:tr>
              <a:tr h="581025">
                <a:tc>
                  <a:txBody>
                    <a:bodyPr lIns="114300" tIns="114300" rIns="114300" bIns="114300">
                      <a:noAutofit/>
                    </a:bodyPr>
                    <a:lstStyle/>
                    <a:p>
                      <a:r>
                        <a:rPr sz="1875" b="0">
                          <a:solidFill>
                            <a:srgbClr val="173B50"/>
                          </a:solidFill>
                          <a:latin typeface="Arial"/>
                          <a:ea typeface="Arial"/>
                          <a:cs typeface="Arial"/>
                        </a:rPr>
                        <a:t>Physical routes</a:t>
                      </a:r>
                    </a:p>
                  </a:txBody>
                  <a:tcPr marL="76200" marR="76200" marT="28575" marB="28575" anchor="ctr">
                    <a:solidFill>
                      <a:srgbClr val="FFFFFF"/>
                    </a:solidFill>
                  </a:tcPr>
                </a:tc>
                <a:tc>
                  <a:txBody>
                    <a:bodyPr lIns="114300" tIns="114300" rIns="114300" bIns="114300">
                      <a:noAutofit/>
                    </a:bodyPr>
                    <a:lstStyle/>
                    <a:p>
                      <a:r>
                        <a:rPr sz="1875" b="0">
                          <a:solidFill>
                            <a:srgbClr val="173B50"/>
                          </a:solidFill>
                          <a:latin typeface="Arial"/>
                          <a:ea typeface="Arial"/>
                          <a:cs typeface="Arial"/>
                        </a:rPr>
                        <a:t>Duct routes, wire lengths and segregation checks</a:t>
                      </a:r>
                    </a:p>
                  </a:txBody>
                  <a:tcPr marL="76200" marR="76200" marT="28575" marB="28575" anchor="ctr">
                    <a:solidFill>
                      <a:srgbClr val="FFFFFF"/>
                    </a:solidFill>
                  </a:tcPr>
                </a:tc>
              </a:tr>
              <a:tr h="581025">
                <a:tc>
                  <a:txBody>
                    <a:bodyPr lIns="114300" tIns="114300" rIns="114300" bIns="114300">
                      <a:noAutofit/>
                    </a:bodyPr>
                    <a:lstStyle/>
                    <a:p>
                      <a:r>
                        <a:rPr sz="1875" b="0">
                          <a:solidFill>
                            <a:srgbClr val="173B50"/>
                          </a:solidFill>
                          <a:latin typeface="Arial"/>
                          <a:ea typeface="Arial"/>
                          <a:cs typeface="Arial"/>
                        </a:rPr>
                        <a:t>Common project data</a:t>
                      </a:r>
                    </a:p>
                  </a:txBody>
                  <a:tcPr marL="76200" marR="76200" marT="28575" marB="28575" anchor="ctr">
                    <a:solidFill>
                      <a:srgbClr val="F2F6F7"/>
                    </a:solidFill>
                  </a:tcPr>
                </a:tc>
                <a:tc>
                  <a:txBody>
                    <a:bodyPr lIns="114300" tIns="114300" rIns="114300" bIns="114300">
                      <a:noAutofit/>
                    </a:bodyPr>
                    <a:lstStyle/>
                    <a:p>
                      <a:r>
                        <a:rPr sz="1875" b="0">
                          <a:solidFill>
                            <a:srgbClr val="173B50"/>
                          </a:solidFill>
                          <a:latin typeface="Arial"/>
                          <a:ea typeface="Arial"/>
                          <a:cs typeface="Arial"/>
                        </a:rPr>
                        <a:t>Reusable cabinet definitions and drawing details</a:t>
                      </a:r>
                    </a:p>
                  </a:txBody>
                  <a:tcPr marL="76200" marR="76200" marT="28575" marB="28575" anchor="ctr">
                    <a:solidFill>
                      <a:srgbClr val="F2F6F7"/>
                    </a:solidFill>
                  </a:tcPr>
                </a:tc>
              </a:tr>
            </a:tbl>
          </a:graphicData>
        </a:graphic>
      </p:graphicFrame>
      <p:sp>
        <p:nvSpPr>
          <p:cNvPr id="8" name="Purpose: consistent harness and cabinet interfaces">
            <a:extLst xmlns:a="http://schemas.openxmlformats.org/drawingml/2006/main">
              <a:ext uri="{FF2B5EF4-FFF2-40B4-BE49-F238E27FC236}">
                <a16:creationId xmlns:a16="http://schemas.microsoft.com/office/drawing/2014/main" id="{A92BCF7C-24A0-4907-892D-8F2DB41CF90C}"/>
              </a:ext>
            </a:extLst>
          </p:cNvPr>
          <p:cNvSpPr>
            <a:spLocks xmlns:a="http://schemas.openxmlformats.org/drawingml/2006/main" noGrp="1"/>
          </p:cNvSpPr>
          <p:nvPr/>
        </p:nvSpPr>
        <p:spPr>
          <a:xfrm xmlns:a="http://schemas.openxmlformats.org/drawingml/2006/main">
            <a:off x="609600" y="5810250"/>
            <a:ext cx="10839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73B50"/>
                </a:solidFill>
                <a:latin typeface="Arial"/>
                <a:ea typeface="Arial"/>
                <a:cs typeface="Arial"/>
              </a:defRPr>
            </a:defPPr>
          </a:lstStyle>
          <a:p xmlns:a="http://schemas.openxmlformats.org/drawingml/2006/main">
            <a:pPr>
              <a:defRPr sz="2100" b="1">
                <a:solidFill>
                  <a:srgbClr val="173B50"/>
                </a:solidFill>
                <a:latin typeface="Arial"/>
                <a:ea typeface="Arial"/>
                <a:cs typeface="Arial"/>
              </a:defRPr>
            </a:pPr>
            <a:r>
              <a:rPr sz="2100" b="1">
                <a:solidFill>
                  <a:srgbClr val="173B50"/>
                </a:solidFill>
                <a:latin typeface="Arial"/>
                <a:ea typeface="Arial"/>
                <a:cs typeface="Arial"/>
              </a:rPr>
              <a:t>Purpose: consistent harness and cabinet interfaces across complex systems</a:t>
            </a:r>
          </a:p>
        </p:txBody>
      </p:sp>
    </p:spTree>
    <p:extLst>
      <p:ext uri="{BB962C8B-B14F-4D97-AF65-F5344CB8AC3E}">
        <p14:creationId xmlns:p14="http://schemas.microsoft.com/office/powerpoint/2010/main" val="15887967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EF0A0097-913F-498F-B75C-49F477BE5E6A}"/>
              </a:ext>
            </a:extLst>
          </p:cNvPr>
          <p:cNvPicPr>
            <a:picLocks xmlns:a="http://schemas.openxmlformats.org/drawingml/2006/main" noChangeAspect="1"/>
          </p:cNvPicPr>
          <p:nvPr/>
        </p:nvPicPr>
        <p:blipFill>
          <a:blip xmlns:r="http://schemas.openxmlformats.org/officeDocument/2006/relationships" xmlns:a="http://schemas.openxmlformats.org/drawingml/2006/main" r:embed="Reb4833b360744d4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Light background wash">
            <a:extLst xmlns:a="http://schemas.openxmlformats.org/drawingml/2006/main">
              <a:ext uri="{FF2B5EF4-FFF2-40B4-BE49-F238E27FC236}">
                <a16:creationId xmlns:a16="http://schemas.microsoft.com/office/drawing/2014/main" id="{DFC28C36-E87C-45A7-8BAB-A04FC603EA2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90000"/>
            </a:srgbClr>
          </a:solidFill>
          <a:ln xmlns:a="http://schemas.openxmlformats.org/drawingml/2006/main" w="0">
            <a:noFill/>
          </a:ln>
        </p:spPr>
      </p:sp>
      <p:sp>
        <p:nvSpPr>
          <p:cNvPr id="3" name="System design and project architecture">
            <a:extLst xmlns:a="http://schemas.openxmlformats.org/drawingml/2006/main">
              <a:ext uri="{FF2B5EF4-FFF2-40B4-BE49-F238E27FC236}">
                <a16:creationId xmlns:a16="http://schemas.microsoft.com/office/drawing/2014/main" id="{E8A57086-75D5-49D3-9C7C-40D42625E9EB}"/>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73B50"/>
                </a:solidFill>
                <a:latin typeface="Arial"/>
                <a:ea typeface="Arial"/>
                <a:cs typeface="Arial"/>
              </a:defRPr>
            </a:defPPr>
          </a:lstStyle>
          <a:p xmlns:a="http://schemas.openxmlformats.org/drawingml/2006/main">
            <a:pPr>
              <a:defRPr sz="3450" b="1">
                <a:solidFill>
                  <a:srgbClr val="173B50"/>
                </a:solidFill>
                <a:latin typeface="Arial"/>
                <a:ea typeface="Arial"/>
                <a:cs typeface="Arial"/>
              </a:defRPr>
            </a:pPr>
            <a:r>
              <a:rPr sz="3450" b="1">
                <a:solidFill>
                  <a:srgbClr val="173B50"/>
                </a:solidFill>
                <a:latin typeface="Arial"/>
                <a:ea typeface="Arial"/>
                <a:cs typeface="Arial"/>
              </a:rPr>
              <a:t>System design and project architecture</a:t>
            </a:r>
          </a:p>
        </p:txBody>
      </p:sp>
      <p:sp>
        <p:nvSpPr>
          <p:cNvPr id="4" name="08">
            <a:extLst xmlns:a="http://schemas.openxmlformats.org/drawingml/2006/main">
              <a:ext uri="{FF2B5EF4-FFF2-40B4-BE49-F238E27FC236}">
                <a16:creationId xmlns:a16="http://schemas.microsoft.com/office/drawing/2014/main" id="{F901C118-80B7-4F7B-A533-81952F1C3A1E}"/>
              </a:ext>
            </a:extLst>
          </p:cNvPr>
          <p:cNvSpPr>
            <a:spLocks xmlns:a="http://schemas.openxmlformats.org/drawingml/2006/main" noGrp="1"/>
          </p:cNvSpPr>
          <p:nvPr/>
        </p:nvSpPr>
        <p:spPr>
          <a:xfrm xmlns:a="http://schemas.openxmlformats.org/drawingml/2006/main">
            <a:off x="11191875"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C7B"/>
                </a:solidFill>
                <a:latin typeface="Arial"/>
                <a:ea typeface="Arial"/>
                <a:cs typeface="Arial"/>
              </a:defRPr>
            </a:defPPr>
          </a:lstStyle>
          <a:p xmlns:a="http://schemas.openxmlformats.org/drawingml/2006/main">
            <a:pPr>
              <a:defRPr sz="1200" b="0">
                <a:solidFill>
                  <a:srgbClr val="516C7B"/>
                </a:solidFill>
                <a:latin typeface="Arial"/>
                <a:ea typeface="Arial"/>
                <a:cs typeface="Arial"/>
              </a:defRPr>
            </a:pPr>
            <a:r>
              <a:rPr sz="1200" b="0">
                <a:solidFill>
                  <a:srgbClr val="516C7B"/>
                </a:solidFill>
                <a:latin typeface="Arial"/>
                <a:ea typeface="Arial"/>
                <a:cs typeface="Arial"/>
              </a:rPr>
              <a:t>08</a:t>
            </a:r>
          </a:p>
        </p:txBody>
      </p:sp>
      <p:pic>
        <p:nvPicPr>
          <p:cNvPr id="5" name="">
            <a:extLst xmlns:a="http://schemas.openxmlformats.org/drawingml/2006/main">
              <a:ext uri="{FF2B5EF4-FFF2-40B4-BE49-F238E27FC236}">
                <a16:creationId xmlns:a16="http://schemas.microsoft.com/office/drawing/2014/main" id="{E747A58E-4434-4B14-A579-C78ABF210227}"/>
              </a:ext>
            </a:extLst>
          </p:cNvPr>
          <p:cNvPicPr>
            <a:picLocks xmlns:a="http://schemas.openxmlformats.org/drawingml/2006/main" noChangeAspect="1"/>
          </p:cNvPicPr>
          <p:nvPr/>
        </p:nvPicPr>
        <p:blipFill>
          <a:blip xmlns:r="http://schemas.openxmlformats.org/officeDocument/2006/relationships" xmlns:a="http://schemas.openxmlformats.org/drawingml/2006/main" r:embed="Rd7910265b4744797"/>
          <a:stretch xmlns:a="http://schemas.openxmlformats.org/drawingml/2006/main"/>
        </p:blipFill>
        <p:spPr>
          <a:xfrm xmlns:a="http://schemas.openxmlformats.org/drawingml/2006/main">
            <a:off x="4573058" y="1447800"/>
            <a:ext cx="7008283" cy="4505325"/>
          </a:xfrm>
          <a:prstGeom xmlns:a="http://schemas.openxmlformats.org/drawingml/2006/main" prst="rect">
            <a:avLst/>
          </a:prstGeom>
        </p:spPr>
      </p:pic>
      <p:sp>
        <p:nvSpPr>
          <p:cNvPr id="6" name="Nested units&#10;and modules">
            <a:extLst xmlns:a="http://schemas.openxmlformats.org/drawingml/2006/main">
              <a:ext uri="{FF2B5EF4-FFF2-40B4-BE49-F238E27FC236}">
                <a16:creationId xmlns:a16="http://schemas.microsoft.com/office/drawing/2014/main" id="{77C98296-7BE4-4B48-8616-2B2264CB39FB}"/>
              </a:ext>
            </a:extLst>
          </p:cNvPr>
          <p:cNvSpPr>
            <a:spLocks xmlns:a="http://schemas.openxmlformats.org/drawingml/2006/main" noGrp="1"/>
          </p:cNvSpPr>
          <p:nvPr/>
        </p:nvSpPr>
        <p:spPr>
          <a:xfrm xmlns:a="http://schemas.openxmlformats.org/drawingml/2006/main">
            <a:off x="609600" y="1628775"/>
            <a:ext cx="3381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73B50"/>
                </a:solidFill>
                <a:latin typeface="Arial"/>
                <a:ea typeface="Arial"/>
                <a:cs typeface="Arial"/>
              </a:defRPr>
            </a:defPPr>
          </a:lstStyle>
          <a:p xmlns:a="http://schemas.openxmlformats.org/drawingml/2006/main">
            <a:pPr>
              <a:defRPr sz="2550" b="1">
                <a:solidFill>
                  <a:srgbClr val="173B50"/>
                </a:solidFill>
                <a:latin typeface="Arial"/>
                <a:ea typeface="Arial"/>
                <a:cs typeface="Arial"/>
              </a:defRPr>
            </a:pPr>
            <a:r>
              <a:rPr sz="2550" b="1">
                <a:solidFill>
                  <a:srgbClr val="173B50"/>
                </a:solidFill>
                <a:latin typeface="Arial"/>
                <a:ea typeface="Arial"/>
                <a:cs typeface="Arial"/>
              </a:rPr>
              <a:t>Nested units</a:t>
            </a:r>
          </a:p>
          <a:p xmlns:a="http://schemas.openxmlformats.org/drawingml/2006/main">
            <a:pPr>
              <a:defRPr sz="2550" b="1">
                <a:solidFill>
                  <a:srgbClr val="173B50"/>
                </a:solidFill>
                <a:latin typeface="Arial"/>
                <a:ea typeface="Arial"/>
                <a:cs typeface="Arial"/>
              </a:defRPr>
            </a:pPr>
            <a:r>
              <a:rPr sz="2550" b="1">
                <a:solidFill>
                  <a:srgbClr val="173B50"/>
                </a:solidFill>
                <a:latin typeface="Arial"/>
                <a:ea typeface="Arial"/>
                <a:cs typeface="Arial"/>
              </a:rPr>
              <a:t>and modules</a:t>
            </a:r>
          </a:p>
        </p:txBody>
      </p:sp>
      <p:sp>
        <p:nvSpPr>
          <p:cNvPr id="7" name="Connector and contact data&#10;live on each port.&#10;&#10;Cab">
            <a:extLst xmlns:a="http://schemas.openxmlformats.org/drawingml/2006/main">
              <a:ext uri="{FF2B5EF4-FFF2-40B4-BE49-F238E27FC236}">
                <a16:creationId xmlns:a16="http://schemas.microsoft.com/office/drawing/2014/main" id="{363ECF0D-8F30-451F-84FF-6B38749E39F6}"/>
              </a:ext>
            </a:extLst>
          </p:cNvPr>
          <p:cNvSpPr>
            <a:spLocks xmlns:a="http://schemas.openxmlformats.org/drawingml/2006/main" noGrp="1"/>
          </p:cNvSpPr>
          <p:nvPr/>
        </p:nvSpPr>
        <p:spPr>
          <a:xfrm xmlns:a="http://schemas.openxmlformats.org/drawingml/2006/main">
            <a:off x="609600" y="2914650"/>
            <a:ext cx="3333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16C7B"/>
                </a:solidFill>
                <a:latin typeface="Arial"/>
                <a:ea typeface="Arial"/>
                <a:cs typeface="Arial"/>
              </a:defRPr>
            </a:defPPr>
          </a:lstStyle>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Connector and contact data</a:t>
            </a:r>
          </a:p>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live on each port.</a:t>
            </a:r>
          </a:p>
          <a:p xmlns:a="http://schemas.openxmlformats.org/drawingml/2006/main">
            <a:r>
              <a:t/>
            </a:r>
          </a:p>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Cables link to a drawing,</a:t>
            </a:r>
          </a:p>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P/N and revision.</a:t>
            </a:r>
          </a:p>
          <a:p xmlns:a="http://schemas.openxmlformats.org/drawingml/2006/main">
            <a:r>
              <a:t/>
            </a:r>
          </a:p>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Notes attach to objects.</a:t>
            </a:r>
          </a:p>
        </p:txBody>
      </p:sp>
    </p:spTree>
    <p:extLst>
      <p:ext uri="{BB962C8B-B14F-4D97-AF65-F5344CB8AC3E}">
        <p14:creationId xmlns:p14="http://schemas.microsoft.com/office/powerpoint/2010/main" val="171937710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BFB68E7D-1378-4C79-AAC7-1A5D69362166}"/>
              </a:ext>
            </a:extLst>
          </p:cNvPr>
          <p:cNvPicPr>
            <a:picLocks xmlns:a="http://schemas.openxmlformats.org/drawingml/2006/main" noChangeAspect="1"/>
          </p:cNvPicPr>
          <p:nvPr/>
        </p:nvPicPr>
        <p:blipFill>
          <a:blip xmlns:r="http://schemas.openxmlformats.org/officeDocument/2006/relationships" xmlns:a="http://schemas.openxmlformats.org/drawingml/2006/main" r:embed="R9933f593dcb94cd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Light background wash">
            <a:extLst xmlns:a="http://schemas.openxmlformats.org/drawingml/2006/main">
              <a:ext uri="{FF2B5EF4-FFF2-40B4-BE49-F238E27FC236}">
                <a16:creationId xmlns:a16="http://schemas.microsoft.com/office/drawing/2014/main" id="{19C9CA73-E80C-4840-9623-D8BB6BE8D27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90000"/>
            </a:srgbClr>
          </a:solidFill>
          <a:ln xmlns:a="http://schemas.openxmlformats.org/drawingml/2006/main" w="0">
            <a:noFill/>
          </a:ln>
        </p:spPr>
      </p:sp>
      <p:sp>
        <p:nvSpPr>
          <p:cNvPr id="3" name="Electrical schematic design">
            <a:extLst xmlns:a="http://schemas.openxmlformats.org/drawingml/2006/main">
              <a:ext uri="{FF2B5EF4-FFF2-40B4-BE49-F238E27FC236}">
                <a16:creationId xmlns:a16="http://schemas.microsoft.com/office/drawing/2014/main" id="{46B53D31-CAA2-4AA8-AC25-9C8408D8B924}"/>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73B50"/>
                </a:solidFill>
                <a:latin typeface="Arial"/>
                <a:ea typeface="Arial"/>
                <a:cs typeface="Arial"/>
              </a:defRPr>
            </a:defPPr>
          </a:lstStyle>
          <a:p xmlns:a="http://schemas.openxmlformats.org/drawingml/2006/main">
            <a:pPr>
              <a:defRPr sz="3450" b="1">
                <a:solidFill>
                  <a:srgbClr val="173B50"/>
                </a:solidFill>
                <a:latin typeface="Arial"/>
                <a:ea typeface="Arial"/>
                <a:cs typeface="Arial"/>
              </a:defRPr>
            </a:pPr>
            <a:r>
              <a:rPr sz="3450" b="1">
                <a:solidFill>
                  <a:srgbClr val="173B50"/>
                </a:solidFill>
                <a:latin typeface="Arial"/>
                <a:ea typeface="Arial"/>
                <a:cs typeface="Arial"/>
              </a:rPr>
              <a:t>Electrical schematic design</a:t>
            </a:r>
          </a:p>
        </p:txBody>
      </p:sp>
      <p:sp>
        <p:nvSpPr>
          <p:cNvPr id="4" name="09">
            <a:extLst xmlns:a="http://schemas.openxmlformats.org/drawingml/2006/main">
              <a:ext uri="{FF2B5EF4-FFF2-40B4-BE49-F238E27FC236}">
                <a16:creationId xmlns:a16="http://schemas.microsoft.com/office/drawing/2014/main" id="{FD70CAE4-F4A5-43AE-91F3-44A39A3439F6}"/>
              </a:ext>
            </a:extLst>
          </p:cNvPr>
          <p:cNvSpPr>
            <a:spLocks xmlns:a="http://schemas.openxmlformats.org/drawingml/2006/main" noGrp="1"/>
          </p:cNvSpPr>
          <p:nvPr/>
        </p:nvSpPr>
        <p:spPr>
          <a:xfrm xmlns:a="http://schemas.openxmlformats.org/drawingml/2006/main">
            <a:off x="11191875"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C7B"/>
                </a:solidFill>
                <a:latin typeface="Arial"/>
                <a:ea typeface="Arial"/>
                <a:cs typeface="Arial"/>
              </a:defRPr>
            </a:defPPr>
          </a:lstStyle>
          <a:p xmlns:a="http://schemas.openxmlformats.org/drawingml/2006/main">
            <a:pPr>
              <a:defRPr sz="1200" b="0">
                <a:solidFill>
                  <a:srgbClr val="516C7B"/>
                </a:solidFill>
                <a:latin typeface="Arial"/>
                <a:ea typeface="Arial"/>
                <a:cs typeface="Arial"/>
              </a:defRPr>
            </a:pPr>
            <a:r>
              <a:rPr sz="1200" b="0">
                <a:solidFill>
                  <a:srgbClr val="516C7B"/>
                </a:solidFill>
                <a:latin typeface="Arial"/>
                <a:ea typeface="Arial"/>
                <a:cs typeface="Arial"/>
              </a:rPr>
              <a:t>09</a:t>
            </a:r>
          </a:p>
        </p:txBody>
      </p:sp>
      <p:pic>
        <p:nvPicPr>
          <p:cNvPr id="5" name="">
            <a:extLst xmlns:a="http://schemas.openxmlformats.org/drawingml/2006/main">
              <a:ext uri="{FF2B5EF4-FFF2-40B4-BE49-F238E27FC236}">
                <a16:creationId xmlns:a16="http://schemas.microsoft.com/office/drawing/2014/main" id="{5FD2F72B-E251-4E1C-A038-FF2F959965B1}"/>
              </a:ext>
            </a:extLst>
          </p:cNvPr>
          <p:cNvPicPr>
            <a:picLocks xmlns:a="http://schemas.openxmlformats.org/drawingml/2006/main" noChangeAspect="1"/>
          </p:cNvPicPr>
          <p:nvPr/>
        </p:nvPicPr>
        <p:blipFill>
          <a:blip xmlns:r="http://schemas.openxmlformats.org/officeDocument/2006/relationships" xmlns:a="http://schemas.openxmlformats.org/drawingml/2006/main" r:embed="R6796bde4d2574cf7"/>
          <a:stretch xmlns:a="http://schemas.openxmlformats.org/drawingml/2006/main"/>
        </p:blipFill>
        <p:spPr>
          <a:xfrm xmlns:a="http://schemas.openxmlformats.org/drawingml/2006/main">
            <a:off x="4068127" y="1504950"/>
            <a:ext cx="7513320" cy="4695825"/>
          </a:xfrm>
          <a:prstGeom xmlns:a="http://schemas.openxmlformats.org/drawingml/2006/main" prst="rect">
            <a:avLst/>
          </a:prstGeom>
        </p:spPr>
      </p:pic>
      <p:sp>
        <p:nvSpPr>
          <p:cNvPr id="6" name="Contact-level&#10;connectivity">
            <a:extLst xmlns:a="http://schemas.openxmlformats.org/drawingml/2006/main">
              <a:ext uri="{FF2B5EF4-FFF2-40B4-BE49-F238E27FC236}">
                <a16:creationId xmlns:a16="http://schemas.microsoft.com/office/drawing/2014/main" id="{EAF9D052-622D-42C4-B3D1-02FC0227854C}"/>
              </a:ext>
            </a:extLst>
          </p:cNvPr>
          <p:cNvSpPr>
            <a:spLocks xmlns:a="http://schemas.openxmlformats.org/drawingml/2006/main" noGrp="1"/>
          </p:cNvSpPr>
          <p:nvPr/>
        </p:nvSpPr>
        <p:spPr>
          <a:xfrm xmlns:a="http://schemas.openxmlformats.org/drawingml/2006/main">
            <a:off x="609600" y="1619250"/>
            <a:ext cx="314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73B50"/>
                </a:solidFill>
                <a:latin typeface="Arial"/>
                <a:ea typeface="Arial"/>
                <a:cs typeface="Arial"/>
              </a:defRPr>
            </a:defPPr>
          </a:lstStyle>
          <a:p xmlns:a="http://schemas.openxmlformats.org/drawingml/2006/main">
            <a:pPr>
              <a:defRPr sz="2550" b="1">
                <a:solidFill>
                  <a:srgbClr val="173B50"/>
                </a:solidFill>
                <a:latin typeface="Arial"/>
                <a:ea typeface="Arial"/>
                <a:cs typeface="Arial"/>
              </a:defRPr>
            </a:pPr>
            <a:r>
              <a:rPr sz="2550" b="1">
                <a:solidFill>
                  <a:srgbClr val="173B50"/>
                </a:solidFill>
                <a:latin typeface="Arial"/>
                <a:ea typeface="Arial"/>
                <a:cs typeface="Arial"/>
              </a:rPr>
              <a:t>Contact-level</a:t>
            </a:r>
          </a:p>
          <a:p xmlns:a="http://schemas.openxmlformats.org/drawingml/2006/main">
            <a:pPr>
              <a:defRPr sz="2550" b="1">
                <a:solidFill>
                  <a:srgbClr val="173B50"/>
                </a:solidFill>
                <a:latin typeface="Arial"/>
                <a:ea typeface="Arial"/>
                <a:cs typeface="Arial"/>
              </a:defRPr>
            </a:pPr>
            <a:r>
              <a:rPr sz="2550" b="1">
                <a:solidFill>
                  <a:srgbClr val="173B50"/>
                </a:solidFill>
                <a:latin typeface="Arial"/>
                <a:ea typeface="Arial"/>
                <a:cs typeface="Arial"/>
              </a:rPr>
              <a:t>connectivity</a:t>
            </a:r>
          </a:p>
        </p:txBody>
      </p:sp>
      <p:sp>
        <p:nvSpPr>
          <p:cNvPr id="7" name="Connectors, named wires,&#10;splices, shields and twis">
            <a:extLst xmlns:a="http://schemas.openxmlformats.org/drawingml/2006/main">
              <a:ext uri="{FF2B5EF4-FFF2-40B4-BE49-F238E27FC236}">
                <a16:creationId xmlns:a16="http://schemas.microsoft.com/office/drawing/2014/main" id="{10A60309-CE10-4C58-B602-4CC9F7C7C197}"/>
              </a:ext>
            </a:extLst>
          </p:cNvPr>
          <p:cNvSpPr>
            <a:spLocks xmlns:a="http://schemas.openxmlformats.org/drawingml/2006/main" noGrp="1"/>
          </p:cNvSpPr>
          <p:nvPr/>
        </p:nvSpPr>
        <p:spPr>
          <a:xfrm xmlns:a="http://schemas.openxmlformats.org/drawingml/2006/main">
            <a:off x="609600" y="2895600"/>
            <a:ext cx="3105150" cy="2905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16C7B"/>
                </a:solidFill>
                <a:latin typeface="Arial"/>
                <a:ea typeface="Arial"/>
                <a:cs typeface="Arial"/>
              </a:defRPr>
            </a:defPPr>
          </a:lstStyle>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Connectors, named wires,</a:t>
            </a:r>
          </a:p>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splices, shields and twists.</a:t>
            </a:r>
          </a:p>
          <a:p xmlns:a="http://schemas.openxmlformats.org/drawingml/2006/main">
            <a:r>
              <a:t/>
            </a:r>
          </a:p>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Align and adjust routes.</a:t>
            </a:r>
          </a:p>
          <a:p xmlns:a="http://schemas.openxmlformats.org/drawingml/2006/main">
            <a:r>
              <a:t/>
            </a:r>
          </a:p>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Find schematic issues</a:t>
            </a:r>
          </a:p>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and jump to the object.</a:t>
            </a:r>
          </a:p>
        </p:txBody>
      </p:sp>
    </p:spTree>
    <p:extLst>
      <p:ext uri="{BB962C8B-B14F-4D97-AF65-F5344CB8AC3E}">
        <p14:creationId xmlns:p14="http://schemas.microsoft.com/office/powerpoint/2010/main" val="210981942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DCB6E833-2750-4653-A1AC-062C4392F796}"/>
              </a:ext>
            </a:extLst>
          </p:cNvPr>
          <p:cNvPicPr>
            <a:picLocks xmlns:a="http://schemas.openxmlformats.org/drawingml/2006/main" noChangeAspect="1"/>
          </p:cNvPicPr>
          <p:nvPr/>
        </p:nvPicPr>
        <p:blipFill>
          <a:blip xmlns:r="http://schemas.openxmlformats.org/officeDocument/2006/relationships" xmlns:a="http://schemas.openxmlformats.org/drawingml/2006/main" r:embed="Rca7588129c5c42e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Light background wash">
            <a:extLst xmlns:a="http://schemas.openxmlformats.org/drawingml/2006/main">
              <a:ext uri="{FF2B5EF4-FFF2-40B4-BE49-F238E27FC236}">
                <a16:creationId xmlns:a16="http://schemas.microsoft.com/office/drawing/2014/main" id="{E5FB5016-DD42-4C5A-A087-546837C9ACC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90000"/>
            </a:srgbClr>
          </a:solidFill>
          <a:ln xmlns:a="http://schemas.openxmlformats.org/drawingml/2006/main" w="0">
            <a:noFill/>
          </a:ln>
        </p:spPr>
      </p:sp>
      <p:sp>
        <p:nvSpPr>
          <p:cNvPr id="3" name="Mechanical harness authoring">
            <a:extLst xmlns:a="http://schemas.openxmlformats.org/drawingml/2006/main">
              <a:ext uri="{FF2B5EF4-FFF2-40B4-BE49-F238E27FC236}">
                <a16:creationId xmlns:a16="http://schemas.microsoft.com/office/drawing/2014/main" id="{CC86A849-A594-4575-872D-D77E5D1370D0}"/>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73B50"/>
                </a:solidFill>
                <a:latin typeface="Arial"/>
                <a:ea typeface="Arial"/>
                <a:cs typeface="Arial"/>
              </a:defRPr>
            </a:defPPr>
          </a:lstStyle>
          <a:p xmlns:a="http://schemas.openxmlformats.org/drawingml/2006/main">
            <a:pPr>
              <a:defRPr sz="3450" b="1">
                <a:solidFill>
                  <a:srgbClr val="173B50"/>
                </a:solidFill>
                <a:latin typeface="Arial"/>
                <a:ea typeface="Arial"/>
                <a:cs typeface="Arial"/>
              </a:defRPr>
            </a:pPr>
            <a:r>
              <a:rPr sz="3450" b="1">
                <a:solidFill>
                  <a:srgbClr val="173B50"/>
                </a:solidFill>
                <a:latin typeface="Arial"/>
                <a:ea typeface="Arial"/>
                <a:cs typeface="Arial"/>
              </a:rPr>
              <a:t>Mechanical harness authoring</a:t>
            </a:r>
          </a:p>
        </p:txBody>
      </p:sp>
      <p:sp>
        <p:nvSpPr>
          <p:cNvPr id="4" name="10">
            <a:extLst xmlns:a="http://schemas.openxmlformats.org/drawingml/2006/main">
              <a:ext uri="{FF2B5EF4-FFF2-40B4-BE49-F238E27FC236}">
                <a16:creationId xmlns:a16="http://schemas.microsoft.com/office/drawing/2014/main" id="{C583C11B-8182-4631-823B-7A9CBBC1F9E8}"/>
              </a:ext>
            </a:extLst>
          </p:cNvPr>
          <p:cNvSpPr>
            <a:spLocks xmlns:a="http://schemas.openxmlformats.org/drawingml/2006/main" noGrp="1"/>
          </p:cNvSpPr>
          <p:nvPr/>
        </p:nvSpPr>
        <p:spPr>
          <a:xfrm xmlns:a="http://schemas.openxmlformats.org/drawingml/2006/main">
            <a:off x="11191875"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C7B"/>
                </a:solidFill>
                <a:latin typeface="Arial"/>
                <a:ea typeface="Arial"/>
                <a:cs typeface="Arial"/>
              </a:defRPr>
            </a:defPPr>
          </a:lstStyle>
          <a:p xmlns:a="http://schemas.openxmlformats.org/drawingml/2006/main">
            <a:pPr>
              <a:defRPr sz="1200" b="0">
                <a:solidFill>
                  <a:srgbClr val="516C7B"/>
                </a:solidFill>
                <a:latin typeface="Arial"/>
                <a:ea typeface="Arial"/>
                <a:cs typeface="Arial"/>
              </a:defRPr>
            </a:pPr>
            <a:r>
              <a:rPr sz="1200" b="0">
                <a:solidFill>
                  <a:srgbClr val="516C7B"/>
                </a:solidFill>
                <a:latin typeface="Arial"/>
                <a:ea typeface="Arial"/>
                <a:cs typeface="Arial"/>
              </a:rPr>
              <a:t>10</a:t>
            </a:r>
          </a:p>
        </p:txBody>
      </p:sp>
      <p:pic>
        <p:nvPicPr>
          <p:cNvPr id="5" name="">
            <a:extLst xmlns:a="http://schemas.openxmlformats.org/drawingml/2006/main">
              <a:ext uri="{FF2B5EF4-FFF2-40B4-BE49-F238E27FC236}">
                <a16:creationId xmlns:a16="http://schemas.microsoft.com/office/drawing/2014/main" id="{FDEB4D48-1DBC-4658-A510-298522A22E40}"/>
              </a:ext>
            </a:extLst>
          </p:cNvPr>
          <p:cNvPicPr>
            <a:picLocks xmlns:a="http://schemas.openxmlformats.org/drawingml/2006/main" noChangeAspect="1"/>
          </p:cNvPicPr>
          <p:nvPr/>
        </p:nvPicPr>
        <p:blipFill>
          <a:blip xmlns:r="http://schemas.openxmlformats.org/officeDocument/2006/relationships" xmlns:a="http://schemas.openxmlformats.org/drawingml/2006/main" r:embed="Re2af9e766d2346c4"/>
          <a:stretch xmlns:a="http://schemas.openxmlformats.org/drawingml/2006/main"/>
        </p:blipFill>
        <p:spPr>
          <a:xfrm xmlns:a="http://schemas.openxmlformats.org/drawingml/2006/main">
            <a:off x="4068127" y="1504950"/>
            <a:ext cx="7513320" cy="4695825"/>
          </a:xfrm>
          <a:prstGeom xmlns:a="http://schemas.openxmlformats.org/drawingml/2006/main" prst="rect">
            <a:avLst/>
          </a:prstGeom>
        </p:spPr>
      </p:pic>
      <p:sp>
        <p:nvSpPr>
          <p:cNvPr id="6" name="Physical harness&#10;engineering">
            <a:extLst xmlns:a="http://schemas.openxmlformats.org/drawingml/2006/main">
              <a:ext uri="{FF2B5EF4-FFF2-40B4-BE49-F238E27FC236}">
                <a16:creationId xmlns:a16="http://schemas.microsoft.com/office/drawing/2014/main" id="{8990E973-5153-4566-B9BC-62E04EAA2CBB}"/>
              </a:ext>
            </a:extLst>
          </p:cNvPr>
          <p:cNvSpPr>
            <a:spLocks xmlns:a="http://schemas.openxmlformats.org/drawingml/2006/main" noGrp="1"/>
          </p:cNvSpPr>
          <p:nvPr/>
        </p:nvSpPr>
        <p:spPr>
          <a:xfrm xmlns:a="http://schemas.openxmlformats.org/drawingml/2006/main">
            <a:off x="609600" y="1628775"/>
            <a:ext cx="314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73B50"/>
                </a:solidFill>
                <a:latin typeface="Arial"/>
                <a:ea typeface="Arial"/>
                <a:cs typeface="Arial"/>
              </a:defRPr>
            </a:defPPr>
          </a:lstStyle>
          <a:p xmlns:a="http://schemas.openxmlformats.org/drawingml/2006/main">
            <a:pPr>
              <a:defRPr sz="2550" b="1">
                <a:solidFill>
                  <a:srgbClr val="173B50"/>
                </a:solidFill>
                <a:latin typeface="Arial"/>
                <a:ea typeface="Arial"/>
                <a:cs typeface="Arial"/>
              </a:defRPr>
            </a:pPr>
            <a:r>
              <a:rPr sz="2550" b="1">
                <a:solidFill>
                  <a:srgbClr val="173B50"/>
                </a:solidFill>
                <a:latin typeface="Arial"/>
                <a:ea typeface="Arial"/>
                <a:cs typeface="Arial"/>
              </a:rPr>
              <a:t>Physical harness</a:t>
            </a:r>
          </a:p>
          <a:p xmlns:a="http://schemas.openxmlformats.org/drawingml/2006/main">
            <a:pPr>
              <a:defRPr sz="2550" b="1">
                <a:solidFill>
                  <a:srgbClr val="173B50"/>
                </a:solidFill>
                <a:latin typeface="Arial"/>
                <a:ea typeface="Arial"/>
                <a:cs typeface="Arial"/>
              </a:defRPr>
            </a:pPr>
            <a:r>
              <a:rPr sz="2550" b="1">
                <a:solidFill>
                  <a:srgbClr val="173B50"/>
                </a:solidFill>
                <a:latin typeface="Arial"/>
                <a:ea typeface="Arial"/>
                <a:cs typeface="Arial"/>
              </a:rPr>
              <a:t>engineering</a:t>
            </a:r>
          </a:p>
        </p:txBody>
      </p:sp>
      <p:sp>
        <p:nvSpPr>
          <p:cNvPr id="7" name="Branches, fanouts and&#10;protective coverings.&#10;&#10;Dimen">
            <a:extLst xmlns:a="http://schemas.openxmlformats.org/drawingml/2006/main">
              <a:ext uri="{FF2B5EF4-FFF2-40B4-BE49-F238E27FC236}">
                <a16:creationId xmlns:a16="http://schemas.microsoft.com/office/drawing/2014/main" id="{37251CCD-A990-4673-BFCE-6E34ED06E143}"/>
              </a:ext>
            </a:extLst>
          </p:cNvPr>
          <p:cNvSpPr>
            <a:spLocks xmlns:a="http://schemas.openxmlformats.org/drawingml/2006/main" noGrp="1"/>
          </p:cNvSpPr>
          <p:nvPr/>
        </p:nvSpPr>
        <p:spPr>
          <a:xfrm xmlns:a="http://schemas.openxmlformats.org/drawingml/2006/main">
            <a:off x="609600" y="2895600"/>
            <a:ext cx="3143250"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16C7B"/>
                </a:solidFill>
                <a:latin typeface="Arial"/>
                <a:ea typeface="Arial"/>
                <a:cs typeface="Arial"/>
              </a:defRPr>
            </a:defPPr>
          </a:lstStyle>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Branches, fanouts and</a:t>
            </a:r>
          </a:p>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protective coverings.</a:t>
            </a:r>
          </a:p>
          <a:p xmlns:a="http://schemas.openxmlformats.org/drawingml/2006/main">
            <a:r>
              <a:t/>
            </a:r>
          </a:p>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Dimensions and annotations.</a:t>
            </a:r>
          </a:p>
          <a:p xmlns:a="http://schemas.openxmlformats.org/drawingml/2006/main">
            <a:r>
              <a:t/>
            </a:r>
          </a:p>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Parts and quantities</a:t>
            </a:r>
          </a:p>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in the BOM.</a:t>
            </a:r>
          </a:p>
        </p:txBody>
      </p:sp>
    </p:spTree>
    <p:extLst>
      <p:ext uri="{BB962C8B-B14F-4D97-AF65-F5344CB8AC3E}">
        <p14:creationId xmlns:p14="http://schemas.microsoft.com/office/powerpoint/2010/main" val="69347133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B981D550-B8EC-46C6-91BB-8DCCE155B225}"/>
              </a:ext>
            </a:extLst>
          </p:cNvPr>
          <p:cNvPicPr>
            <a:picLocks xmlns:a="http://schemas.openxmlformats.org/drawingml/2006/main" noChangeAspect="1"/>
          </p:cNvPicPr>
          <p:nvPr/>
        </p:nvPicPr>
        <p:blipFill>
          <a:blip xmlns:r="http://schemas.openxmlformats.org/officeDocument/2006/relationships" xmlns:a="http://schemas.openxmlformats.org/drawingml/2006/main" r:embed="Ra31ea465a357479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Light background wash">
            <a:extLst xmlns:a="http://schemas.openxmlformats.org/drawingml/2006/main">
              <a:ext uri="{FF2B5EF4-FFF2-40B4-BE49-F238E27FC236}">
                <a16:creationId xmlns:a16="http://schemas.microsoft.com/office/drawing/2014/main" id="{5207665F-EB52-4740-9E0B-291C1D213C3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90000"/>
            </a:srgbClr>
          </a:solidFill>
          <a:ln xmlns:a="http://schemas.openxmlformats.org/drawingml/2006/main" w="0">
            <a:noFill/>
          </a:ln>
        </p:spPr>
      </p:sp>
      <p:sp>
        <p:nvSpPr>
          <p:cNvPr id="3" name="The harness build wizard">
            <a:extLst xmlns:a="http://schemas.openxmlformats.org/drawingml/2006/main">
              <a:ext uri="{FF2B5EF4-FFF2-40B4-BE49-F238E27FC236}">
                <a16:creationId xmlns:a16="http://schemas.microsoft.com/office/drawing/2014/main" id="{18A755CC-9875-442A-A11F-15EB716C0729}"/>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73B50"/>
                </a:solidFill>
                <a:latin typeface="Arial"/>
                <a:ea typeface="Arial"/>
                <a:cs typeface="Arial"/>
              </a:defRPr>
            </a:defPPr>
          </a:lstStyle>
          <a:p xmlns:a="http://schemas.openxmlformats.org/drawingml/2006/main">
            <a:pPr>
              <a:defRPr sz="3450" b="1">
                <a:solidFill>
                  <a:srgbClr val="173B50"/>
                </a:solidFill>
                <a:latin typeface="Arial"/>
                <a:ea typeface="Arial"/>
                <a:cs typeface="Arial"/>
              </a:defRPr>
            </a:pPr>
            <a:r>
              <a:rPr sz="3450" b="1">
                <a:solidFill>
                  <a:srgbClr val="173B50"/>
                </a:solidFill>
                <a:latin typeface="Arial"/>
                <a:ea typeface="Arial"/>
                <a:cs typeface="Arial"/>
              </a:rPr>
              <a:t>The harness build wizard</a:t>
            </a:r>
          </a:p>
        </p:txBody>
      </p:sp>
      <p:sp>
        <p:nvSpPr>
          <p:cNvPr id="4" name="11">
            <a:extLst xmlns:a="http://schemas.openxmlformats.org/drawingml/2006/main">
              <a:ext uri="{FF2B5EF4-FFF2-40B4-BE49-F238E27FC236}">
                <a16:creationId xmlns:a16="http://schemas.microsoft.com/office/drawing/2014/main" id="{420B5E86-C545-4D6D-AC0A-F6DA81473874}"/>
              </a:ext>
            </a:extLst>
          </p:cNvPr>
          <p:cNvSpPr>
            <a:spLocks xmlns:a="http://schemas.openxmlformats.org/drawingml/2006/main" noGrp="1"/>
          </p:cNvSpPr>
          <p:nvPr/>
        </p:nvSpPr>
        <p:spPr>
          <a:xfrm xmlns:a="http://schemas.openxmlformats.org/drawingml/2006/main">
            <a:off x="11191875"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C7B"/>
                </a:solidFill>
                <a:latin typeface="Arial"/>
                <a:ea typeface="Arial"/>
                <a:cs typeface="Arial"/>
              </a:defRPr>
            </a:defPPr>
          </a:lstStyle>
          <a:p xmlns:a="http://schemas.openxmlformats.org/drawingml/2006/main">
            <a:pPr>
              <a:defRPr sz="1200" b="0">
                <a:solidFill>
                  <a:srgbClr val="516C7B"/>
                </a:solidFill>
                <a:latin typeface="Arial"/>
                <a:ea typeface="Arial"/>
                <a:cs typeface="Arial"/>
              </a:defRPr>
            </a:pPr>
            <a:r>
              <a:rPr sz="1200" b="0">
                <a:solidFill>
                  <a:srgbClr val="516C7B"/>
                </a:solidFill>
                <a:latin typeface="Arial"/>
                <a:ea typeface="Arial"/>
                <a:cs typeface="Arial"/>
              </a:rPr>
              <a:t>11</a:t>
            </a:r>
          </a:p>
        </p:txBody>
      </p:sp>
      <p:pic>
        <p:nvPicPr>
          <p:cNvPr id="5" name="">
            <a:extLst xmlns:a="http://schemas.openxmlformats.org/drawingml/2006/main">
              <a:ext uri="{FF2B5EF4-FFF2-40B4-BE49-F238E27FC236}">
                <a16:creationId xmlns:a16="http://schemas.microsoft.com/office/drawing/2014/main" id="{B6AC220E-013E-4C4E-BCD2-16AE41FBADEE}"/>
              </a:ext>
            </a:extLst>
          </p:cNvPr>
          <p:cNvPicPr>
            <a:picLocks xmlns:a="http://schemas.openxmlformats.org/drawingml/2006/main" noChangeAspect="1"/>
          </p:cNvPicPr>
          <p:nvPr/>
        </p:nvPicPr>
        <p:blipFill>
          <a:blip xmlns:r="http://schemas.openxmlformats.org/officeDocument/2006/relationships" xmlns:a="http://schemas.openxmlformats.org/drawingml/2006/main" r:embed="Rc7e033c4bef94696"/>
          <a:stretch xmlns:a="http://schemas.openxmlformats.org/drawingml/2006/main"/>
        </p:blipFill>
        <p:spPr>
          <a:xfrm xmlns:a="http://schemas.openxmlformats.org/drawingml/2006/main">
            <a:off x="2430379" y="1428750"/>
            <a:ext cx="7331242" cy="4352925"/>
          </a:xfrm>
          <a:prstGeom xmlns:a="http://schemas.openxmlformats.org/drawingml/2006/main" prst="rect">
            <a:avLst/>
          </a:prstGeom>
        </p:spPr>
      </p:pic>
      <p:sp>
        <p:nvSpPr>
          <p:cNvPr id="6" name="Engineers arrange connected parts and runs, inspec">
            <a:extLst xmlns:a="http://schemas.openxmlformats.org/drawingml/2006/main">
              <a:ext uri="{FF2B5EF4-FFF2-40B4-BE49-F238E27FC236}">
                <a16:creationId xmlns:a16="http://schemas.microsoft.com/office/drawing/2014/main" id="{2B752542-2777-4EF0-BD10-6B6F2742E698}"/>
              </a:ext>
            </a:extLst>
          </p:cNvPr>
          <p:cNvSpPr>
            <a:spLocks xmlns:a="http://schemas.openxmlformats.org/drawingml/2006/main" noGrp="1"/>
          </p:cNvSpPr>
          <p:nvPr/>
        </p:nvSpPr>
        <p:spPr>
          <a:xfrm xmlns:a="http://schemas.openxmlformats.org/drawingml/2006/main">
            <a:off x="609600" y="5905500"/>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16C7B"/>
                </a:solidFill>
                <a:latin typeface="Arial"/>
                <a:ea typeface="Arial"/>
                <a:cs typeface="Arial"/>
              </a:defRPr>
            </a:defPPr>
          </a:lstStyle>
          <a:p xmlns:a="http://schemas.openxmlformats.org/drawingml/2006/main">
            <a:pPr>
              <a:defRPr sz="1875" b="0">
                <a:solidFill>
                  <a:srgbClr val="516C7B"/>
                </a:solidFill>
                <a:latin typeface="Arial"/>
                <a:ea typeface="Arial"/>
                <a:cs typeface="Arial"/>
              </a:defRPr>
            </a:pPr>
            <a:r>
              <a:rPr sz="1875" b="0">
                <a:solidFill>
                  <a:srgbClr val="516C7B"/>
                </a:solidFill>
                <a:latin typeface="Arial"/>
                <a:ea typeface="Arial"/>
                <a:cs typeface="Arial"/>
              </a:rPr>
              <a:t>Engineers arrange connected parts and runs, inspect the live harness preview, and place the resulting drawing.</a:t>
            </a:r>
          </a:p>
        </p:txBody>
      </p:sp>
    </p:spTree>
    <p:extLst>
      <p:ext uri="{BB962C8B-B14F-4D97-AF65-F5344CB8AC3E}">
        <p14:creationId xmlns:p14="http://schemas.microsoft.com/office/powerpoint/2010/main" val="53256309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811D1E43-65CB-4B92-87BA-961756605F48}"/>
              </a:ext>
            </a:extLst>
          </p:cNvPr>
          <p:cNvPicPr>
            <a:picLocks xmlns:a="http://schemas.openxmlformats.org/drawingml/2006/main" noChangeAspect="1"/>
          </p:cNvPicPr>
          <p:nvPr/>
        </p:nvPicPr>
        <p:blipFill>
          <a:blip xmlns:r="http://schemas.openxmlformats.org/officeDocument/2006/relationships" xmlns:a="http://schemas.openxmlformats.org/drawingml/2006/main" r:embed="R501babd35289431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Light background wash">
            <a:extLst xmlns:a="http://schemas.openxmlformats.org/drawingml/2006/main">
              <a:ext uri="{FF2B5EF4-FFF2-40B4-BE49-F238E27FC236}">
                <a16:creationId xmlns:a16="http://schemas.microsoft.com/office/drawing/2014/main" id="{A47F52AE-B9A9-4315-9F05-763DB2A3DA3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90000"/>
            </a:srgbClr>
          </a:solidFill>
          <a:ln xmlns:a="http://schemas.openxmlformats.org/drawingml/2006/main" w="0">
            <a:noFill/>
          </a:ln>
        </p:spPr>
      </p:sp>
      <p:sp>
        <p:nvSpPr>
          <p:cNvPr id="3" name="Design rules that explain the issue">
            <a:extLst xmlns:a="http://schemas.openxmlformats.org/drawingml/2006/main">
              <a:ext uri="{FF2B5EF4-FFF2-40B4-BE49-F238E27FC236}">
                <a16:creationId xmlns:a16="http://schemas.microsoft.com/office/drawing/2014/main" id="{A30ABB54-D757-4445-A894-FFF890F81554}"/>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73B50"/>
                </a:solidFill>
                <a:latin typeface="Arial"/>
                <a:ea typeface="Arial"/>
                <a:cs typeface="Arial"/>
              </a:defRPr>
            </a:defPPr>
          </a:lstStyle>
          <a:p xmlns:a="http://schemas.openxmlformats.org/drawingml/2006/main">
            <a:pPr>
              <a:defRPr sz="3450" b="1">
                <a:solidFill>
                  <a:srgbClr val="173B50"/>
                </a:solidFill>
                <a:latin typeface="Arial"/>
                <a:ea typeface="Arial"/>
                <a:cs typeface="Arial"/>
              </a:defRPr>
            </a:pPr>
            <a:r>
              <a:rPr sz="3450" b="1">
                <a:solidFill>
                  <a:srgbClr val="173B50"/>
                </a:solidFill>
                <a:latin typeface="Arial"/>
                <a:ea typeface="Arial"/>
                <a:cs typeface="Arial"/>
              </a:rPr>
              <a:t>Design rules that explain the issue</a:t>
            </a:r>
          </a:p>
        </p:txBody>
      </p:sp>
      <p:sp>
        <p:nvSpPr>
          <p:cNvPr id="4" name="12">
            <a:extLst xmlns:a="http://schemas.openxmlformats.org/drawingml/2006/main">
              <a:ext uri="{FF2B5EF4-FFF2-40B4-BE49-F238E27FC236}">
                <a16:creationId xmlns:a16="http://schemas.microsoft.com/office/drawing/2014/main" id="{F091622E-C386-497D-A464-AFE1460CDA74}"/>
              </a:ext>
            </a:extLst>
          </p:cNvPr>
          <p:cNvSpPr>
            <a:spLocks xmlns:a="http://schemas.openxmlformats.org/drawingml/2006/main" noGrp="1"/>
          </p:cNvSpPr>
          <p:nvPr/>
        </p:nvSpPr>
        <p:spPr>
          <a:xfrm xmlns:a="http://schemas.openxmlformats.org/drawingml/2006/main">
            <a:off x="11191875"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C7B"/>
                </a:solidFill>
                <a:latin typeface="Arial"/>
                <a:ea typeface="Arial"/>
                <a:cs typeface="Arial"/>
              </a:defRPr>
            </a:defPPr>
          </a:lstStyle>
          <a:p xmlns:a="http://schemas.openxmlformats.org/drawingml/2006/main">
            <a:pPr>
              <a:defRPr sz="1200" b="0">
                <a:solidFill>
                  <a:srgbClr val="516C7B"/>
                </a:solidFill>
                <a:latin typeface="Arial"/>
                <a:ea typeface="Arial"/>
                <a:cs typeface="Arial"/>
              </a:defRPr>
            </a:pPr>
            <a:r>
              <a:rPr sz="1200" b="0">
                <a:solidFill>
                  <a:srgbClr val="516C7B"/>
                </a:solidFill>
                <a:latin typeface="Arial"/>
                <a:ea typeface="Arial"/>
                <a:cs typeface="Arial"/>
              </a:rPr>
              <a:t>12</a:t>
            </a:r>
          </a:p>
        </p:txBody>
      </p:sp>
      <p:sp>
        <p:nvSpPr>
          <p:cNvPr id="5" name="Rules can be configured and findings bypassed. A d">
            <a:extLst xmlns:a="http://schemas.openxmlformats.org/drawingml/2006/main">
              <a:ext uri="{FF2B5EF4-FFF2-40B4-BE49-F238E27FC236}">
                <a16:creationId xmlns:a16="http://schemas.microsoft.com/office/drawing/2014/main" id="{8AB9376E-BA66-418C-8F92-CA297518C64E}"/>
              </a:ext>
            </a:extLst>
          </p:cNvPr>
          <p:cNvSpPr>
            <a:spLocks xmlns:a="http://schemas.openxmlformats.org/drawingml/2006/main" noGrp="1"/>
          </p:cNvSpPr>
          <p:nvPr/>
        </p:nvSpPr>
        <p:spPr>
          <a:xfrm xmlns:a="http://schemas.openxmlformats.org/drawingml/2006/main">
            <a:off x="609600" y="6191250"/>
            <a:ext cx="1019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16C7B"/>
                </a:solidFill>
                <a:latin typeface="Arial"/>
                <a:ea typeface="Arial"/>
                <a:cs typeface="Arial"/>
              </a:defRPr>
            </a:defPPr>
          </a:lstStyle>
          <a:p xmlns:a="http://schemas.openxmlformats.org/drawingml/2006/main">
            <a:pPr>
              <a:defRPr sz="1350" b="0">
                <a:solidFill>
                  <a:srgbClr val="516C7B"/>
                </a:solidFill>
                <a:latin typeface="Arial"/>
                <a:ea typeface="Arial"/>
                <a:cs typeface="Arial"/>
              </a:defRPr>
            </a:pPr>
            <a:r>
              <a:rPr sz="1350" b="0">
                <a:solidFill>
                  <a:srgbClr val="516C7B"/>
                </a:solidFill>
                <a:latin typeface="Arial"/>
                <a:ea typeface="Arial"/>
                <a:cs typeface="Arial"/>
              </a:rPr>
              <a:t>Rules can be configured and findings bypassed. A disabled rule is distinct from a successful design check.</a:t>
            </a:r>
          </a:p>
        </p:txBody>
      </p:sp>
      <p:pic>
        <p:nvPicPr>
          <p:cNvPr id="6" name="">
            <a:extLst xmlns:a="http://schemas.openxmlformats.org/drawingml/2006/main">
              <a:ext uri="{FF2B5EF4-FFF2-40B4-BE49-F238E27FC236}">
                <a16:creationId xmlns:a16="http://schemas.microsoft.com/office/drawing/2014/main" id="{61261F6E-A882-4FEA-BFCD-CDB7FD649502}"/>
              </a:ext>
            </a:extLst>
          </p:cNvPr>
          <p:cNvPicPr>
            <a:picLocks xmlns:a="http://schemas.openxmlformats.org/drawingml/2006/main" noChangeAspect="1"/>
          </p:cNvPicPr>
          <p:nvPr/>
        </p:nvPicPr>
        <p:blipFill>
          <a:blip xmlns:r="http://schemas.openxmlformats.org/officeDocument/2006/relationships" xmlns:a="http://schemas.openxmlformats.org/drawingml/2006/main" r:embed="R8464ac6f83fb44d4"/>
          <a:stretch xmlns:a="http://schemas.openxmlformats.org/drawingml/2006/main"/>
        </p:blipFill>
        <p:spPr>
          <a:xfrm xmlns:a="http://schemas.openxmlformats.org/drawingml/2006/main">
            <a:off x="676003" y="1485900"/>
            <a:ext cx="3686719" cy="43815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13DAC86A-4396-43A0-ABE9-44EA63BE8927}"/>
              </a:ext>
            </a:extLst>
          </p:cNvPr>
          <p:cNvPicPr>
            <a:picLocks xmlns:a="http://schemas.openxmlformats.org/drawingml/2006/main" noChangeAspect="1"/>
          </p:cNvPicPr>
          <p:nvPr/>
        </p:nvPicPr>
        <p:blipFill>
          <a:blip xmlns:r="http://schemas.openxmlformats.org/officeDocument/2006/relationships" xmlns:a="http://schemas.openxmlformats.org/drawingml/2006/main" r:embed="R72e3cefb7b184c79"/>
          <a:stretch xmlns:a="http://schemas.openxmlformats.org/drawingml/2006/main"/>
        </p:blipFill>
        <p:spPr>
          <a:xfrm xmlns:a="http://schemas.openxmlformats.org/drawingml/2006/main">
            <a:off x="7651296" y="2619375"/>
            <a:ext cx="2680607" cy="1876425"/>
          </a:xfrm>
          <a:prstGeom xmlns:a="http://schemas.openxmlformats.org/drawingml/2006/main" prst="rect">
            <a:avLst/>
          </a:prstGeom>
        </p:spPr>
      </p:pic>
      <p:sp>
        <p:nvSpPr>
          <p:cNvPr id="8" name="Traffic lights and a legend&#10;make rule severity vis">
            <a:extLst xmlns:a="http://schemas.openxmlformats.org/drawingml/2006/main">
              <a:ext uri="{FF2B5EF4-FFF2-40B4-BE49-F238E27FC236}">
                <a16:creationId xmlns:a16="http://schemas.microsoft.com/office/drawing/2014/main" id="{4CE0CAE3-4701-479D-8A3C-D2FBB7749C4C}"/>
              </a:ext>
            </a:extLst>
          </p:cNvPr>
          <p:cNvSpPr>
            <a:spLocks xmlns:a="http://schemas.openxmlformats.org/drawingml/2006/main" noGrp="1"/>
          </p:cNvSpPr>
          <p:nvPr/>
        </p:nvSpPr>
        <p:spPr>
          <a:xfrm xmlns:a="http://schemas.openxmlformats.org/drawingml/2006/main">
            <a:off x="4762500" y="1562100"/>
            <a:ext cx="6334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3B50"/>
                </a:solidFill>
                <a:latin typeface="Arial"/>
                <a:ea typeface="Arial"/>
                <a:cs typeface="Arial"/>
              </a:defRPr>
            </a:defPPr>
          </a:lstStyle>
          <a:p xmlns:a="http://schemas.openxmlformats.org/drawingml/2006/main">
            <a:pPr>
              <a:defRPr sz="2325" b="1">
                <a:solidFill>
                  <a:srgbClr val="173B50"/>
                </a:solidFill>
                <a:latin typeface="Arial"/>
                <a:ea typeface="Arial"/>
                <a:cs typeface="Arial"/>
              </a:defRPr>
            </a:pPr>
            <a:r>
              <a:rPr sz="2325" b="1">
                <a:solidFill>
                  <a:srgbClr val="173B50"/>
                </a:solidFill>
                <a:latin typeface="Arial"/>
                <a:ea typeface="Arial"/>
                <a:cs typeface="Arial"/>
              </a:rPr>
              <a:t>Traffic lights and a legend</a:t>
            </a:r>
          </a:p>
          <a:p xmlns:a="http://schemas.openxmlformats.org/drawingml/2006/main">
            <a:pPr>
              <a:defRPr sz="2325" b="1">
                <a:solidFill>
                  <a:srgbClr val="173B50"/>
                </a:solidFill>
                <a:latin typeface="Arial"/>
                <a:ea typeface="Arial"/>
                <a:cs typeface="Arial"/>
              </a:defRPr>
            </a:pPr>
            <a:r>
              <a:rPr sz="2325" b="1">
                <a:solidFill>
                  <a:srgbClr val="173B50"/>
                </a:solidFill>
                <a:latin typeface="Arial"/>
                <a:ea typeface="Arial"/>
                <a:cs typeface="Arial"/>
              </a:rPr>
              <a:t>make rule severity visible</a:t>
            </a:r>
          </a:p>
        </p:txBody>
      </p:sp>
      <p:sp>
        <p:nvSpPr>
          <p:cNvPr id="9" name="Animated examples explain the fault and its correc">
            <a:extLst xmlns:a="http://schemas.openxmlformats.org/drawingml/2006/main">
              <a:ext uri="{FF2B5EF4-FFF2-40B4-BE49-F238E27FC236}">
                <a16:creationId xmlns:a16="http://schemas.microsoft.com/office/drawing/2014/main" id="{0AE09DD1-638E-46FA-A8D6-09F16AE05DA7}"/>
              </a:ext>
            </a:extLst>
          </p:cNvPr>
          <p:cNvSpPr>
            <a:spLocks xmlns:a="http://schemas.openxmlformats.org/drawingml/2006/main" noGrp="1"/>
          </p:cNvSpPr>
          <p:nvPr/>
        </p:nvSpPr>
        <p:spPr>
          <a:xfrm xmlns:a="http://schemas.openxmlformats.org/drawingml/2006/main">
            <a:off x="4762500" y="4686300"/>
            <a:ext cx="633412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16C7B"/>
                </a:solidFill>
                <a:latin typeface="Arial"/>
                <a:ea typeface="Arial"/>
                <a:cs typeface="Arial"/>
              </a:defRPr>
            </a:defPPr>
          </a:lstStyle>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Animated examples explain the fault and its correction.</a:t>
            </a:r>
          </a:p>
          <a:p xmlns:a="http://schemas.openxmlformats.org/drawingml/2006/main">
            <a:r>
              <a:t/>
            </a:r>
          </a:p>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Findings link engineers back to the relevant drawing object.</a:t>
            </a:r>
          </a:p>
        </p:txBody>
      </p:sp>
    </p:spTree>
    <p:extLst>
      <p:ext uri="{BB962C8B-B14F-4D97-AF65-F5344CB8AC3E}">
        <p14:creationId xmlns:p14="http://schemas.microsoft.com/office/powerpoint/2010/main" val="185221956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0575C84B-4223-4488-8E03-7392B88C4EC1}"/>
              </a:ext>
            </a:extLst>
          </p:cNvPr>
          <p:cNvPicPr>
            <a:picLocks xmlns:a="http://schemas.openxmlformats.org/drawingml/2006/main" noChangeAspect="1"/>
          </p:cNvPicPr>
          <p:nvPr/>
        </p:nvPicPr>
        <p:blipFill>
          <a:blip xmlns:r="http://schemas.openxmlformats.org/officeDocument/2006/relationships" xmlns:a="http://schemas.openxmlformats.org/drawingml/2006/main" r:embed="R88d41f9fe82e4ce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Light background wash">
            <a:extLst xmlns:a="http://schemas.openxmlformats.org/drawingml/2006/main">
              <a:ext uri="{FF2B5EF4-FFF2-40B4-BE49-F238E27FC236}">
                <a16:creationId xmlns:a16="http://schemas.microsoft.com/office/drawing/2014/main" id="{7157D1D6-46BA-4F98-9532-FB2AEB2D181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90000"/>
            </a:srgbClr>
          </a:solidFill>
          <a:ln xmlns:a="http://schemas.openxmlformats.org/drawingml/2006/main" w="0">
            <a:noFill/>
          </a:ln>
        </p:spPr>
      </p:sp>
      <p:sp>
        <p:nvSpPr>
          <p:cNvPr id="3" name="Validation status follows the drawing">
            <a:extLst xmlns:a="http://schemas.openxmlformats.org/drawingml/2006/main">
              <a:ext uri="{FF2B5EF4-FFF2-40B4-BE49-F238E27FC236}">
                <a16:creationId xmlns:a16="http://schemas.microsoft.com/office/drawing/2014/main" id="{728A454C-041E-4C66-A23C-0B1C83046345}"/>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73B50"/>
                </a:solidFill>
                <a:latin typeface="Arial"/>
                <a:ea typeface="Arial"/>
                <a:cs typeface="Arial"/>
              </a:defRPr>
            </a:defPPr>
          </a:lstStyle>
          <a:p xmlns:a="http://schemas.openxmlformats.org/drawingml/2006/main">
            <a:pPr>
              <a:defRPr sz="3450" b="1">
                <a:solidFill>
                  <a:srgbClr val="173B50"/>
                </a:solidFill>
                <a:latin typeface="Arial"/>
                <a:ea typeface="Arial"/>
                <a:cs typeface="Arial"/>
              </a:defRPr>
            </a:pPr>
            <a:r>
              <a:rPr sz="3450" b="1">
                <a:solidFill>
                  <a:srgbClr val="173B50"/>
                </a:solidFill>
                <a:latin typeface="Arial"/>
                <a:ea typeface="Arial"/>
                <a:cs typeface="Arial"/>
              </a:rPr>
              <a:t>Validation status follows the drawing</a:t>
            </a:r>
          </a:p>
        </p:txBody>
      </p:sp>
      <p:sp>
        <p:nvSpPr>
          <p:cNvPr id="4" name="13">
            <a:extLst xmlns:a="http://schemas.openxmlformats.org/drawingml/2006/main">
              <a:ext uri="{FF2B5EF4-FFF2-40B4-BE49-F238E27FC236}">
                <a16:creationId xmlns:a16="http://schemas.microsoft.com/office/drawing/2014/main" id="{D1663F79-562C-4604-9E71-F1DD538F67B8}"/>
              </a:ext>
            </a:extLst>
          </p:cNvPr>
          <p:cNvSpPr>
            <a:spLocks xmlns:a="http://schemas.openxmlformats.org/drawingml/2006/main" noGrp="1"/>
          </p:cNvSpPr>
          <p:nvPr/>
        </p:nvSpPr>
        <p:spPr>
          <a:xfrm xmlns:a="http://schemas.openxmlformats.org/drawingml/2006/main">
            <a:off x="11191875"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C7B"/>
                </a:solidFill>
                <a:latin typeface="Arial"/>
                <a:ea typeface="Arial"/>
                <a:cs typeface="Arial"/>
              </a:defRPr>
            </a:defPPr>
          </a:lstStyle>
          <a:p xmlns:a="http://schemas.openxmlformats.org/drawingml/2006/main">
            <a:pPr>
              <a:defRPr sz="1200" b="0">
                <a:solidFill>
                  <a:srgbClr val="516C7B"/>
                </a:solidFill>
                <a:latin typeface="Arial"/>
                <a:ea typeface="Arial"/>
                <a:cs typeface="Arial"/>
              </a:defRPr>
            </a:pPr>
            <a:r>
              <a:rPr sz="1200" b="0">
                <a:solidFill>
                  <a:srgbClr val="516C7B"/>
                </a:solidFill>
                <a:latin typeface="Arial"/>
                <a:ea typeface="Arial"/>
                <a:cs typeface="Arial"/>
              </a:rPr>
              <a:t>13</a:t>
            </a:r>
          </a:p>
        </p:txBody>
      </p:sp>
      <p:pic>
        <p:nvPicPr>
          <p:cNvPr id="5" name="">
            <a:extLst xmlns:a="http://schemas.openxmlformats.org/drawingml/2006/main">
              <a:ext uri="{FF2B5EF4-FFF2-40B4-BE49-F238E27FC236}">
                <a16:creationId xmlns:a16="http://schemas.microsoft.com/office/drawing/2014/main" id="{C84ECB5B-AF07-4CAD-8D0D-6B7BACF5BB37}"/>
              </a:ext>
            </a:extLst>
          </p:cNvPr>
          <p:cNvPicPr>
            <a:picLocks xmlns:a="http://schemas.openxmlformats.org/drawingml/2006/main" noChangeAspect="1"/>
          </p:cNvPicPr>
          <p:nvPr/>
        </p:nvPicPr>
        <p:blipFill>
          <a:blip xmlns:r="http://schemas.openxmlformats.org/officeDocument/2006/relationships" xmlns:a="http://schemas.openxmlformats.org/drawingml/2006/main" r:embed="R38efcd487e58497c"/>
          <a:stretch xmlns:a="http://schemas.openxmlformats.org/drawingml/2006/main"/>
        </p:blipFill>
        <p:spPr>
          <a:xfrm xmlns:a="http://schemas.openxmlformats.org/drawingml/2006/main">
            <a:off x="5708694" y="1447800"/>
            <a:ext cx="5213262" cy="4438650"/>
          </a:xfrm>
          <a:prstGeom xmlns:a="http://schemas.openxmlformats.org/drawingml/2006/main" prst="rect">
            <a:avLst/>
          </a:prstGeom>
        </p:spPr>
      </p:pic>
      <p:sp>
        <p:nvSpPr>
          <p:cNvPr id="6" name="A pass reflects&#10;the current drawing">
            <a:extLst xmlns:a="http://schemas.openxmlformats.org/drawingml/2006/main">
              <a:ext uri="{FF2B5EF4-FFF2-40B4-BE49-F238E27FC236}">
                <a16:creationId xmlns:a16="http://schemas.microsoft.com/office/drawing/2014/main" id="{4B679BE1-59EE-4CB3-8B6B-684F8BE6D2DF}"/>
              </a:ext>
            </a:extLst>
          </p:cNvPr>
          <p:cNvSpPr>
            <a:spLocks xmlns:a="http://schemas.openxmlformats.org/drawingml/2006/main" noGrp="1"/>
          </p:cNvSpPr>
          <p:nvPr/>
        </p:nvSpPr>
        <p:spPr>
          <a:xfrm xmlns:a="http://schemas.openxmlformats.org/drawingml/2006/main">
            <a:off x="609600" y="1628775"/>
            <a:ext cx="399097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1">
                <a:solidFill>
                  <a:srgbClr val="173B50"/>
                </a:solidFill>
                <a:latin typeface="Arial"/>
                <a:ea typeface="Arial"/>
                <a:cs typeface="Arial"/>
              </a:defRPr>
            </a:defPPr>
          </a:lstStyle>
          <a:p xmlns:a="http://schemas.openxmlformats.org/drawingml/2006/main">
            <a:pPr>
              <a:defRPr sz="2775" b="1">
                <a:solidFill>
                  <a:srgbClr val="173B50"/>
                </a:solidFill>
                <a:latin typeface="Arial"/>
                <a:ea typeface="Arial"/>
                <a:cs typeface="Arial"/>
              </a:defRPr>
            </a:pPr>
            <a:r>
              <a:rPr sz="2775" b="1">
                <a:solidFill>
                  <a:srgbClr val="173B50"/>
                </a:solidFill>
                <a:latin typeface="Arial"/>
                <a:ea typeface="Arial"/>
                <a:cs typeface="Arial"/>
              </a:rPr>
              <a:t>A pass reflects</a:t>
            </a:r>
          </a:p>
          <a:p xmlns:a="http://schemas.openxmlformats.org/drawingml/2006/main">
            <a:pPr>
              <a:defRPr sz="2775" b="1">
                <a:solidFill>
                  <a:srgbClr val="173B50"/>
                </a:solidFill>
                <a:latin typeface="Arial"/>
                <a:ea typeface="Arial"/>
                <a:cs typeface="Arial"/>
              </a:defRPr>
            </a:pPr>
            <a:r>
              <a:rPr sz="2775" b="1">
                <a:solidFill>
                  <a:srgbClr val="173B50"/>
                </a:solidFill>
                <a:latin typeface="Arial"/>
                <a:ea typeface="Arial"/>
                <a:cs typeface="Arial"/>
              </a:rPr>
              <a:t>the current drawing</a:t>
            </a:r>
          </a:p>
        </p:txBody>
      </p:sp>
      <p:sp>
        <p:nvSpPr>
          <p:cNvPr id="7" name="A green note records a&#10;successful design check.&#10;&#10;A">
            <a:extLst xmlns:a="http://schemas.openxmlformats.org/drawingml/2006/main">
              <a:ext uri="{FF2B5EF4-FFF2-40B4-BE49-F238E27FC236}">
                <a16:creationId xmlns:a16="http://schemas.microsoft.com/office/drawing/2014/main" id="{E5B03AE7-A648-4259-8B26-F3B945F12C54}"/>
              </a:ext>
            </a:extLst>
          </p:cNvPr>
          <p:cNvSpPr>
            <a:spLocks xmlns:a="http://schemas.openxmlformats.org/drawingml/2006/main" noGrp="1"/>
          </p:cNvSpPr>
          <p:nvPr/>
        </p:nvSpPr>
        <p:spPr>
          <a:xfrm xmlns:a="http://schemas.openxmlformats.org/drawingml/2006/main">
            <a:off x="609600" y="3038475"/>
            <a:ext cx="4048125" cy="2914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16C7B"/>
                </a:solidFill>
                <a:latin typeface="Arial"/>
                <a:ea typeface="Arial"/>
                <a:cs typeface="Arial"/>
              </a:defRPr>
            </a:defPPr>
          </a:lstStyle>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A green note records a</a:t>
            </a:r>
          </a:p>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successful design check.</a:t>
            </a:r>
          </a:p>
          <a:p xmlns:a="http://schemas.openxmlformats.org/drawingml/2006/main">
            <a:r>
              <a:t/>
            </a:r>
          </a:p>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Any drawing edit clears it</a:t>
            </a:r>
          </a:p>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and requires a new check.</a:t>
            </a:r>
          </a:p>
          <a:p xmlns:a="http://schemas.openxmlformats.org/drawingml/2006/main">
            <a:r>
              <a:t/>
            </a:r>
          </a:p>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Project checks inspect</a:t>
            </a:r>
          </a:p>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saved validation evidence.</a:t>
            </a:r>
          </a:p>
        </p:txBody>
      </p:sp>
    </p:spTree>
    <p:extLst>
      <p:ext uri="{BB962C8B-B14F-4D97-AF65-F5344CB8AC3E}">
        <p14:creationId xmlns:p14="http://schemas.microsoft.com/office/powerpoint/2010/main" val="145587591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07C7081F-607D-48E5-AA5B-CE2D92E55AA1}"/>
              </a:ext>
            </a:extLst>
          </p:cNvPr>
          <p:cNvPicPr>
            <a:picLocks xmlns:a="http://schemas.openxmlformats.org/drawingml/2006/main" noChangeAspect="1"/>
          </p:cNvPicPr>
          <p:nvPr/>
        </p:nvPicPr>
        <p:blipFill>
          <a:blip xmlns:r="http://schemas.openxmlformats.org/officeDocument/2006/relationships" xmlns:a="http://schemas.openxmlformats.org/drawingml/2006/main" r:embed="R7932041e02d646b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Light background wash">
            <a:extLst xmlns:a="http://schemas.openxmlformats.org/drawingml/2006/main">
              <a:ext uri="{FF2B5EF4-FFF2-40B4-BE49-F238E27FC236}">
                <a16:creationId xmlns:a16="http://schemas.microsoft.com/office/drawing/2014/main" id="{DD120A87-5F9F-478D-A944-CD7E8D7F492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90000"/>
            </a:srgbClr>
          </a:solidFill>
          <a:ln xmlns:a="http://schemas.openxmlformats.org/drawingml/2006/main" w="0">
            <a:noFill/>
          </a:ln>
        </p:spPr>
      </p:sp>
      <p:sp>
        <p:nvSpPr>
          <p:cNvPr id="3" name="3D routing and length checks">
            <a:extLst xmlns:a="http://schemas.openxmlformats.org/drawingml/2006/main">
              <a:ext uri="{FF2B5EF4-FFF2-40B4-BE49-F238E27FC236}">
                <a16:creationId xmlns:a16="http://schemas.microsoft.com/office/drawing/2014/main" id="{C0C384EC-C1BE-4AFD-9402-993691EA2E9F}"/>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73B50"/>
                </a:solidFill>
                <a:latin typeface="Arial"/>
                <a:ea typeface="Arial"/>
                <a:cs typeface="Arial"/>
              </a:defRPr>
            </a:defPPr>
          </a:lstStyle>
          <a:p xmlns:a="http://schemas.openxmlformats.org/drawingml/2006/main">
            <a:pPr>
              <a:defRPr sz="3450" b="1">
                <a:solidFill>
                  <a:srgbClr val="173B50"/>
                </a:solidFill>
                <a:latin typeface="Arial"/>
                <a:ea typeface="Arial"/>
                <a:cs typeface="Arial"/>
              </a:defRPr>
            </a:pPr>
            <a:r>
              <a:rPr sz="3450" b="1">
                <a:solidFill>
                  <a:srgbClr val="173B50"/>
                </a:solidFill>
                <a:latin typeface="Arial"/>
                <a:ea typeface="Arial"/>
                <a:cs typeface="Arial"/>
              </a:rPr>
              <a:t>3D routing and length checks</a:t>
            </a:r>
          </a:p>
        </p:txBody>
      </p:sp>
      <p:sp>
        <p:nvSpPr>
          <p:cNvPr id="4" name="14">
            <a:extLst xmlns:a="http://schemas.openxmlformats.org/drawingml/2006/main">
              <a:ext uri="{FF2B5EF4-FFF2-40B4-BE49-F238E27FC236}">
                <a16:creationId xmlns:a16="http://schemas.microsoft.com/office/drawing/2014/main" id="{E62D9722-77FC-41AE-8BF2-7AA8296B91E6}"/>
              </a:ext>
            </a:extLst>
          </p:cNvPr>
          <p:cNvSpPr>
            <a:spLocks xmlns:a="http://schemas.openxmlformats.org/drawingml/2006/main" noGrp="1"/>
          </p:cNvSpPr>
          <p:nvPr/>
        </p:nvSpPr>
        <p:spPr>
          <a:xfrm xmlns:a="http://schemas.openxmlformats.org/drawingml/2006/main">
            <a:off x="11191875"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C7B"/>
                </a:solidFill>
                <a:latin typeface="Arial"/>
                <a:ea typeface="Arial"/>
                <a:cs typeface="Arial"/>
              </a:defRPr>
            </a:defPPr>
          </a:lstStyle>
          <a:p xmlns:a="http://schemas.openxmlformats.org/drawingml/2006/main">
            <a:pPr>
              <a:defRPr sz="1200" b="0">
                <a:solidFill>
                  <a:srgbClr val="516C7B"/>
                </a:solidFill>
                <a:latin typeface="Arial"/>
                <a:ea typeface="Arial"/>
                <a:cs typeface="Arial"/>
              </a:defRPr>
            </a:pPr>
            <a:r>
              <a:rPr sz="1200" b="0">
                <a:solidFill>
                  <a:srgbClr val="516C7B"/>
                </a:solidFill>
                <a:latin typeface="Arial"/>
                <a:ea typeface="Arial"/>
                <a:cs typeface="Arial"/>
              </a:rPr>
              <a:t>14</a:t>
            </a:r>
          </a:p>
        </p:txBody>
      </p:sp>
      <p:pic>
        <p:nvPicPr>
          <p:cNvPr id="5" name="">
            <a:extLst xmlns:a="http://schemas.openxmlformats.org/drawingml/2006/main">
              <a:ext uri="{FF2B5EF4-FFF2-40B4-BE49-F238E27FC236}">
                <a16:creationId xmlns:a16="http://schemas.microsoft.com/office/drawing/2014/main" id="{EA92FF6E-A23B-436E-9E9B-E1CF5321C4BD}"/>
              </a:ext>
            </a:extLst>
          </p:cNvPr>
          <p:cNvPicPr>
            <a:picLocks xmlns:a="http://schemas.openxmlformats.org/drawingml/2006/main" noChangeAspect="1"/>
          </p:cNvPicPr>
          <p:nvPr/>
        </p:nvPicPr>
        <p:blipFill>
          <a:blip xmlns:r="http://schemas.openxmlformats.org/officeDocument/2006/relationships" xmlns:a="http://schemas.openxmlformats.org/drawingml/2006/main" r:embed="R5c73b908325b4fb7"/>
          <a:stretch xmlns:a="http://schemas.openxmlformats.org/drawingml/2006/main"/>
        </p:blipFill>
        <p:spPr>
          <a:xfrm xmlns:a="http://schemas.openxmlformats.org/drawingml/2006/main">
            <a:off x="5179521" y="1504950"/>
            <a:ext cx="5842982" cy="4295775"/>
          </a:xfrm>
          <a:prstGeom xmlns:a="http://schemas.openxmlformats.org/drawingml/2006/main" prst="rect">
            <a:avLst/>
          </a:prstGeom>
        </p:spPr>
      </p:pic>
      <p:sp>
        <p:nvSpPr>
          <p:cNvPr id="6" name="Harness checks during&#10;the design stage">
            <a:extLst xmlns:a="http://schemas.openxmlformats.org/drawingml/2006/main">
              <a:ext uri="{FF2B5EF4-FFF2-40B4-BE49-F238E27FC236}">
                <a16:creationId xmlns:a16="http://schemas.microsoft.com/office/drawing/2014/main" id="{AE48A4B2-B67B-4D45-A4B0-2A918B95A264}"/>
              </a:ext>
            </a:extLst>
          </p:cNvPr>
          <p:cNvSpPr>
            <a:spLocks xmlns:a="http://schemas.openxmlformats.org/drawingml/2006/main" noGrp="1"/>
          </p:cNvSpPr>
          <p:nvPr/>
        </p:nvSpPr>
        <p:spPr>
          <a:xfrm xmlns:a="http://schemas.openxmlformats.org/drawingml/2006/main">
            <a:off x="609600" y="1638300"/>
            <a:ext cx="3714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73B50"/>
                </a:solidFill>
                <a:latin typeface="Arial"/>
                <a:ea typeface="Arial"/>
                <a:cs typeface="Arial"/>
              </a:defRPr>
            </a:defPPr>
          </a:lstStyle>
          <a:p xmlns:a="http://schemas.openxmlformats.org/drawingml/2006/main">
            <a:pPr>
              <a:defRPr sz="2550" b="1">
                <a:solidFill>
                  <a:srgbClr val="173B50"/>
                </a:solidFill>
                <a:latin typeface="Arial"/>
                <a:ea typeface="Arial"/>
                <a:cs typeface="Arial"/>
              </a:defRPr>
            </a:pPr>
            <a:r>
              <a:rPr sz="2550" b="1">
                <a:solidFill>
                  <a:srgbClr val="173B50"/>
                </a:solidFill>
                <a:latin typeface="Arial"/>
                <a:ea typeface="Arial"/>
                <a:cs typeface="Arial"/>
              </a:rPr>
              <a:t>Harness checks during</a:t>
            </a:r>
          </a:p>
          <a:p xmlns:a="http://schemas.openxmlformats.org/drawingml/2006/main">
            <a:pPr>
              <a:defRPr sz="2550" b="1">
                <a:solidFill>
                  <a:srgbClr val="173B50"/>
                </a:solidFill>
                <a:latin typeface="Arial"/>
                <a:ea typeface="Arial"/>
                <a:cs typeface="Arial"/>
              </a:defRPr>
            </a:pPr>
            <a:r>
              <a:rPr sz="2550" b="1">
                <a:solidFill>
                  <a:srgbClr val="173B50"/>
                </a:solidFill>
                <a:latin typeface="Arial"/>
                <a:ea typeface="Arial"/>
                <a:cs typeface="Arial"/>
              </a:rPr>
              <a:t>the design stage</a:t>
            </a:r>
          </a:p>
        </p:txBody>
      </p:sp>
      <p:sp>
        <p:nvSpPr>
          <p:cNvPr id="7" name="Import 3D system files.&#10;&#10;Check harness routing&#10;and">
            <a:extLst xmlns:a="http://schemas.openxmlformats.org/drawingml/2006/main">
              <a:ext uri="{FF2B5EF4-FFF2-40B4-BE49-F238E27FC236}">
                <a16:creationId xmlns:a16="http://schemas.microsoft.com/office/drawing/2014/main" id="{4C018A43-EB1C-45C1-A72A-C0BF20C61946}"/>
              </a:ext>
            </a:extLst>
          </p:cNvPr>
          <p:cNvSpPr>
            <a:spLocks xmlns:a="http://schemas.openxmlformats.org/drawingml/2006/main" noGrp="1"/>
          </p:cNvSpPr>
          <p:nvPr/>
        </p:nvSpPr>
        <p:spPr>
          <a:xfrm xmlns:a="http://schemas.openxmlformats.org/drawingml/2006/main">
            <a:off x="609600" y="3038475"/>
            <a:ext cx="3476625" cy="2809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16C7B"/>
                </a:solidFill>
                <a:latin typeface="Arial"/>
                <a:ea typeface="Arial"/>
                <a:cs typeface="Arial"/>
              </a:defRPr>
            </a:defPPr>
          </a:lstStyle>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Import 3D system files.</a:t>
            </a:r>
          </a:p>
          <a:p xmlns:a="http://schemas.openxmlformats.org/drawingml/2006/main">
            <a:r>
              <a:t/>
            </a:r>
          </a:p>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Check harness routing</a:t>
            </a:r>
          </a:p>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and length in the</a:t>
            </a:r>
          </a:p>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installation environment.</a:t>
            </a:r>
          </a:p>
          <a:p xmlns:a="http://schemas.openxmlformats.org/drawingml/2006/main">
            <a:r>
              <a:t/>
            </a:r>
          </a:p>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Reduce time spent on</a:t>
            </a:r>
          </a:p>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physical trial fitting</a:t>
            </a:r>
          </a:p>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and rework.</a:t>
            </a:r>
          </a:p>
        </p:txBody>
      </p:sp>
    </p:spTree>
    <p:extLst>
      <p:ext uri="{BB962C8B-B14F-4D97-AF65-F5344CB8AC3E}">
        <p14:creationId xmlns:p14="http://schemas.microsoft.com/office/powerpoint/2010/main" val="29005550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BE4D2D49-7FD0-44FA-BF12-BB6A740D8FA1}"/>
              </a:ext>
            </a:extLst>
          </p:cNvPr>
          <p:cNvPicPr>
            <a:picLocks xmlns:a="http://schemas.openxmlformats.org/drawingml/2006/main" noChangeAspect="1"/>
          </p:cNvPicPr>
          <p:nvPr/>
        </p:nvPicPr>
        <p:blipFill>
          <a:blip xmlns:r="http://schemas.openxmlformats.org/officeDocument/2006/relationships" xmlns:a="http://schemas.openxmlformats.org/drawingml/2006/main" r:embed="R6a6667476ce74dd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Light background wash">
            <a:extLst xmlns:a="http://schemas.openxmlformats.org/drawingml/2006/main">
              <a:ext uri="{FF2B5EF4-FFF2-40B4-BE49-F238E27FC236}">
                <a16:creationId xmlns:a16="http://schemas.microsoft.com/office/drawing/2014/main" id="{29DBF693-A854-438E-AF15-83A44602AF1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90000"/>
            </a:srgbClr>
          </a:solidFill>
          <a:ln xmlns:a="http://schemas.openxmlformats.org/drawingml/2006/main" w="0">
            <a:noFill/>
          </a:ln>
        </p:spPr>
      </p:sp>
      <p:sp>
        <p:nvSpPr>
          <p:cNvPr id="3" name="Engineering data and drawing discovery">
            <a:extLst xmlns:a="http://schemas.openxmlformats.org/drawingml/2006/main">
              <a:ext uri="{FF2B5EF4-FFF2-40B4-BE49-F238E27FC236}">
                <a16:creationId xmlns:a16="http://schemas.microsoft.com/office/drawing/2014/main" id="{A1299587-303B-4776-BFC3-B1BF7DF69A5B}"/>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73B50"/>
                </a:solidFill>
                <a:latin typeface="Arial"/>
                <a:ea typeface="Arial"/>
                <a:cs typeface="Arial"/>
              </a:defRPr>
            </a:defPPr>
          </a:lstStyle>
          <a:p xmlns:a="http://schemas.openxmlformats.org/drawingml/2006/main">
            <a:pPr>
              <a:defRPr sz="3450" b="1">
                <a:solidFill>
                  <a:srgbClr val="173B50"/>
                </a:solidFill>
                <a:latin typeface="Arial"/>
                <a:ea typeface="Arial"/>
                <a:cs typeface="Arial"/>
              </a:defRPr>
            </a:pPr>
            <a:r>
              <a:rPr sz="3450" b="1">
                <a:solidFill>
                  <a:srgbClr val="173B50"/>
                </a:solidFill>
                <a:latin typeface="Arial"/>
                <a:ea typeface="Arial"/>
                <a:cs typeface="Arial"/>
              </a:rPr>
              <a:t>Engineering data and drawing discovery</a:t>
            </a:r>
          </a:p>
        </p:txBody>
      </p:sp>
      <p:sp>
        <p:nvSpPr>
          <p:cNvPr id="4" name="15">
            <a:extLst xmlns:a="http://schemas.openxmlformats.org/drawingml/2006/main">
              <a:ext uri="{FF2B5EF4-FFF2-40B4-BE49-F238E27FC236}">
                <a16:creationId xmlns:a16="http://schemas.microsoft.com/office/drawing/2014/main" id="{9650CF0D-E6EF-4677-A2A5-7251AAFFB833}"/>
              </a:ext>
            </a:extLst>
          </p:cNvPr>
          <p:cNvSpPr>
            <a:spLocks xmlns:a="http://schemas.openxmlformats.org/drawingml/2006/main" noGrp="1"/>
          </p:cNvSpPr>
          <p:nvPr/>
        </p:nvSpPr>
        <p:spPr>
          <a:xfrm xmlns:a="http://schemas.openxmlformats.org/drawingml/2006/main">
            <a:off x="11191875"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C7B"/>
                </a:solidFill>
                <a:latin typeface="Arial"/>
                <a:ea typeface="Arial"/>
                <a:cs typeface="Arial"/>
              </a:defRPr>
            </a:defPPr>
          </a:lstStyle>
          <a:p xmlns:a="http://schemas.openxmlformats.org/drawingml/2006/main">
            <a:pPr>
              <a:defRPr sz="1200" b="0">
                <a:solidFill>
                  <a:srgbClr val="516C7B"/>
                </a:solidFill>
                <a:latin typeface="Arial"/>
                <a:ea typeface="Arial"/>
                <a:cs typeface="Arial"/>
              </a:defRPr>
            </a:pPr>
            <a:r>
              <a:rPr sz="1200" b="0">
                <a:solidFill>
                  <a:srgbClr val="516C7B"/>
                </a:solidFill>
                <a:latin typeface="Arial"/>
                <a:ea typeface="Arial"/>
                <a:cs typeface="Arial"/>
              </a:rPr>
              <a:t>15</a:t>
            </a:r>
          </a:p>
        </p:txBody>
      </p:sp>
      <p:pic>
        <p:nvPicPr>
          <p:cNvPr id="5" name="">
            <a:extLst xmlns:a="http://schemas.openxmlformats.org/drawingml/2006/main">
              <a:ext uri="{FF2B5EF4-FFF2-40B4-BE49-F238E27FC236}">
                <a16:creationId xmlns:a16="http://schemas.microsoft.com/office/drawing/2014/main" id="{FB66CDBE-DAA2-422D-8CAD-A40E2FA6C876}"/>
              </a:ext>
            </a:extLst>
          </p:cNvPr>
          <p:cNvPicPr>
            <a:picLocks xmlns:a="http://schemas.openxmlformats.org/drawingml/2006/main" noChangeAspect="1"/>
          </p:cNvPicPr>
          <p:nvPr/>
        </p:nvPicPr>
        <p:blipFill>
          <a:blip xmlns:r="http://schemas.openxmlformats.org/officeDocument/2006/relationships" xmlns:a="http://schemas.openxmlformats.org/drawingml/2006/main" r:embed="R05ac541e7ad04f52"/>
          <a:stretch xmlns:a="http://schemas.openxmlformats.org/drawingml/2006/main"/>
        </p:blipFill>
        <p:spPr>
          <a:xfrm xmlns:a="http://schemas.openxmlformats.org/drawingml/2006/main">
            <a:off x="4105275" y="1514475"/>
            <a:ext cx="7477125" cy="4486275"/>
          </a:xfrm>
          <a:prstGeom xmlns:a="http://schemas.openxmlformats.org/drawingml/2006/main" prst="rect">
            <a:avLst/>
          </a:prstGeom>
        </p:spPr>
      </p:pic>
      <p:sp>
        <p:nvSpPr>
          <p:cNvPr id="6" name="Find part numbers&#10;inside drawings">
            <a:extLst xmlns:a="http://schemas.openxmlformats.org/drawingml/2006/main">
              <a:ext uri="{FF2B5EF4-FFF2-40B4-BE49-F238E27FC236}">
                <a16:creationId xmlns:a16="http://schemas.microsoft.com/office/drawing/2014/main" id="{ED70FBAF-E97C-4CD7-B250-2BDD2A3A4A4F}"/>
              </a:ext>
            </a:extLst>
          </p:cNvPr>
          <p:cNvSpPr>
            <a:spLocks xmlns:a="http://schemas.openxmlformats.org/drawingml/2006/main" noGrp="1"/>
          </p:cNvSpPr>
          <p:nvPr/>
        </p:nvSpPr>
        <p:spPr>
          <a:xfrm xmlns:a="http://schemas.openxmlformats.org/drawingml/2006/main">
            <a:off x="609600" y="1657350"/>
            <a:ext cx="32385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73B50"/>
                </a:solidFill>
                <a:latin typeface="Arial"/>
                <a:ea typeface="Arial"/>
                <a:cs typeface="Arial"/>
              </a:defRPr>
            </a:defPPr>
          </a:lstStyle>
          <a:p xmlns:a="http://schemas.openxmlformats.org/drawingml/2006/main">
            <a:pPr>
              <a:defRPr sz="2550" b="1">
                <a:solidFill>
                  <a:srgbClr val="173B50"/>
                </a:solidFill>
                <a:latin typeface="Arial"/>
                <a:ea typeface="Arial"/>
                <a:cs typeface="Arial"/>
              </a:defRPr>
            </a:pPr>
            <a:r>
              <a:rPr sz="2550" b="1">
                <a:solidFill>
                  <a:srgbClr val="173B50"/>
                </a:solidFill>
                <a:latin typeface="Arial"/>
                <a:ea typeface="Arial"/>
                <a:cs typeface="Arial"/>
              </a:rPr>
              <a:t>Find part numbers</a:t>
            </a:r>
          </a:p>
          <a:p xmlns:a="http://schemas.openxmlformats.org/drawingml/2006/main">
            <a:pPr>
              <a:defRPr sz="2550" b="1">
                <a:solidFill>
                  <a:srgbClr val="173B50"/>
                </a:solidFill>
                <a:latin typeface="Arial"/>
                <a:ea typeface="Arial"/>
                <a:cs typeface="Arial"/>
              </a:defRPr>
            </a:pPr>
            <a:r>
              <a:rPr sz="2550" b="1">
                <a:solidFill>
                  <a:srgbClr val="173B50"/>
                </a:solidFill>
                <a:latin typeface="Arial"/>
                <a:ea typeface="Arial"/>
                <a:cs typeface="Arial"/>
              </a:rPr>
              <a:t>inside drawings</a:t>
            </a:r>
          </a:p>
        </p:txBody>
      </p:sp>
      <p:sp>
        <p:nvSpPr>
          <p:cNvPr id="7" name="Search engineering files&#10;with match controls.&#10;&#10;Vie">
            <a:extLst xmlns:a="http://schemas.openxmlformats.org/drawingml/2006/main">
              <a:ext uri="{FF2B5EF4-FFF2-40B4-BE49-F238E27FC236}">
                <a16:creationId xmlns:a16="http://schemas.microsoft.com/office/drawing/2014/main" id="{F700C7F8-42BD-495B-A184-738FEED35F89}"/>
              </a:ext>
            </a:extLst>
          </p:cNvPr>
          <p:cNvSpPr>
            <a:spLocks xmlns:a="http://schemas.openxmlformats.org/drawingml/2006/main" noGrp="1"/>
          </p:cNvSpPr>
          <p:nvPr/>
        </p:nvSpPr>
        <p:spPr>
          <a:xfrm xmlns:a="http://schemas.openxmlformats.org/drawingml/2006/main">
            <a:off x="609600" y="2981325"/>
            <a:ext cx="319087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16C7B"/>
                </a:solidFill>
                <a:latin typeface="Arial"/>
                <a:ea typeface="Arial"/>
                <a:cs typeface="Arial"/>
              </a:defRPr>
            </a:defPPr>
          </a:lstStyle>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Search engineering files</a:t>
            </a:r>
          </a:p>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with match controls.</a:t>
            </a:r>
          </a:p>
          <a:p xmlns:a="http://schemas.openxmlformats.org/drawingml/2006/main">
            <a:r>
              <a:t/>
            </a:r>
          </a:p>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View matching PDF pages</a:t>
            </a:r>
          </a:p>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and highlighted results.</a:t>
            </a:r>
          </a:p>
          <a:p xmlns:a="http://schemas.openxmlformats.org/drawingml/2006/main">
            <a:r>
              <a:t/>
            </a:r>
          </a:p>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Reuse technical data</a:t>
            </a:r>
          </a:p>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and library symbols.</a:t>
            </a:r>
          </a:p>
        </p:txBody>
      </p:sp>
    </p:spTree>
    <p:extLst>
      <p:ext uri="{BB962C8B-B14F-4D97-AF65-F5344CB8AC3E}">
        <p14:creationId xmlns:p14="http://schemas.microsoft.com/office/powerpoint/2010/main" val="6511399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90921291-24DE-4CB2-BED0-D05DCFEF7F94}"/>
              </a:ext>
            </a:extLst>
          </p:cNvPr>
          <p:cNvPicPr>
            <a:picLocks xmlns:a="http://schemas.openxmlformats.org/drawingml/2006/main" noChangeAspect="1"/>
          </p:cNvPicPr>
          <p:nvPr/>
        </p:nvPicPr>
        <p:blipFill>
          <a:blip xmlns:r="http://schemas.openxmlformats.org/officeDocument/2006/relationships" xmlns:a="http://schemas.openxmlformats.org/drawingml/2006/main" r:embed="R9d1b65255a6c431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Light background wash">
            <a:extLst xmlns:a="http://schemas.openxmlformats.org/drawingml/2006/main">
              <a:ext uri="{FF2B5EF4-FFF2-40B4-BE49-F238E27FC236}">
                <a16:creationId xmlns:a16="http://schemas.microsoft.com/office/drawing/2014/main" id="{886CE3C1-E71C-4580-BCF6-445C6850B81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90000"/>
            </a:srgbClr>
          </a:solidFill>
          <a:ln xmlns:a="http://schemas.openxmlformats.org/drawingml/2006/main" w="0">
            <a:noFill/>
          </a:ln>
        </p:spPr>
      </p:sp>
      <p:sp>
        <p:nvSpPr>
          <p:cNvPr id="3" name="Project checks across linked drawings">
            <a:extLst xmlns:a="http://schemas.openxmlformats.org/drawingml/2006/main">
              <a:ext uri="{FF2B5EF4-FFF2-40B4-BE49-F238E27FC236}">
                <a16:creationId xmlns:a16="http://schemas.microsoft.com/office/drawing/2014/main" id="{11F44E78-7CFB-42D9-937A-E6CBFE8B7F33}"/>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73B50"/>
                </a:solidFill>
                <a:latin typeface="Arial"/>
                <a:ea typeface="Arial"/>
                <a:cs typeface="Arial"/>
              </a:defRPr>
            </a:defPPr>
          </a:lstStyle>
          <a:p xmlns:a="http://schemas.openxmlformats.org/drawingml/2006/main">
            <a:pPr>
              <a:defRPr sz="3450" b="1">
                <a:solidFill>
                  <a:srgbClr val="173B50"/>
                </a:solidFill>
                <a:latin typeface="Arial"/>
                <a:ea typeface="Arial"/>
                <a:cs typeface="Arial"/>
              </a:defRPr>
            </a:pPr>
            <a:r>
              <a:rPr sz="3450" b="1">
                <a:solidFill>
                  <a:srgbClr val="173B50"/>
                </a:solidFill>
                <a:latin typeface="Arial"/>
                <a:ea typeface="Arial"/>
                <a:cs typeface="Arial"/>
              </a:rPr>
              <a:t>Project checks across linked drawings</a:t>
            </a:r>
          </a:p>
        </p:txBody>
      </p:sp>
      <p:sp>
        <p:nvSpPr>
          <p:cNvPr id="4" name="16">
            <a:extLst xmlns:a="http://schemas.openxmlformats.org/drawingml/2006/main">
              <a:ext uri="{FF2B5EF4-FFF2-40B4-BE49-F238E27FC236}">
                <a16:creationId xmlns:a16="http://schemas.microsoft.com/office/drawing/2014/main" id="{8CCA6C3C-3F1A-405C-975B-80F7C1052720}"/>
              </a:ext>
            </a:extLst>
          </p:cNvPr>
          <p:cNvSpPr>
            <a:spLocks xmlns:a="http://schemas.openxmlformats.org/drawingml/2006/main" noGrp="1"/>
          </p:cNvSpPr>
          <p:nvPr/>
        </p:nvSpPr>
        <p:spPr>
          <a:xfrm xmlns:a="http://schemas.openxmlformats.org/drawingml/2006/main">
            <a:off x="11191875"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C7B"/>
                </a:solidFill>
                <a:latin typeface="Arial"/>
                <a:ea typeface="Arial"/>
                <a:cs typeface="Arial"/>
              </a:defRPr>
            </a:defPPr>
          </a:lstStyle>
          <a:p xmlns:a="http://schemas.openxmlformats.org/drawingml/2006/main">
            <a:pPr>
              <a:defRPr sz="1200" b="0">
                <a:solidFill>
                  <a:srgbClr val="516C7B"/>
                </a:solidFill>
                <a:latin typeface="Arial"/>
                <a:ea typeface="Arial"/>
                <a:cs typeface="Arial"/>
              </a:defRPr>
            </a:pPr>
            <a:r>
              <a:rPr sz="1200" b="0">
                <a:solidFill>
                  <a:srgbClr val="516C7B"/>
                </a:solidFill>
                <a:latin typeface="Arial"/>
                <a:ea typeface="Arial"/>
                <a:cs typeface="Arial"/>
              </a:rPr>
              <a:t>16</a:t>
            </a:r>
          </a:p>
        </p:txBody>
      </p:sp>
      <p:pic>
        <p:nvPicPr>
          <p:cNvPr id="5" name="">
            <a:extLst xmlns:a="http://schemas.openxmlformats.org/drawingml/2006/main">
              <a:ext uri="{FF2B5EF4-FFF2-40B4-BE49-F238E27FC236}">
                <a16:creationId xmlns:a16="http://schemas.microsoft.com/office/drawing/2014/main" id="{7A960CBB-F71C-4AA9-BCB9-E8F167028903}"/>
              </a:ext>
            </a:extLst>
          </p:cNvPr>
          <p:cNvPicPr>
            <a:picLocks xmlns:a="http://schemas.openxmlformats.org/drawingml/2006/main" noChangeAspect="1"/>
          </p:cNvPicPr>
          <p:nvPr/>
        </p:nvPicPr>
        <p:blipFill>
          <a:blip xmlns:r="http://schemas.openxmlformats.org/officeDocument/2006/relationships" xmlns:a="http://schemas.openxmlformats.org/drawingml/2006/main" r:embed="R5e3a4b1e3c69498d"/>
          <a:stretch xmlns:a="http://schemas.openxmlformats.org/drawingml/2006/main"/>
        </p:blipFill>
        <p:spPr>
          <a:xfrm xmlns:a="http://schemas.openxmlformats.org/drawingml/2006/main">
            <a:off x="4914900" y="1500188"/>
            <a:ext cx="6667500" cy="4286250"/>
          </a:xfrm>
          <a:prstGeom xmlns:a="http://schemas.openxmlformats.org/drawingml/2006/main" prst="rect">
            <a:avLst/>
          </a:prstGeom>
        </p:spPr>
      </p:pic>
      <p:sp>
        <p:nvSpPr>
          <p:cNvPr id="6" name="Example: a controller,&#10;a sensor and an actuator">
            <a:extLst xmlns:a="http://schemas.openxmlformats.org/drawingml/2006/main">
              <a:ext uri="{FF2B5EF4-FFF2-40B4-BE49-F238E27FC236}">
                <a16:creationId xmlns:a16="http://schemas.microsoft.com/office/drawing/2014/main" id="{8D7C571B-4B96-432E-BD51-FD9E689C25A4}"/>
              </a:ext>
            </a:extLst>
          </p:cNvPr>
          <p:cNvSpPr>
            <a:spLocks xmlns:a="http://schemas.openxmlformats.org/drawingml/2006/main" noGrp="1"/>
          </p:cNvSpPr>
          <p:nvPr/>
        </p:nvSpPr>
        <p:spPr>
          <a:xfrm xmlns:a="http://schemas.openxmlformats.org/drawingml/2006/main">
            <a:off x="609600" y="1628775"/>
            <a:ext cx="38385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73B50"/>
                </a:solidFill>
                <a:latin typeface="Arial"/>
                <a:ea typeface="Arial"/>
                <a:cs typeface="Arial"/>
              </a:defRPr>
            </a:defPPr>
          </a:lstStyle>
          <a:p xmlns:a="http://schemas.openxmlformats.org/drawingml/2006/main">
            <a:pPr>
              <a:defRPr sz="2550" b="1">
                <a:solidFill>
                  <a:srgbClr val="173B50"/>
                </a:solidFill>
                <a:latin typeface="Arial"/>
                <a:ea typeface="Arial"/>
                <a:cs typeface="Arial"/>
              </a:defRPr>
            </a:pPr>
            <a:r>
              <a:rPr sz="2550" b="1">
                <a:solidFill>
                  <a:srgbClr val="173B50"/>
                </a:solidFill>
                <a:latin typeface="Arial"/>
                <a:ea typeface="Arial"/>
                <a:cs typeface="Arial"/>
              </a:rPr>
              <a:t>Example: a controller,</a:t>
            </a:r>
          </a:p>
          <a:p xmlns:a="http://schemas.openxmlformats.org/drawingml/2006/main">
            <a:pPr>
              <a:defRPr sz="2550" b="1">
                <a:solidFill>
                  <a:srgbClr val="173B50"/>
                </a:solidFill>
                <a:latin typeface="Arial"/>
                <a:ea typeface="Arial"/>
                <a:cs typeface="Arial"/>
              </a:defRPr>
            </a:pPr>
            <a:r>
              <a:rPr sz="2550" b="1">
                <a:solidFill>
                  <a:srgbClr val="173B50"/>
                </a:solidFill>
                <a:latin typeface="Arial"/>
                <a:ea typeface="Arial"/>
                <a:cs typeface="Arial"/>
              </a:rPr>
              <a:t>a sensor and an actuator</a:t>
            </a:r>
          </a:p>
        </p:txBody>
      </p:sp>
      <p:sp>
        <p:nvSpPr>
          <p:cNvPr id="7" name="Compare drawing data&#10;with project expectations.&#10;&#10;R">
            <a:extLst xmlns:a="http://schemas.openxmlformats.org/drawingml/2006/main">
              <a:ext uri="{FF2B5EF4-FFF2-40B4-BE49-F238E27FC236}">
                <a16:creationId xmlns:a16="http://schemas.microsoft.com/office/drawing/2014/main" id="{AA0431D6-F239-4EF2-8F33-53A8DD72E435}"/>
              </a:ext>
            </a:extLst>
          </p:cNvPr>
          <p:cNvSpPr>
            <a:spLocks xmlns:a="http://schemas.openxmlformats.org/drawingml/2006/main" noGrp="1"/>
          </p:cNvSpPr>
          <p:nvPr/>
        </p:nvSpPr>
        <p:spPr>
          <a:xfrm xmlns:a="http://schemas.openxmlformats.org/drawingml/2006/main">
            <a:off x="609600" y="2952750"/>
            <a:ext cx="38671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16C7B"/>
                </a:solidFill>
                <a:latin typeface="Arial"/>
                <a:ea typeface="Arial"/>
                <a:cs typeface="Arial"/>
              </a:defRPr>
            </a:defPPr>
          </a:lstStyle>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Compare drawing data</a:t>
            </a:r>
          </a:p>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with project expectations.</a:t>
            </a:r>
          </a:p>
          <a:p xmlns:a="http://schemas.openxmlformats.org/drawingml/2006/main">
            <a:r>
              <a:t/>
            </a:r>
          </a:p>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Review issues by</a:t>
            </a:r>
          </a:p>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connection or drawing.</a:t>
            </a:r>
          </a:p>
          <a:p xmlns:a="http://schemas.openxmlformats.org/drawingml/2006/main">
            <a:r>
              <a:t/>
            </a:r>
          </a:p>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Click a finding to jump</a:t>
            </a:r>
          </a:p>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to its location.</a:t>
            </a:r>
          </a:p>
        </p:txBody>
      </p:sp>
      <p:sp>
        <p:nvSpPr>
          <p:cNvPr id="8" name="Demonstration includes intentionally missing or ou">
            <a:extLst xmlns:a="http://schemas.openxmlformats.org/drawingml/2006/main">
              <a:ext uri="{FF2B5EF4-FFF2-40B4-BE49-F238E27FC236}">
                <a16:creationId xmlns:a16="http://schemas.microsoft.com/office/drawing/2014/main" id="{A5B4AD12-ADBE-434F-998B-A5E0BACC5A89}"/>
              </a:ext>
            </a:extLst>
          </p:cNvPr>
          <p:cNvSpPr>
            <a:spLocks xmlns:a="http://schemas.openxmlformats.org/drawingml/2006/main" noGrp="1"/>
          </p:cNvSpPr>
          <p:nvPr/>
        </p:nvSpPr>
        <p:spPr>
          <a:xfrm xmlns:a="http://schemas.openxmlformats.org/drawingml/2006/main">
            <a:off x="4914900" y="5867400"/>
            <a:ext cx="6619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16C7B"/>
                </a:solidFill>
                <a:latin typeface="Arial"/>
                <a:ea typeface="Arial"/>
                <a:cs typeface="Arial"/>
              </a:defRPr>
            </a:defPPr>
          </a:lstStyle>
          <a:p xmlns:a="http://schemas.openxmlformats.org/drawingml/2006/main">
            <a:pPr>
              <a:defRPr sz="1575" b="0">
                <a:solidFill>
                  <a:srgbClr val="516C7B"/>
                </a:solidFill>
                <a:latin typeface="Arial"/>
                <a:ea typeface="Arial"/>
                <a:cs typeface="Arial"/>
              </a:defRPr>
            </a:pPr>
            <a:r>
              <a:rPr sz="1575" b="0">
                <a:solidFill>
                  <a:srgbClr val="516C7B"/>
                </a:solidFill>
                <a:latin typeface="Arial"/>
                <a:ea typeface="Arial"/>
                <a:cs typeface="Arial"/>
              </a:rPr>
              <a:t>Demonstration includes intentionally missing or outdated data.</a:t>
            </a:r>
          </a:p>
        </p:txBody>
      </p:sp>
    </p:spTree>
    <p:extLst>
      <p:ext uri="{BB962C8B-B14F-4D97-AF65-F5344CB8AC3E}">
        <p14:creationId xmlns:p14="http://schemas.microsoft.com/office/powerpoint/2010/main" val="30803354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F7293582-1F6D-4E7A-AED7-1D911FE5A5CC}"/>
              </a:ext>
            </a:extLst>
          </p:cNvPr>
          <p:cNvPicPr>
            <a:picLocks xmlns:a="http://schemas.openxmlformats.org/drawingml/2006/main" noChangeAspect="1"/>
          </p:cNvPicPr>
          <p:nvPr/>
        </p:nvPicPr>
        <p:blipFill>
          <a:blip xmlns:r="http://schemas.openxmlformats.org/officeDocument/2006/relationships" xmlns:a="http://schemas.openxmlformats.org/drawingml/2006/main" r:embed="R4891fa3844c7405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Light background wash">
            <a:extLst xmlns:a="http://schemas.openxmlformats.org/drawingml/2006/main">
              <a:ext uri="{FF2B5EF4-FFF2-40B4-BE49-F238E27FC236}">
                <a16:creationId xmlns:a16="http://schemas.microsoft.com/office/drawing/2014/main" id="{EC7090E2-0326-40D1-8DF8-96D082CDED5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90000"/>
            </a:srgbClr>
          </a:solidFill>
          <a:ln xmlns:a="http://schemas.openxmlformats.org/drawingml/2006/main" w="0">
            <a:noFill/>
          </a:ln>
        </p:spPr>
      </p:sp>
      <p:sp>
        <p:nvSpPr>
          <p:cNvPr id="3" name="Global harness software across hardware industries">
            <a:extLst xmlns:a="http://schemas.openxmlformats.org/drawingml/2006/main">
              <a:ext uri="{FF2B5EF4-FFF2-40B4-BE49-F238E27FC236}">
                <a16:creationId xmlns:a16="http://schemas.microsoft.com/office/drawing/2014/main" id="{BE3F361B-949C-46CE-935B-18429CBD1F5D}"/>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73B50"/>
                </a:solidFill>
                <a:latin typeface="Arial"/>
                <a:ea typeface="Arial"/>
                <a:cs typeface="Arial"/>
              </a:defRPr>
            </a:defPPr>
          </a:lstStyle>
          <a:p xmlns:a="http://schemas.openxmlformats.org/drawingml/2006/main">
            <a:pPr>
              <a:defRPr sz="3450" b="1">
                <a:solidFill>
                  <a:srgbClr val="173B50"/>
                </a:solidFill>
                <a:latin typeface="Arial"/>
                <a:ea typeface="Arial"/>
                <a:cs typeface="Arial"/>
              </a:defRPr>
            </a:pPr>
            <a:r>
              <a:rPr sz="3450" b="1">
                <a:solidFill>
                  <a:srgbClr val="173B50"/>
                </a:solidFill>
                <a:latin typeface="Arial"/>
                <a:ea typeface="Arial"/>
                <a:cs typeface="Arial"/>
              </a:rPr>
              <a:t>Global harness software across hardware industries</a:t>
            </a:r>
          </a:p>
        </p:txBody>
      </p:sp>
      <p:sp>
        <p:nvSpPr>
          <p:cNvPr id="4" name="17">
            <a:extLst xmlns:a="http://schemas.openxmlformats.org/drawingml/2006/main">
              <a:ext uri="{FF2B5EF4-FFF2-40B4-BE49-F238E27FC236}">
                <a16:creationId xmlns:a16="http://schemas.microsoft.com/office/drawing/2014/main" id="{D7348B4D-D83D-4C0A-BB1D-C2675A0B00E4}"/>
              </a:ext>
            </a:extLst>
          </p:cNvPr>
          <p:cNvSpPr>
            <a:spLocks xmlns:a="http://schemas.openxmlformats.org/drawingml/2006/main" noGrp="1"/>
          </p:cNvSpPr>
          <p:nvPr/>
        </p:nvSpPr>
        <p:spPr>
          <a:xfrm xmlns:a="http://schemas.openxmlformats.org/drawingml/2006/main">
            <a:off x="11191875"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C7B"/>
                </a:solidFill>
                <a:latin typeface="Arial"/>
                <a:ea typeface="Arial"/>
                <a:cs typeface="Arial"/>
              </a:defRPr>
            </a:defPPr>
          </a:lstStyle>
          <a:p xmlns:a="http://schemas.openxmlformats.org/drawingml/2006/main">
            <a:pPr>
              <a:defRPr sz="1200" b="0">
                <a:solidFill>
                  <a:srgbClr val="516C7B"/>
                </a:solidFill>
                <a:latin typeface="Arial"/>
                <a:ea typeface="Arial"/>
                <a:cs typeface="Arial"/>
              </a:defRPr>
            </a:pPr>
            <a:r>
              <a:rPr sz="1200" b="0">
                <a:solidFill>
                  <a:srgbClr val="516C7B"/>
                </a:solidFill>
                <a:latin typeface="Arial"/>
                <a:ea typeface="Arial"/>
                <a:cs typeface="Arial"/>
              </a:rPr>
              <a:t>17</a:t>
            </a:r>
          </a:p>
        </p:txBody>
      </p:sp>
      <p:sp>
        <p:nvSpPr>
          <p:cNvPr id="5" name="2025 publisher estimates differ. Both cover multip">
            <a:extLst xmlns:a="http://schemas.openxmlformats.org/drawingml/2006/main">
              <a:ext uri="{FF2B5EF4-FFF2-40B4-BE49-F238E27FC236}">
                <a16:creationId xmlns:a16="http://schemas.microsoft.com/office/drawing/2014/main" id="{AD349423-B0E2-4931-A74E-3B4DBF8FC34B}"/>
              </a:ext>
            </a:extLst>
          </p:cNvPr>
          <p:cNvSpPr>
            <a:spLocks xmlns:a="http://schemas.openxmlformats.org/drawingml/2006/main" noGrp="1"/>
          </p:cNvSpPr>
          <p:nvPr/>
        </p:nvSpPr>
        <p:spPr>
          <a:xfrm xmlns:a="http://schemas.openxmlformats.org/drawingml/2006/main">
            <a:off x="609600" y="6191250"/>
            <a:ext cx="1019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16C7B"/>
                </a:solidFill>
                <a:latin typeface="Arial"/>
                <a:ea typeface="Arial"/>
                <a:cs typeface="Arial"/>
              </a:defRPr>
            </a:defPPr>
          </a:lstStyle>
          <a:p xmlns:a="http://schemas.openxmlformats.org/drawingml/2006/main">
            <a:pPr>
              <a:defRPr sz="1350" b="0">
                <a:solidFill>
                  <a:srgbClr val="516C7B"/>
                </a:solidFill>
                <a:latin typeface="Arial"/>
                <a:ea typeface="Arial"/>
                <a:cs typeface="Arial"/>
              </a:defRPr>
            </a:pPr>
            <a:r>
              <a:rPr sz="1350" b="0">
                <a:solidFill>
                  <a:srgbClr val="516C7B"/>
                </a:solidFill>
                <a:latin typeface="Arial"/>
                <a:ea typeface="Arial"/>
                <a:cs typeface="Arial"/>
              </a:rPr>
              <a:t>2025 publisher estimates differ. Both cover multiple buyer industries. These figures are not additive.</a:t>
            </a:r>
          </a:p>
        </p:txBody>
      </p:sp>
      <p:sp>
        <p:nvSpPr>
          <p:cNvPr id="6" name="$0.25B–$1.04B">
            <a:extLst xmlns:a="http://schemas.openxmlformats.org/drawingml/2006/main">
              <a:ext uri="{FF2B5EF4-FFF2-40B4-BE49-F238E27FC236}">
                <a16:creationId xmlns:a16="http://schemas.microsoft.com/office/drawing/2014/main" id="{4BB7291A-8024-40B2-9A38-53EAE249640E}"/>
              </a:ext>
            </a:extLst>
          </p:cNvPr>
          <p:cNvSpPr>
            <a:spLocks xmlns:a="http://schemas.openxmlformats.org/drawingml/2006/main" noGrp="1"/>
          </p:cNvSpPr>
          <p:nvPr/>
        </p:nvSpPr>
        <p:spPr>
          <a:xfrm xmlns:a="http://schemas.openxmlformats.org/drawingml/2006/main">
            <a:off x="609600" y="1609725"/>
            <a:ext cx="43815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75" b="1">
                <a:solidFill>
                  <a:srgbClr val="173B50"/>
                </a:solidFill>
                <a:latin typeface="Arial"/>
                <a:ea typeface="Arial"/>
                <a:cs typeface="Arial"/>
              </a:defRPr>
            </a:defPPr>
          </a:lstStyle>
          <a:p xmlns:a="http://schemas.openxmlformats.org/drawingml/2006/main">
            <a:pPr>
              <a:defRPr sz="4275" b="1">
                <a:solidFill>
                  <a:srgbClr val="173B50"/>
                </a:solidFill>
                <a:latin typeface="Arial"/>
                <a:ea typeface="Arial"/>
                <a:cs typeface="Arial"/>
              </a:defRPr>
            </a:pPr>
            <a:r>
              <a:rPr sz="4275" b="1">
                <a:solidFill>
                  <a:srgbClr val="173B50"/>
                </a:solidFill>
                <a:latin typeface="Arial"/>
                <a:ea typeface="Arial"/>
                <a:cs typeface="Arial"/>
              </a:rPr>
              <a:t>$0.25B–$1.04B</a:t>
            </a:r>
          </a:p>
        </p:txBody>
      </p:sp>
      <p:sp>
        <p:nvSpPr>
          <p:cNvPr id="7" name="Published global harness-software estimates for 20">
            <a:extLst xmlns:a="http://schemas.openxmlformats.org/drawingml/2006/main">
              <a:ext uri="{FF2B5EF4-FFF2-40B4-BE49-F238E27FC236}">
                <a16:creationId xmlns:a16="http://schemas.microsoft.com/office/drawing/2014/main" id="{741725D3-F58C-4F82-8973-086917521F3D}"/>
              </a:ext>
            </a:extLst>
          </p:cNvPr>
          <p:cNvSpPr>
            <a:spLocks xmlns:a="http://schemas.openxmlformats.org/drawingml/2006/main" noGrp="1"/>
          </p:cNvSpPr>
          <p:nvPr/>
        </p:nvSpPr>
        <p:spPr>
          <a:xfrm xmlns:a="http://schemas.openxmlformats.org/drawingml/2006/main">
            <a:off x="609600" y="2733675"/>
            <a:ext cx="38004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16C7B"/>
                </a:solidFill>
                <a:latin typeface="Arial"/>
                <a:ea typeface="Arial"/>
                <a:cs typeface="Arial"/>
              </a:defRPr>
            </a:defPPr>
          </a:lstStyle>
          <a:p xmlns:a="http://schemas.openxmlformats.org/drawingml/2006/main">
            <a:pPr>
              <a:defRPr sz="2175" b="0">
                <a:solidFill>
                  <a:srgbClr val="516C7B"/>
                </a:solidFill>
                <a:latin typeface="Arial"/>
                <a:ea typeface="Arial"/>
                <a:cs typeface="Arial"/>
              </a:defRPr>
            </a:pPr>
            <a:r>
              <a:rPr sz="2175" b="0">
                <a:solidFill>
                  <a:srgbClr val="516C7B"/>
                </a:solidFill>
                <a:latin typeface="Arial"/>
                <a:ea typeface="Arial"/>
                <a:cs typeface="Arial"/>
              </a:rPr>
              <a:t>Published global harness-software estimates for 2025</a:t>
            </a:r>
          </a:p>
        </p:txBody>
      </p:sp>
      <p:sp>
        <p:nvSpPr>
          <p:cNvPr id="8" name="Buyers include hardware OEMs, aerospace/defense, m">
            <a:extLst xmlns:a="http://schemas.openxmlformats.org/drawingml/2006/main">
              <a:ext uri="{FF2B5EF4-FFF2-40B4-BE49-F238E27FC236}">
                <a16:creationId xmlns:a16="http://schemas.microsoft.com/office/drawing/2014/main" id="{658B1E6A-7D13-4948-94CD-08C0ADDE3957}"/>
              </a:ext>
            </a:extLst>
          </p:cNvPr>
          <p:cNvSpPr>
            <a:spLocks xmlns:a="http://schemas.openxmlformats.org/drawingml/2006/main" noGrp="1"/>
          </p:cNvSpPr>
          <p:nvPr/>
        </p:nvSpPr>
        <p:spPr>
          <a:xfrm xmlns:a="http://schemas.openxmlformats.org/drawingml/2006/main">
            <a:off x="609600" y="4114800"/>
            <a:ext cx="38100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16C7B"/>
                </a:solidFill>
                <a:latin typeface="Arial"/>
                <a:ea typeface="Arial"/>
                <a:cs typeface="Arial"/>
              </a:defRPr>
            </a:defPPr>
          </a:lstStyle>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Buyers include hardware OEMs, aerospace/defense, machinery and system engineering teams.</a:t>
            </a:r>
          </a:p>
        </p:txBody>
      </p:sp>
      <p:graphicFrame>
        <p:nvGraphicFramePr>
          <p:cNvPr id="9" name="Chart">
            <a:extLst xmlns:a="http://schemas.openxmlformats.org/drawingml/2006/main">
              <a:ext uri="{FF2B5EF4-FFF2-40B4-BE49-F238E27FC236}">
                <a16:creationId xmlns:a16="http://schemas.microsoft.com/office/drawing/2014/main" id="{BBA0D5E8-C7BD-474D-B47F-067D91E37099}"/>
              </a:ext>
            </a:extLst>
          </p:cNvPr>
          <p:cNvGraphicFramePr/>
          <p:nvPr/>
        </p:nvGraphicFramePr>
        <p:xfrm>
          <a:off xmlns:a="http://schemas.openxmlformats.org/drawingml/2006/main" x="4762500" y="1647825"/>
          <a:ext xmlns:a="http://schemas.openxmlformats.org/drawingml/2006/main" cx="6810375" cy="4010025"/>
        </p:xfrm>
        <a:graphic xmlns:a="http://schemas.openxmlformats.org/drawingml/2006/main">
          <a:graphicData uri="http://schemas.openxmlformats.org/drawingml/2006/chart">
            <c:chart xmlns:r="http://schemas.openxmlformats.org/officeDocument/2006/relationships" xmlns:c="http://schemas.openxmlformats.org/drawingml/2006/chart" r:id="Rd1246feec9c648a6"/>
          </a:graphicData>
        </a:graphic>
      </p:graphicFrame>
      <p:sp>
        <p:nvSpPr>
          <p:cNvPr id="10" name="USD millions">
            <a:extLst xmlns:a="http://schemas.openxmlformats.org/drawingml/2006/main">
              <a:ext uri="{FF2B5EF4-FFF2-40B4-BE49-F238E27FC236}">
                <a16:creationId xmlns:a16="http://schemas.microsoft.com/office/drawing/2014/main" id="{57D36616-6007-49AE-A111-C680452BFFD2}"/>
              </a:ext>
            </a:extLst>
          </p:cNvPr>
          <p:cNvSpPr>
            <a:spLocks xmlns:a="http://schemas.openxmlformats.org/drawingml/2006/main" noGrp="1"/>
          </p:cNvSpPr>
          <p:nvPr/>
        </p:nvSpPr>
        <p:spPr>
          <a:xfrm xmlns:a="http://schemas.openxmlformats.org/drawingml/2006/main">
            <a:off x="4933950" y="573405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16C7B"/>
                </a:solidFill>
                <a:latin typeface="Arial"/>
                <a:ea typeface="Arial"/>
                <a:cs typeface="Arial"/>
              </a:defRPr>
            </a:defPPr>
          </a:lstStyle>
          <a:p xmlns:a="http://schemas.openxmlformats.org/drawingml/2006/main">
            <a:pPr>
              <a:defRPr sz="1575" b="0">
                <a:solidFill>
                  <a:srgbClr val="516C7B"/>
                </a:solidFill>
                <a:latin typeface="Arial"/>
                <a:ea typeface="Arial"/>
                <a:cs typeface="Arial"/>
              </a:defRPr>
            </a:pPr>
            <a:r>
              <a:rPr sz="1575" b="0">
                <a:solidFill>
                  <a:srgbClr val="516C7B"/>
                </a:solidFill>
                <a:latin typeface="Arial"/>
                <a:ea typeface="Arial"/>
                <a:cs typeface="Arial"/>
              </a:rPr>
              <a:t>USD millions</a:t>
            </a:r>
          </a:p>
        </p:txBody>
      </p:sp>
    </p:spTree>
    <p:extLst>
      <p:ext uri="{BB962C8B-B14F-4D97-AF65-F5344CB8AC3E}">
        <p14:creationId xmlns:p14="http://schemas.microsoft.com/office/powerpoint/2010/main" val="162550015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4E4E246A-8298-4EC5-8CBF-1C30252B20FB}"/>
              </a:ext>
            </a:extLst>
          </p:cNvPr>
          <p:cNvPicPr>
            <a:picLocks xmlns:a="http://schemas.openxmlformats.org/drawingml/2006/main" noChangeAspect="1"/>
          </p:cNvPicPr>
          <p:nvPr/>
        </p:nvPicPr>
        <p:blipFill>
          <a:blip xmlns:r="http://schemas.openxmlformats.org/officeDocument/2006/relationships" xmlns:a="http://schemas.openxmlformats.org/drawingml/2006/main" r:embed="R0ca357f4604a46d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Light background wash">
            <a:extLst xmlns:a="http://schemas.openxmlformats.org/drawingml/2006/main">
              <a:ext uri="{FF2B5EF4-FFF2-40B4-BE49-F238E27FC236}">
                <a16:creationId xmlns:a16="http://schemas.microsoft.com/office/drawing/2014/main" id="{6E9A9B47-20DF-467B-A57D-21377B9ACFE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90000"/>
            </a:srgbClr>
          </a:solidFill>
          <a:ln xmlns:a="http://schemas.openxmlformats.org/drawingml/2006/main" w="0">
            <a:noFill/>
          </a:ln>
        </p:spPr>
      </p:sp>
      <p:sp>
        <p:nvSpPr>
          <p:cNvPr id="3" name="The broader electrical-design ecosystem">
            <a:extLst xmlns:a="http://schemas.openxmlformats.org/drawingml/2006/main">
              <a:ext uri="{FF2B5EF4-FFF2-40B4-BE49-F238E27FC236}">
                <a16:creationId xmlns:a16="http://schemas.microsoft.com/office/drawing/2014/main" id="{D004DFFE-7731-4CC3-BBBA-96E5B559F2CB}"/>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73B50"/>
                </a:solidFill>
                <a:latin typeface="Arial"/>
                <a:ea typeface="Arial"/>
                <a:cs typeface="Arial"/>
              </a:defRPr>
            </a:defPPr>
          </a:lstStyle>
          <a:p xmlns:a="http://schemas.openxmlformats.org/drawingml/2006/main">
            <a:pPr>
              <a:defRPr sz="3450" b="1">
                <a:solidFill>
                  <a:srgbClr val="173B50"/>
                </a:solidFill>
                <a:latin typeface="Arial"/>
                <a:ea typeface="Arial"/>
                <a:cs typeface="Arial"/>
              </a:defRPr>
            </a:pPr>
            <a:r>
              <a:rPr sz="3450" b="1">
                <a:solidFill>
                  <a:srgbClr val="173B50"/>
                </a:solidFill>
                <a:latin typeface="Arial"/>
                <a:ea typeface="Arial"/>
                <a:cs typeface="Arial"/>
              </a:rPr>
              <a:t>The broader electrical-design ecosystem</a:t>
            </a:r>
          </a:p>
        </p:txBody>
      </p:sp>
      <p:sp>
        <p:nvSpPr>
          <p:cNvPr id="4" name="18">
            <a:extLst xmlns:a="http://schemas.openxmlformats.org/drawingml/2006/main">
              <a:ext uri="{FF2B5EF4-FFF2-40B4-BE49-F238E27FC236}">
                <a16:creationId xmlns:a16="http://schemas.microsoft.com/office/drawing/2014/main" id="{6DAFF0EB-B780-4970-B35B-850CBC7BB477}"/>
              </a:ext>
            </a:extLst>
          </p:cNvPr>
          <p:cNvSpPr>
            <a:spLocks xmlns:a="http://schemas.openxmlformats.org/drawingml/2006/main" noGrp="1"/>
          </p:cNvSpPr>
          <p:nvPr/>
        </p:nvSpPr>
        <p:spPr>
          <a:xfrm xmlns:a="http://schemas.openxmlformats.org/drawingml/2006/main">
            <a:off x="11191875"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C7B"/>
                </a:solidFill>
                <a:latin typeface="Arial"/>
                <a:ea typeface="Arial"/>
                <a:cs typeface="Arial"/>
              </a:defRPr>
            </a:defPPr>
          </a:lstStyle>
          <a:p xmlns:a="http://schemas.openxmlformats.org/drawingml/2006/main">
            <a:pPr>
              <a:defRPr sz="1200" b="0">
                <a:solidFill>
                  <a:srgbClr val="516C7B"/>
                </a:solidFill>
                <a:latin typeface="Arial"/>
                <a:ea typeface="Arial"/>
                <a:cs typeface="Arial"/>
              </a:defRPr>
            </a:pPr>
            <a:r>
              <a:rPr sz="1200" b="0">
                <a:solidFill>
                  <a:srgbClr val="516C7B"/>
                </a:solidFill>
                <a:latin typeface="Arial"/>
                <a:ea typeface="Arial"/>
                <a:cs typeface="Arial"/>
              </a:rPr>
              <a:t>18</a:t>
            </a:r>
          </a:p>
        </p:txBody>
      </p:sp>
      <p:sp>
        <p:nvSpPr>
          <p:cNvPr id="5" name="Broad ECAD context includes PCB tools and services">
            <a:extLst xmlns:a="http://schemas.openxmlformats.org/drawingml/2006/main">
              <a:ext uri="{FF2B5EF4-FFF2-40B4-BE49-F238E27FC236}">
                <a16:creationId xmlns:a16="http://schemas.microsoft.com/office/drawing/2014/main" id="{7D40CA16-E7EF-4B77-8515-4B26D50736FA}"/>
              </a:ext>
            </a:extLst>
          </p:cNvPr>
          <p:cNvSpPr>
            <a:spLocks xmlns:a="http://schemas.openxmlformats.org/drawingml/2006/main" noGrp="1"/>
          </p:cNvSpPr>
          <p:nvPr/>
        </p:nvSpPr>
        <p:spPr>
          <a:xfrm xmlns:a="http://schemas.openxmlformats.org/drawingml/2006/main">
            <a:off x="609600" y="6191250"/>
            <a:ext cx="1019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16C7B"/>
                </a:solidFill>
                <a:latin typeface="Arial"/>
                <a:ea typeface="Arial"/>
                <a:cs typeface="Arial"/>
              </a:defRPr>
            </a:defPPr>
          </a:lstStyle>
          <a:p xmlns:a="http://schemas.openxmlformats.org/drawingml/2006/main">
            <a:pPr>
              <a:defRPr sz="1350" b="0">
                <a:solidFill>
                  <a:srgbClr val="516C7B"/>
                </a:solidFill>
                <a:latin typeface="Arial"/>
                <a:ea typeface="Arial"/>
                <a:cs typeface="Arial"/>
              </a:defRPr>
            </a:pPr>
            <a:r>
              <a:rPr sz="1350" b="0">
                <a:solidFill>
                  <a:srgbClr val="516C7B"/>
                </a:solidFill>
                <a:latin typeface="Arial"/>
                <a:ea typeface="Arial"/>
                <a:cs typeface="Arial"/>
              </a:rPr>
              <a:t>Broad ECAD context includes PCB tools and services beyond this app. It is not the current serviceable market.</a:t>
            </a:r>
          </a:p>
        </p:txBody>
      </p:sp>
      <p:sp>
        <p:nvSpPr>
          <p:cNvPr id="6" name="$9.81B">
            <a:extLst xmlns:a="http://schemas.openxmlformats.org/drawingml/2006/main">
              <a:ext uri="{FF2B5EF4-FFF2-40B4-BE49-F238E27FC236}">
                <a16:creationId xmlns:a16="http://schemas.microsoft.com/office/drawing/2014/main" id="{47777164-4DE1-42AF-A0C0-0F12C72ACABA}"/>
              </a:ext>
            </a:extLst>
          </p:cNvPr>
          <p:cNvSpPr>
            <a:spLocks xmlns:a="http://schemas.openxmlformats.org/drawingml/2006/main" noGrp="1"/>
          </p:cNvSpPr>
          <p:nvPr/>
        </p:nvSpPr>
        <p:spPr>
          <a:xfrm xmlns:a="http://schemas.openxmlformats.org/drawingml/2006/main">
            <a:off x="609600" y="1609725"/>
            <a:ext cx="3857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950" b="1">
                <a:solidFill>
                  <a:srgbClr val="173B50"/>
                </a:solidFill>
                <a:latin typeface="Arial"/>
                <a:ea typeface="Arial"/>
                <a:cs typeface="Arial"/>
              </a:defRPr>
            </a:defPPr>
          </a:lstStyle>
          <a:p xmlns:a="http://schemas.openxmlformats.org/drawingml/2006/main">
            <a:pPr>
              <a:defRPr sz="4950" b="1">
                <a:solidFill>
                  <a:srgbClr val="173B50"/>
                </a:solidFill>
                <a:latin typeface="Arial"/>
                <a:ea typeface="Arial"/>
                <a:cs typeface="Arial"/>
              </a:defRPr>
            </a:pPr>
            <a:r>
              <a:rPr sz="4950" b="1">
                <a:solidFill>
                  <a:srgbClr val="173B50"/>
                </a:solidFill>
                <a:latin typeface="Arial"/>
                <a:ea typeface="Arial"/>
                <a:cs typeface="Arial"/>
              </a:rPr>
              <a:t>$9.81B</a:t>
            </a:r>
          </a:p>
        </p:txBody>
      </p:sp>
      <p:sp>
        <p:nvSpPr>
          <p:cNvPr id="7" name="Estimated global ECAD ecosystem in 2025">
            <a:extLst xmlns:a="http://schemas.openxmlformats.org/drawingml/2006/main">
              <a:ext uri="{FF2B5EF4-FFF2-40B4-BE49-F238E27FC236}">
                <a16:creationId xmlns:a16="http://schemas.microsoft.com/office/drawing/2014/main" id="{5FA94729-6FB2-40A9-927B-23CC95C827EE}"/>
              </a:ext>
            </a:extLst>
          </p:cNvPr>
          <p:cNvSpPr>
            <a:spLocks xmlns:a="http://schemas.openxmlformats.org/drawingml/2006/main" noGrp="1"/>
          </p:cNvSpPr>
          <p:nvPr/>
        </p:nvSpPr>
        <p:spPr>
          <a:xfrm xmlns:a="http://schemas.openxmlformats.org/drawingml/2006/main">
            <a:off x="609600" y="2667000"/>
            <a:ext cx="37433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16C7B"/>
                </a:solidFill>
                <a:latin typeface="Arial"/>
                <a:ea typeface="Arial"/>
                <a:cs typeface="Arial"/>
              </a:defRPr>
            </a:defPPr>
          </a:lstStyle>
          <a:p xmlns:a="http://schemas.openxmlformats.org/drawingml/2006/main">
            <a:pPr>
              <a:defRPr sz="2175" b="0">
                <a:solidFill>
                  <a:srgbClr val="516C7B"/>
                </a:solidFill>
                <a:latin typeface="Arial"/>
                <a:ea typeface="Arial"/>
                <a:cs typeface="Arial"/>
              </a:defRPr>
            </a:pPr>
            <a:r>
              <a:rPr sz="2175" b="0">
                <a:solidFill>
                  <a:srgbClr val="516C7B"/>
                </a:solidFill>
                <a:latin typeface="Arial"/>
                <a:ea typeface="Arial"/>
                <a:cs typeface="Arial"/>
              </a:rPr>
              <a:t>Estimated global ECAD ecosystem in 2025</a:t>
            </a:r>
          </a:p>
        </p:txBody>
      </p:sp>
      <p:sp>
        <p:nvSpPr>
          <p:cNvPr id="8" name="Harness design is the starting scope. Cabinet wiri">
            <a:extLst xmlns:a="http://schemas.openxmlformats.org/drawingml/2006/main">
              <a:ext uri="{FF2B5EF4-FFF2-40B4-BE49-F238E27FC236}">
                <a16:creationId xmlns:a16="http://schemas.microsoft.com/office/drawing/2014/main" id="{B4CE28CA-C17F-4249-AA72-8DBA0CD66419}"/>
              </a:ext>
            </a:extLst>
          </p:cNvPr>
          <p:cNvSpPr>
            <a:spLocks xmlns:a="http://schemas.openxmlformats.org/drawingml/2006/main" noGrp="1"/>
          </p:cNvSpPr>
          <p:nvPr/>
        </p:nvSpPr>
        <p:spPr>
          <a:xfrm xmlns:a="http://schemas.openxmlformats.org/drawingml/2006/main">
            <a:off x="609600" y="3829050"/>
            <a:ext cx="380047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16C7B"/>
                </a:solidFill>
                <a:latin typeface="Arial"/>
                <a:ea typeface="Arial"/>
                <a:cs typeface="Arial"/>
              </a:defRPr>
            </a:defPPr>
          </a:lstStyle>
          <a:p xmlns:a="http://schemas.openxmlformats.org/drawingml/2006/main">
            <a:pPr>
              <a:defRPr sz="2100" b="0">
                <a:solidFill>
                  <a:srgbClr val="516C7B"/>
                </a:solidFill>
                <a:latin typeface="Arial"/>
                <a:ea typeface="Arial"/>
                <a:cs typeface="Arial"/>
              </a:defRPr>
            </a:pPr>
            <a:r>
              <a:rPr sz="2100" b="0">
                <a:solidFill>
                  <a:srgbClr val="516C7B"/>
                </a:solidFill>
                <a:latin typeface="Arial"/>
                <a:ea typeface="Arial"/>
                <a:cs typeface="Arial"/>
              </a:rPr>
              <a:t>Harness design is the starting scope. Cabinet wiring expands the roadmap into electrical system engineering.</a:t>
            </a:r>
          </a:p>
        </p:txBody>
      </p:sp>
      <p:graphicFrame>
        <p:nvGraphicFramePr>
          <p:cNvPr id="9" name="Chart">
            <a:extLst xmlns:a="http://schemas.openxmlformats.org/drawingml/2006/main">
              <a:ext uri="{FF2B5EF4-FFF2-40B4-BE49-F238E27FC236}">
                <a16:creationId xmlns:a16="http://schemas.microsoft.com/office/drawing/2014/main" id="{53FEC42A-8412-4F79-8EB2-91618EFAF460}"/>
              </a:ext>
            </a:extLst>
          </p:cNvPr>
          <p:cNvGraphicFramePr/>
          <p:nvPr/>
        </p:nvGraphicFramePr>
        <p:xfrm>
          <a:off xmlns:a="http://schemas.openxmlformats.org/drawingml/2006/main" x="4762500" y="1647825"/>
          <a:ext xmlns:a="http://schemas.openxmlformats.org/drawingml/2006/main" cx="6810375" cy="4010025"/>
        </p:xfrm>
        <a:graphic xmlns:a="http://schemas.openxmlformats.org/drawingml/2006/main">
          <a:graphicData uri="http://schemas.openxmlformats.org/drawingml/2006/chart">
            <c:chart xmlns:r="http://schemas.openxmlformats.org/officeDocument/2006/relationships" xmlns:c="http://schemas.openxmlformats.org/drawingml/2006/chart" r:id="R16f52cc417194a7a"/>
          </a:graphicData>
        </a:graphic>
      </p:graphicFrame>
      <p:sp>
        <p:nvSpPr>
          <p:cNvPr id="10" name="USD billions">
            <a:extLst xmlns:a="http://schemas.openxmlformats.org/drawingml/2006/main">
              <a:ext uri="{FF2B5EF4-FFF2-40B4-BE49-F238E27FC236}">
                <a16:creationId xmlns:a16="http://schemas.microsoft.com/office/drawing/2014/main" id="{DF257AFF-F23C-4312-A737-149E51ADE47A}"/>
              </a:ext>
            </a:extLst>
          </p:cNvPr>
          <p:cNvSpPr>
            <a:spLocks xmlns:a="http://schemas.openxmlformats.org/drawingml/2006/main" noGrp="1"/>
          </p:cNvSpPr>
          <p:nvPr/>
        </p:nvSpPr>
        <p:spPr>
          <a:xfrm xmlns:a="http://schemas.openxmlformats.org/drawingml/2006/main">
            <a:off x="4933950" y="573405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16C7B"/>
                </a:solidFill>
                <a:latin typeface="Arial"/>
                <a:ea typeface="Arial"/>
                <a:cs typeface="Arial"/>
              </a:defRPr>
            </a:defPPr>
          </a:lstStyle>
          <a:p xmlns:a="http://schemas.openxmlformats.org/drawingml/2006/main">
            <a:pPr>
              <a:defRPr sz="1575" b="0">
                <a:solidFill>
                  <a:srgbClr val="516C7B"/>
                </a:solidFill>
                <a:latin typeface="Arial"/>
                <a:ea typeface="Arial"/>
                <a:cs typeface="Arial"/>
              </a:defRPr>
            </a:pPr>
            <a:r>
              <a:rPr sz="1575" b="0">
                <a:solidFill>
                  <a:srgbClr val="516C7B"/>
                </a:solidFill>
                <a:latin typeface="Arial"/>
                <a:ea typeface="Arial"/>
                <a:cs typeface="Arial"/>
              </a:rPr>
              <a:t>USD billions</a:t>
            </a:r>
          </a:p>
        </p:txBody>
      </p:sp>
    </p:spTree>
    <p:extLst>
      <p:ext uri="{BB962C8B-B14F-4D97-AF65-F5344CB8AC3E}">
        <p14:creationId xmlns:p14="http://schemas.microsoft.com/office/powerpoint/2010/main" val="124487537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E53A5433-2718-4AB0-9501-F0BC519321BE}"/>
              </a:ext>
            </a:extLst>
          </p:cNvPr>
          <p:cNvPicPr>
            <a:picLocks xmlns:a="http://schemas.openxmlformats.org/drawingml/2006/main" noChangeAspect="1"/>
          </p:cNvPicPr>
          <p:nvPr/>
        </p:nvPicPr>
        <p:blipFill>
          <a:blip xmlns:r="http://schemas.openxmlformats.org/officeDocument/2006/relationships" xmlns:a="http://schemas.openxmlformats.org/drawingml/2006/main" r:embed="R8d3eb40a99b4434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Light background wash">
            <a:extLst xmlns:a="http://schemas.openxmlformats.org/drawingml/2006/main">
              <a:ext uri="{FF2B5EF4-FFF2-40B4-BE49-F238E27FC236}">
                <a16:creationId xmlns:a16="http://schemas.microsoft.com/office/drawing/2014/main" id="{8C33D01D-858D-440A-8FA8-15F69BAD2AC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90000"/>
            </a:srgbClr>
          </a:solidFill>
          <a:ln xmlns:a="http://schemas.openxmlformats.org/drawingml/2006/main" w="0">
            <a:noFill/>
          </a:ln>
        </p:spPr>
      </p:sp>
      <p:sp>
        <p:nvSpPr>
          <p:cNvPr id="3" name="Worldwide company landscape">
            <a:extLst xmlns:a="http://schemas.openxmlformats.org/drawingml/2006/main">
              <a:ext uri="{FF2B5EF4-FFF2-40B4-BE49-F238E27FC236}">
                <a16:creationId xmlns:a16="http://schemas.microsoft.com/office/drawing/2014/main" id="{B4C15467-1F52-4D79-AF87-8F56432B8094}"/>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73B50"/>
                </a:solidFill>
                <a:latin typeface="Arial"/>
                <a:ea typeface="Arial"/>
                <a:cs typeface="Arial"/>
              </a:defRPr>
            </a:defPPr>
          </a:lstStyle>
          <a:p xmlns:a="http://schemas.openxmlformats.org/drawingml/2006/main">
            <a:pPr>
              <a:defRPr sz="3450" b="1">
                <a:solidFill>
                  <a:srgbClr val="173B50"/>
                </a:solidFill>
                <a:latin typeface="Arial"/>
                <a:ea typeface="Arial"/>
                <a:cs typeface="Arial"/>
              </a:defRPr>
            </a:pPr>
            <a:r>
              <a:rPr sz="3450" b="1">
                <a:solidFill>
                  <a:srgbClr val="173B50"/>
                </a:solidFill>
                <a:latin typeface="Arial"/>
                <a:ea typeface="Arial"/>
                <a:cs typeface="Arial"/>
              </a:rPr>
              <a:t>Worldwide company landscape</a:t>
            </a:r>
          </a:p>
        </p:txBody>
      </p:sp>
      <p:sp>
        <p:nvSpPr>
          <p:cNvPr id="4" name="19">
            <a:extLst xmlns:a="http://schemas.openxmlformats.org/drawingml/2006/main">
              <a:ext uri="{FF2B5EF4-FFF2-40B4-BE49-F238E27FC236}">
                <a16:creationId xmlns:a16="http://schemas.microsoft.com/office/drawing/2014/main" id="{31B54E1F-36E6-4BC4-9591-7FEFBE290023}"/>
              </a:ext>
            </a:extLst>
          </p:cNvPr>
          <p:cNvSpPr>
            <a:spLocks xmlns:a="http://schemas.openxmlformats.org/drawingml/2006/main" noGrp="1"/>
          </p:cNvSpPr>
          <p:nvPr/>
        </p:nvSpPr>
        <p:spPr>
          <a:xfrm xmlns:a="http://schemas.openxmlformats.org/drawingml/2006/main">
            <a:off x="11191875"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C7B"/>
                </a:solidFill>
                <a:latin typeface="Arial"/>
                <a:ea typeface="Arial"/>
                <a:cs typeface="Arial"/>
              </a:defRPr>
            </a:defPPr>
          </a:lstStyle>
          <a:p xmlns:a="http://schemas.openxmlformats.org/drawingml/2006/main">
            <a:pPr>
              <a:defRPr sz="1200" b="0">
                <a:solidFill>
                  <a:srgbClr val="516C7B"/>
                </a:solidFill>
                <a:latin typeface="Arial"/>
                <a:ea typeface="Arial"/>
                <a:cs typeface="Arial"/>
              </a:defRPr>
            </a:pPr>
            <a:r>
              <a:rPr sz="1200" b="0">
                <a:solidFill>
                  <a:srgbClr val="516C7B"/>
                </a:solidFill>
                <a:latin typeface="Arial"/>
                <a:ea typeface="Arial"/>
                <a:cs typeface="Arial"/>
              </a:rPr>
              <a:t>19</a:t>
            </a:r>
          </a:p>
        </p:txBody>
      </p:sp>
      <p:sp>
        <p:nvSpPr>
          <p:cNvPr id="5" name="These overlapping industry counts describe one seg">
            <a:extLst xmlns:a="http://schemas.openxmlformats.org/drawingml/2006/main">
              <a:ext uri="{FF2B5EF4-FFF2-40B4-BE49-F238E27FC236}">
                <a16:creationId xmlns:a16="http://schemas.microsoft.com/office/drawing/2014/main" id="{8CC32320-F335-4148-8E90-883C19702403}"/>
              </a:ext>
            </a:extLst>
          </p:cNvPr>
          <p:cNvSpPr>
            <a:spLocks xmlns:a="http://schemas.openxmlformats.org/drawingml/2006/main" noGrp="1"/>
          </p:cNvSpPr>
          <p:nvPr/>
        </p:nvSpPr>
        <p:spPr>
          <a:xfrm xmlns:a="http://schemas.openxmlformats.org/drawingml/2006/main">
            <a:off x="609600" y="6191250"/>
            <a:ext cx="1019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16C7B"/>
                </a:solidFill>
                <a:latin typeface="Arial"/>
                <a:ea typeface="Arial"/>
                <a:cs typeface="Arial"/>
              </a:defRPr>
            </a:defPPr>
          </a:lstStyle>
          <a:p xmlns:a="http://schemas.openxmlformats.org/drawingml/2006/main">
            <a:pPr>
              <a:defRPr sz="1350" b="0">
                <a:solidFill>
                  <a:srgbClr val="516C7B"/>
                </a:solidFill>
                <a:latin typeface="Arial"/>
                <a:ea typeface="Arial"/>
                <a:cs typeface="Arial"/>
              </a:defRPr>
            </a:pPr>
            <a:r>
              <a:rPr sz="1350" b="0">
                <a:solidFill>
                  <a:srgbClr val="516C7B"/>
                </a:solidFill>
                <a:latin typeface="Arial"/>
                <a:ea typeface="Arial"/>
                <a:cs typeface="Arial"/>
              </a:rPr>
              <a:t>These overlapping industry counts describe one segment, not the complete software customer base.</a:t>
            </a:r>
          </a:p>
        </p:txBody>
      </p:sp>
      <p:graphicFrame>
        <p:nvGraphicFramePr>
          <p:cNvPr id="6" name="">
            <a:extLst xmlns:a="http://schemas.openxmlformats.org/drawingml/2006/main">
              <a:ext uri="{FF2B5EF4-FFF2-40B4-BE49-F238E27FC236}">
                <a16:creationId xmlns:a16="http://schemas.microsoft.com/office/drawing/2014/main" id="{593FB569-2F6B-482A-97B8-53C8AE2B3554}"/>
              </a:ext>
            </a:extLst>
          </p:cNvPr>
          <p:cNvGraphicFramePr/>
          <p:nvPr/>
        </p:nvGraphicFramePr>
        <p:xfrm>
          <a:off xmlns:a="http://schemas.openxmlformats.org/drawingml/2006/main" x="609600" y="1600200"/>
          <a:ext xmlns:a="http://schemas.openxmlformats.org/drawingml/2006/main" cx="10972800" cy="2762250"/>
        </p:xfrm>
        <a:graphic xmlns:a="http://schemas.openxmlformats.org/drawingml/2006/main">
          <a:graphicData uri="http://schemas.openxmlformats.org/drawingml/2006/table">
            <a:tbl>
              <a:tblPr/>
              <a:tblGrid>
                <a:gridCol w="4181475"/>
                <a:gridCol w="2428875"/>
                <a:gridCol w="4362450"/>
              </a:tblGrid>
              <a:tr h="690563">
                <a:tc>
                  <a:txBody>
                    <a:bodyPr lIns="114300" tIns="114300" rIns="114300" bIns="114300">
                      <a:noAutofit/>
                    </a:bodyPr>
                    <a:lstStyle/>
                    <a:p>
                      <a:r>
                        <a:rPr sz="1950" b="1">
                          <a:solidFill>
                            <a:srgbClr val="173B50"/>
                          </a:solidFill>
                          <a:latin typeface="Arial"/>
                          <a:ea typeface="Arial"/>
                          <a:cs typeface="Arial"/>
                        </a:rPr>
                        <a:t>Population</a:t>
                      </a:r>
                    </a:p>
                  </a:txBody>
                  <a:tcPr marL="76200" marR="76200" marT="28575" marB="28575" anchor="ctr">
                    <a:solidFill>
                      <a:srgbClr val="E3EFF3"/>
                    </a:solidFill>
                  </a:tcPr>
                </a:tc>
                <a:tc>
                  <a:txBody>
                    <a:bodyPr lIns="114300" tIns="114300" rIns="114300" bIns="114300">
                      <a:noAutofit/>
                    </a:bodyPr>
                    <a:lstStyle/>
                    <a:p>
                      <a:r>
                        <a:rPr sz="1950" b="1">
                          <a:solidFill>
                            <a:srgbClr val="173B50"/>
                          </a:solidFill>
                          <a:latin typeface="Arial"/>
                          <a:ea typeface="Arial"/>
                          <a:cs typeface="Arial"/>
                        </a:rPr>
                        <a:t>Published count</a:t>
                      </a:r>
                    </a:p>
                  </a:txBody>
                  <a:tcPr marL="76200" marR="76200" marT="28575" marB="28575" anchor="ctr">
                    <a:solidFill>
                      <a:srgbClr val="E3EFF3"/>
                    </a:solidFill>
                  </a:tcPr>
                </a:tc>
                <a:tc>
                  <a:txBody>
                    <a:bodyPr lIns="114300" tIns="114300" rIns="114300" bIns="114300">
                      <a:noAutofit/>
                    </a:bodyPr>
                    <a:lstStyle/>
                    <a:p>
                      <a:r>
                        <a:rPr sz="1950" b="1">
                          <a:solidFill>
                            <a:srgbClr val="173B50"/>
                          </a:solidFill>
                          <a:latin typeface="Arial"/>
                          <a:ea typeface="Arial"/>
                          <a:cs typeface="Arial"/>
                        </a:rPr>
                        <a:t>How to use it</a:t>
                      </a:r>
                    </a:p>
                  </a:txBody>
                  <a:tcPr marL="76200" marR="76200" marT="28575" marB="28575" anchor="ctr">
                    <a:solidFill>
                      <a:srgbClr val="E3EFF3"/>
                    </a:solidFill>
                  </a:tcPr>
                </a:tc>
              </a:tr>
              <a:tr h="690563">
                <a:tc>
                  <a:txBody>
                    <a:bodyPr lIns="114300" tIns="114300" rIns="114300" bIns="114300">
                      <a:noAutofit/>
                    </a:bodyPr>
                    <a:lstStyle/>
                    <a:p>
                      <a:r>
                        <a:rPr sz="1950" b="0">
                          <a:solidFill>
                            <a:srgbClr val="173B50"/>
                          </a:solidFill>
                          <a:latin typeface="Arial"/>
                          <a:ea typeface="Arial"/>
                          <a:cs typeface="Arial"/>
                        </a:rPr>
                        <a:t>Wire harness manufacturers</a:t>
                      </a:r>
                    </a:p>
                  </a:txBody>
                  <a:tcPr marL="76200" marR="76200" marT="28575" marB="28575" anchor="ctr">
                    <a:solidFill>
                      <a:srgbClr val="FFFFFF"/>
                    </a:solidFill>
                  </a:tcPr>
                </a:tc>
                <a:tc>
                  <a:txBody>
                    <a:bodyPr lIns="114300" tIns="114300" rIns="114300" bIns="114300">
                      <a:noAutofit/>
                    </a:bodyPr>
                    <a:lstStyle/>
                    <a:p>
                      <a:r>
                        <a:rPr sz="1950" b="0">
                          <a:solidFill>
                            <a:srgbClr val="173B50"/>
                          </a:solidFill>
                          <a:latin typeface="Arial"/>
                          <a:ea typeface="Arial"/>
                          <a:cs typeface="Arial"/>
                        </a:rPr>
                        <a:t>1,363 companies</a:t>
                      </a:r>
                    </a:p>
                  </a:txBody>
                  <a:tcPr marL="76200" marR="76200" marT="28575" marB="28575" anchor="ctr">
                    <a:solidFill>
                      <a:srgbClr val="FFFFFF"/>
                    </a:solidFill>
                  </a:tcPr>
                </a:tc>
                <a:tc>
                  <a:txBody>
                    <a:bodyPr lIns="114300" tIns="114300" rIns="114300" bIns="114300">
                      <a:noAutofit/>
                    </a:bodyPr>
                    <a:lstStyle/>
                    <a:p>
                      <a:r>
                        <a:rPr sz="1950" b="0">
                          <a:solidFill>
                            <a:srgbClr val="173B50"/>
                          </a:solidFill>
                          <a:latin typeface="Arial"/>
                          <a:ea typeface="Arial"/>
                          <a:cs typeface="Arial"/>
                        </a:rPr>
                        <a:t>Focused prospecting proxy</a:t>
                      </a:r>
                    </a:p>
                  </a:txBody>
                  <a:tcPr marL="76200" marR="76200" marT="28575" marB="28575" anchor="ctr">
                    <a:solidFill>
                      <a:srgbClr val="FFFFFF"/>
                    </a:solidFill>
                  </a:tcPr>
                </a:tc>
              </a:tr>
              <a:tr h="690563">
                <a:tc>
                  <a:txBody>
                    <a:bodyPr lIns="114300" tIns="114300" rIns="114300" bIns="114300">
                      <a:noAutofit/>
                    </a:bodyPr>
                    <a:lstStyle/>
                    <a:p>
                      <a:r>
                        <a:rPr sz="1950" b="0">
                          <a:solidFill>
                            <a:srgbClr val="173B50"/>
                          </a:solidFill>
                          <a:latin typeface="Arial"/>
                          <a:ea typeface="Arial"/>
                          <a:cs typeface="Arial"/>
                        </a:rPr>
                        <a:t>Cable and harness manufacturers</a:t>
                      </a:r>
                    </a:p>
                  </a:txBody>
                  <a:tcPr marL="76200" marR="76200" marT="28575" marB="28575" anchor="ctr">
                    <a:solidFill>
                      <a:srgbClr val="F2F6F7"/>
                    </a:solidFill>
                  </a:tcPr>
                </a:tc>
                <a:tc>
                  <a:txBody>
                    <a:bodyPr lIns="114300" tIns="114300" rIns="114300" bIns="114300">
                      <a:noAutofit/>
                    </a:bodyPr>
                    <a:lstStyle/>
                    <a:p>
                      <a:r>
                        <a:rPr sz="1950" b="0">
                          <a:solidFill>
                            <a:srgbClr val="173B50"/>
                          </a:solidFill>
                          <a:latin typeface="Arial"/>
                          <a:ea typeface="Arial"/>
                          <a:cs typeface="Arial"/>
                        </a:rPr>
                        <a:t>6,132 companies</a:t>
                      </a:r>
                    </a:p>
                  </a:txBody>
                  <a:tcPr marL="76200" marR="76200" marT="28575" marB="28575" anchor="ctr">
                    <a:solidFill>
                      <a:srgbClr val="F2F6F7"/>
                    </a:solidFill>
                  </a:tcPr>
                </a:tc>
                <a:tc>
                  <a:txBody>
                    <a:bodyPr lIns="114300" tIns="114300" rIns="114300" bIns="114300">
                      <a:noAutofit/>
                    </a:bodyPr>
                    <a:lstStyle/>
                    <a:p>
                      <a:r>
                        <a:rPr sz="1950" b="0">
                          <a:solidFill>
                            <a:srgbClr val="173B50"/>
                          </a:solidFill>
                          <a:latin typeface="Arial"/>
                          <a:ea typeface="Arial"/>
                          <a:cs typeface="Arial"/>
                        </a:rPr>
                        <a:t>Broader adjacent prospect pool</a:t>
                      </a:r>
                    </a:p>
                  </a:txBody>
                  <a:tcPr marL="76200" marR="76200" marT="28575" marB="28575" anchor="ctr">
                    <a:solidFill>
                      <a:srgbClr val="F2F6F7"/>
                    </a:solidFill>
                  </a:tcPr>
                </a:tc>
              </a:tr>
              <a:tr h="690563">
                <a:tc>
                  <a:txBody>
                    <a:bodyPr lIns="114300" tIns="114300" rIns="114300" bIns="114300">
                      <a:noAutofit/>
                    </a:bodyPr>
                    <a:lstStyle/>
                    <a:p>
                      <a:r>
                        <a:rPr sz="1950" b="0">
                          <a:solidFill>
                            <a:srgbClr val="173B50"/>
                          </a:solidFill>
                          <a:latin typeface="Arial"/>
                          <a:ea typeface="Arial"/>
                          <a:cs typeface="Arial"/>
                        </a:rPr>
                        <a:t>WHMA members</a:t>
                      </a:r>
                    </a:p>
                  </a:txBody>
                  <a:tcPr marL="76200" marR="76200" marT="28575" marB="28575" anchor="ctr">
                    <a:solidFill>
                      <a:srgbClr val="FFFFFF"/>
                    </a:solidFill>
                  </a:tcPr>
                </a:tc>
                <a:tc>
                  <a:txBody>
                    <a:bodyPr lIns="114300" tIns="114300" rIns="114300" bIns="114300">
                      <a:noAutofit/>
                    </a:bodyPr>
                    <a:lstStyle/>
                    <a:p>
                      <a:r>
                        <a:rPr sz="1950" b="0">
                          <a:solidFill>
                            <a:srgbClr val="173B50"/>
                          </a:solidFill>
                          <a:latin typeface="Arial"/>
                          <a:ea typeface="Arial"/>
                          <a:cs typeface="Arial"/>
                        </a:rPr>
                        <a:t>About 250 members</a:t>
                      </a:r>
                    </a:p>
                  </a:txBody>
                  <a:tcPr marL="76200" marR="76200" marT="28575" marB="28575" anchor="ctr">
                    <a:solidFill>
                      <a:srgbClr val="FFFFFF"/>
                    </a:solidFill>
                  </a:tcPr>
                </a:tc>
                <a:tc>
                  <a:txBody>
                    <a:bodyPr lIns="114300" tIns="114300" rIns="114300" bIns="114300">
                      <a:noAutofit/>
                    </a:bodyPr>
                    <a:lstStyle/>
                    <a:p>
                      <a:r>
                        <a:rPr sz="1950" b="0">
                          <a:solidFill>
                            <a:srgbClr val="173B50"/>
                          </a:solidFill>
                          <a:latin typeface="Arial"/>
                          <a:ea typeface="Arial"/>
                          <a:cs typeface="Arial"/>
                        </a:rPr>
                        <a:t>Industry access and pilot recruitment</a:t>
                      </a:r>
                    </a:p>
                  </a:txBody>
                  <a:tcPr marL="76200" marR="76200" marT="28575" marB="28575" anchor="ctr">
                    <a:solidFill>
                      <a:srgbClr val="FFFFFF"/>
                    </a:solidFill>
                  </a:tcPr>
                </a:tc>
              </a:tr>
            </a:tbl>
          </a:graphicData>
        </a:graphic>
      </p:graphicFrame>
      <p:sp>
        <p:nvSpPr>
          <p:cNvPr id="7" name="Hardware startups, defense and high-tech device fi">
            <a:extLst xmlns:a="http://schemas.openxmlformats.org/drawingml/2006/main">
              <a:ext uri="{FF2B5EF4-FFF2-40B4-BE49-F238E27FC236}">
                <a16:creationId xmlns:a16="http://schemas.microsoft.com/office/drawing/2014/main" id="{F745E5EE-33C4-4B72-A7F3-0C2D10603F76}"/>
              </a:ext>
            </a:extLst>
          </p:cNvPr>
          <p:cNvSpPr>
            <a:spLocks xmlns:a="http://schemas.openxmlformats.org/drawingml/2006/main" noGrp="1"/>
          </p:cNvSpPr>
          <p:nvPr/>
        </p:nvSpPr>
        <p:spPr>
          <a:xfrm xmlns:a="http://schemas.openxmlformats.org/drawingml/2006/main">
            <a:off x="609600" y="47339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3B50"/>
                </a:solidFill>
                <a:latin typeface="Arial"/>
                <a:ea typeface="Arial"/>
                <a:cs typeface="Arial"/>
              </a:defRPr>
            </a:defPPr>
          </a:lstStyle>
          <a:p xmlns:a="http://schemas.openxmlformats.org/drawingml/2006/main">
            <a:pPr>
              <a:defRPr sz="2250" b="1">
                <a:solidFill>
                  <a:srgbClr val="173B50"/>
                </a:solidFill>
                <a:latin typeface="Arial"/>
                <a:ea typeface="Arial"/>
                <a:cs typeface="Arial"/>
              </a:defRPr>
            </a:pPr>
            <a:r>
              <a:rPr sz="2250" b="1">
                <a:solidFill>
                  <a:srgbClr val="173B50"/>
                </a:solidFill>
                <a:latin typeface="Arial"/>
                <a:ea typeface="Arial"/>
                <a:cs typeface="Arial"/>
              </a:rPr>
              <a:t>Hardware startups, defense and high-tech device firms expand the buyer base beyond these directories.</a:t>
            </a:r>
          </a:p>
        </p:txBody>
      </p:sp>
      <p:sp>
        <p:nvSpPr>
          <p:cNvPr id="8" name="These directories do not count every eligible hard">
            <a:extLst xmlns:a="http://schemas.openxmlformats.org/drawingml/2006/main">
              <a:ext uri="{FF2B5EF4-FFF2-40B4-BE49-F238E27FC236}">
                <a16:creationId xmlns:a16="http://schemas.microsoft.com/office/drawing/2014/main" id="{20D7E43C-3C3E-46BA-8D59-278C74DB30D3}"/>
              </a:ext>
            </a:extLst>
          </p:cNvPr>
          <p:cNvSpPr>
            <a:spLocks xmlns:a="http://schemas.openxmlformats.org/drawingml/2006/main" noGrp="1"/>
          </p:cNvSpPr>
          <p:nvPr/>
        </p:nvSpPr>
        <p:spPr>
          <a:xfrm xmlns:a="http://schemas.openxmlformats.org/drawingml/2006/main">
            <a:off x="609600" y="5629275"/>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16C7B"/>
                </a:solidFill>
                <a:latin typeface="Arial"/>
                <a:ea typeface="Arial"/>
                <a:cs typeface="Arial"/>
              </a:defRPr>
            </a:defPPr>
          </a:lstStyle>
          <a:p xmlns:a="http://schemas.openxmlformats.org/drawingml/2006/main">
            <a:pPr>
              <a:defRPr sz="1650" b="0">
                <a:solidFill>
                  <a:srgbClr val="516C7B"/>
                </a:solidFill>
                <a:latin typeface="Arial"/>
                <a:ea typeface="Arial"/>
                <a:cs typeface="Arial"/>
              </a:defRPr>
            </a:pPr>
            <a:r>
              <a:rPr sz="1650" b="0">
                <a:solidFill>
                  <a:srgbClr val="516C7B"/>
                </a:solidFill>
                <a:latin typeface="Arial"/>
                <a:ea typeface="Arial"/>
                <a:cs typeface="Arial"/>
              </a:rPr>
              <a:t>These directories do not count every eligible hardware startup, device OEM or complex-system builder.</a:t>
            </a:r>
          </a:p>
        </p:txBody>
      </p:sp>
    </p:spTree>
    <p:extLst>
      <p:ext uri="{BB962C8B-B14F-4D97-AF65-F5344CB8AC3E}">
        <p14:creationId xmlns:p14="http://schemas.microsoft.com/office/powerpoint/2010/main" val="130437038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C3541940-6F3E-4A66-B1E0-A12CD01AD0A7}"/>
              </a:ext>
            </a:extLst>
          </p:cNvPr>
          <p:cNvPicPr>
            <a:picLocks xmlns:a="http://schemas.openxmlformats.org/drawingml/2006/main" noChangeAspect="1"/>
          </p:cNvPicPr>
          <p:nvPr/>
        </p:nvPicPr>
        <p:blipFill>
          <a:blip xmlns:r="http://schemas.openxmlformats.org/officeDocument/2006/relationships" xmlns:a="http://schemas.openxmlformats.org/drawingml/2006/main" r:embed="R8e1acd22d3f54b9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Light background wash">
            <a:extLst xmlns:a="http://schemas.openxmlformats.org/drawingml/2006/main">
              <a:ext uri="{FF2B5EF4-FFF2-40B4-BE49-F238E27FC236}">
                <a16:creationId xmlns:a16="http://schemas.microsoft.com/office/drawing/2014/main" id="{50E8E60B-CAD1-45B4-BCE8-94FD4D74021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90000"/>
            </a:srgbClr>
          </a:solidFill>
          <a:ln xmlns:a="http://schemas.openxmlformats.org/drawingml/2006/main" w="0">
            <a:noFill/>
          </a:ln>
        </p:spPr>
      </p:sp>
      <p:sp>
        <p:nvSpPr>
          <p:cNvPr id="3" name="The main competitors">
            <a:extLst xmlns:a="http://schemas.openxmlformats.org/drawingml/2006/main">
              <a:ext uri="{FF2B5EF4-FFF2-40B4-BE49-F238E27FC236}">
                <a16:creationId xmlns:a16="http://schemas.microsoft.com/office/drawing/2014/main" id="{11FDCEEE-8F89-4A7B-ADA9-AD76B8771943}"/>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73B50"/>
                </a:solidFill>
                <a:latin typeface="Arial"/>
                <a:ea typeface="Arial"/>
                <a:cs typeface="Arial"/>
              </a:defRPr>
            </a:defPPr>
          </a:lstStyle>
          <a:p xmlns:a="http://schemas.openxmlformats.org/drawingml/2006/main">
            <a:pPr>
              <a:defRPr sz="3450" b="1">
                <a:solidFill>
                  <a:srgbClr val="173B50"/>
                </a:solidFill>
                <a:latin typeface="Arial"/>
                <a:ea typeface="Arial"/>
                <a:cs typeface="Arial"/>
              </a:defRPr>
            </a:pPr>
            <a:r>
              <a:rPr sz="3450" b="1">
                <a:solidFill>
                  <a:srgbClr val="173B50"/>
                </a:solidFill>
                <a:latin typeface="Arial"/>
                <a:ea typeface="Arial"/>
                <a:cs typeface="Arial"/>
              </a:rPr>
              <a:t>The main competitors</a:t>
            </a:r>
          </a:p>
        </p:txBody>
      </p:sp>
      <p:sp>
        <p:nvSpPr>
          <p:cNvPr id="4" name="20">
            <a:extLst xmlns:a="http://schemas.openxmlformats.org/drawingml/2006/main">
              <a:ext uri="{FF2B5EF4-FFF2-40B4-BE49-F238E27FC236}">
                <a16:creationId xmlns:a16="http://schemas.microsoft.com/office/drawing/2014/main" id="{0C9E9F84-4ACA-4CD0-A0C2-FFBB1FAD7569}"/>
              </a:ext>
            </a:extLst>
          </p:cNvPr>
          <p:cNvSpPr>
            <a:spLocks xmlns:a="http://schemas.openxmlformats.org/drawingml/2006/main" noGrp="1"/>
          </p:cNvSpPr>
          <p:nvPr/>
        </p:nvSpPr>
        <p:spPr>
          <a:xfrm xmlns:a="http://schemas.openxmlformats.org/drawingml/2006/main">
            <a:off x="11191875"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C7B"/>
                </a:solidFill>
                <a:latin typeface="Arial"/>
                <a:ea typeface="Arial"/>
                <a:cs typeface="Arial"/>
              </a:defRPr>
            </a:defPPr>
          </a:lstStyle>
          <a:p xmlns:a="http://schemas.openxmlformats.org/drawingml/2006/main">
            <a:pPr>
              <a:defRPr sz="1200" b="0">
                <a:solidFill>
                  <a:srgbClr val="516C7B"/>
                </a:solidFill>
                <a:latin typeface="Arial"/>
                <a:ea typeface="Arial"/>
                <a:cs typeface="Arial"/>
              </a:defRPr>
            </a:pPr>
            <a:r>
              <a:rPr sz="1200" b="0">
                <a:solidFill>
                  <a:srgbClr val="516C7B"/>
                </a:solidFill>
                <a:latin typeface="Arial"/>
                <a:ea typeface="Arial"/>
                <a:cs typeface="Arial"/>
              </a:rPr>
              <a:t>20</a:t>
            </a:r>
          </a:p>
        </p:txBody>
      </p:sp>
      <p:sp>
        <p:nvSpPr>
          <p:cNvPr id="5" name="Competitor capabilities come from vendor documenta">
            <a:extLst xmlns:a="http://schemas.openxmlformats.org/drawingml/2006/main">
              <a:ext uri="{FF2B5EF4-FFF2-40B4-BE49-F238E27FC236}">
                <a16:creationId xmlns:a16="http://schemas.microsoft.com/office/drawing/2014/main" id="{2701D549-D05A-4DC9-A4EF-D84337453C75}"/>
              </a:ext>
            </a:extLst>
          </p:cNvPr>
          <p:cNvSpPr>
            <a:spLocks xmlns:a="http://schemas.openxmlformats.org/drawingml/2006/main" noGrp="1"/>
          </p:cNvSpPr>
          <p:nvPr/>
        </p:nvSpPr>
        <p:spPr>
          <a:xfrm xmlns:a="http://schemas.openxmlformats.org/drawingml/2006/main">
            <a:off x="609600" y="6191250"/>
            <a:ext cx="1019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16C7B"/>
                </a:solidFill>
                <a:latin typeface="Arial"/>
                <a:ea typeface="Arial"/>
                <a:cs typeface="Arial"/>
              </a:defRPr>
            </a:defPPr>
          </a:lstStyle>
          <a:p xmlns:a="http://schemas.openxmlformats.org/drawingml/2006/main">
            <a:pPr>
              <a:defRPr sz="1350" b="0">
                <a:solidFill>
                  <a:srgbClr val="516C7B"/>
                </a:solidFill>
                <a:latin typeface="Arial"/>
                <a:ea typeface="Arial"/>
                <a:cs typeface="Arial"/>
              </a:defRPr>
            </a:pPr>
            <a:r>
              <a:rPr sz="1350" b="0">
                <a:solidFill>
                  <a:srgbClr val="516C7B"/>
                </a:solidFill>
                <a:latin typeface="Arial"/>
                <a:ea typeface="Arial"/>
                <a:cs typeface="Arial"/>
              </a:rPr>
              <a:t>Competitor capabilities come from vendor documentation. This is positioning, not a performance benchmark.</a:t>
            </a:r>
          </a:p>
        </p:txBody>
      </p:sp>
      <p:graphicFrame>
        <p:nvGraphicFramePr>
          <p:cNvPr id="6" name="">
            <a:extLst xmlns:a="http://schemas.openxmlformats.org/drawingml/2006/main">
              <a:ext uri="{FF2B5EF4-FFF2-40B4-BE49-F238E27FC236}">
                <a16:creationId xmlns:a16="http://schemas.microsoft.com/office/drawing/2014/main" id="{64821DD2-B6BE-4CC0-982B-083B9BE6DA2F}"/>
              </a:ext>
            </a:extLst>
          </p:cNvPr>
          <p:cNvGraphicFramePr/>
          <p:nvPr/>
        </p:nvGraphicFramePr>
        <p:xfrm>
          <a:off xmlns:a="http://schemas.openxmlformats.org/drawingml/2006/main" x="609600" y="1600200"/>
          <a:ext xmlns:a="http://schemas.openxmlformats.org/drawingml/2006/main" cx="10972800" cy="4286250"/>
        </p:xfrm>
        <a:graphic xmlns:a="http://schemas.openxmlformats.org/drawingml/2006/main">
          <a:graphicData uri="http://schemas.openxmlformats.org/drawingml/2006/table">
            <a:tbl>
              <a:tblPr/>
              <a:tblGrid>
                <a:gridCol w="2762250"/>
                <a:gridCol w="5276850"/>
                <a:gridCol w="2933700"/>
              </a:tblGrid>
              <a:tr h="612321">
                <a:tc>
                  <a:txBody>
                    <a:bodyPr lIns="114300" tIns="114300" rIns="114300" bIns="114300">
                      <a:noAutofit/>
                    </a:bodyPr>
                    <a:lstStyle/>
                    <a:p>
                      <a:r>
                        <a:rPr sz="1725" b="1">
                          <a:solidFill>
                            <a:srgbClr val="173B50"/>
                          </a:solidFill>
                          <a:latin typeface="Arial"/>
                          <a:ea typeface="Arial"/>
                          <a:cs typeface="Arial"/>
                        </a:rPr>
                        <a:t>Product</a:t>
                      </a:r>
                    </a:p>
                  </a:txBody>
                  <a:tcPr marL="76200" marR="76200" marT="28575" marB="28575" anchor="ctr">
                    <a:solidFill>
                      <a:srgbClr val="E3EFF3"/>
                    </a:solidFill>
                  </a:tcPr>
                </a:tc>
                <a:tc>
                  <a:txBody>
                    <a:bodyPr lIns="114300" tIns="114300" rIns="114300" bIns="114300">
                      <a:noAutofit/>
                    </a:bodyPr>
                    <a:lstStyle/>
                    <a:p>
                      <a:r>
                        <a:rPr sz="1725" b="1">
                          <a:solidFill>
                            <a:srgbClr val="173B50"/>
                          </a:solidFill>
                          <a:latin typeface="Arial"/>
                          <a:ea typeface="Arial"/>
                          <a:cs typeface="Arial"/>
                        </a:rPr>
                        <a:t>Established strengths</a:t>
                      </a:r>
                    </a:p>
                  </a:txBody>
                  <a:tcPr marL="76200" marR="76200" marT="28575" marB="28575" anchor="ctr">
                    <a:solidFill>
                      <a:srgbClr val="E3EFF3"/>
                    </a:solidFill>
                  </a:tcPr>
                </a:tc>
                <a:tc>
                  <a:txBody>
                    <a:bodyPr lIns="114300" tIns="114300" rIns="114300" bIns="114300">
                      <a:noAutofit/>
                    </a:bodyPr>
                    <a:lstStyle/>
                    <a:p>
                      <a:r>
                        <a:rPr sz="1725" b="1">
                          <a:solidFill>
                            <a:srgbClr val="173B50"/>
                          </a:solidFill>
                          <a:latin typeface="Arial"/>
                          <a:ea typeface="Arial"/>
                          <a:cs typeface="Arial"/>
                        </a:rPr>
                        <a:t>Primary context</a:t>
                      </a:r>
                    </a:p>
                  </a:txBody>
                  <a:tcPr marL="76200" marR="76200" marT="28575" marB="28575" anchor="ctr">
                    <a:solidFill>
                      <a:srgbClr val="E3EFF3"/>
                    </a:solidFill>
                  </a:tcPr>
                </a:tc>
              </a:tr>
              <a:tr h="612321">
                <a:tc>
                  <a:txBody>
                    <a:bodyPr lIns="114300" tIns="114300" rIns="114300" bIns="114300">
                      <a:noAutofit/>
                    </a:bodyPr>
                    <a:lstStyle/>
                    <a:p>
                      <a:r>
                        <a:rPr sz="1725" b="0">
                          <a:solidFill>
                            <a:srgbClr val="173B50"/>
                          </a:solidFill>
                          <a:latin typeface="Arial"/>
                          <a:ea typeface="Arial"/>
                          <a:cs typeface="Arial"/>
                        </a:rPr>
                        <a:t>Siemens Capital</a:t>
                      </a:r>
                    </a:p>
                  </a:txBody>
                  <a:tcPr marL="76200" marR="76200" marT="28575" marB="28575" anchor="ctr">
                    <a:solidFill>
                      <a:srgbClr val="FFFFFF"/>
                    </a:solidFill>
                  </a:tcPr>
                </a:tc>
                <a:tc>
                  <a:txBody>
                    <a:bodyPr lIns="114300" tIns="114300" rIns="114300" bIns="114300">
                      <a:noAutofit/>
                    </a:bodyPr>
                    <a:lstStyle/>
                    <a:p>
                      <a:r>
                        <a:rPr sz="1725" b="0">
                          <a:solidFill>
                            <a:srgbClr val="173B50"/>
                          </a:solidFill>
                          <a:latin typeface="Arial"/>
                          <a:ea typeface="Arial"/>
                          <a:cs typeface="Arial"/>
                        </a:rPr>
                        <a:t>Electrical validation, harness and formboard design</a:t>
                      </a:r>
                    </a:p>
                  </a:txBody>
                  <a:tcPr marL="76200" marR="76200" marT="28575" marB="28575" anchor="ctr">
                    <a:solidFill>
                      <a:srgbClr val="FFFFFF"/>
                    </a:solidFill>
                  </a:tcPr>
                </a:tc>
                <a:tc>
                  <a:txBody>
                    <a:bodyPr lIns="114300" tIns="114300" rIns="114300" bIns="114300">
                      <a:noAutofit/>
                    </a:bodyPr>
                    <a:lstStyle/>
                    <a:p>
                      <a:r>
                        <a:rPr sz="1725" b="0">
                          <a:solidFill>
                            <a:srgbClr val="173B50"/>
                          </a:solidFill>
                          <a:latin typeface="Arial"/>
                          <a:ea typeface="Arial"/>
                          <a:cs typeface="Arial"/>
                        </a:rPr>
                        <a:t>Capital engineering ecosystem</a:t>
                      </a:r>
                    </a:p>
                  </a:txBody>
                  <a:tcPr marL="76200" marR="76200" marT="28575" marB="28575" anchor="ctr">
                    <a:solidFill>
                      <a:srgbClr val="FFFFFF"/>
                    </a:solidFill>
                  </a:tcPr>
                </a:tc>
              </a:tr>
              <a:tr h="612321">
                <a:tc>
                  <a:txBody>
                    <a:bodyPr lIns="114300" tIns="114300" rIns="114300" bIns="114300">
                      <a:noAutofit/>
                    </a:bodyPr>
                    <a:lstStyle/>
                    <a:p>
                      <a:r>
                        <a:rPr sz="1725" b="0">
                          <a:solidFill>
                            <a:srgbClr val="173B50"/>
                          </a:solidFill>
                          <a:latin typeface="Arial"/>
                          <a:ea typeface="Arial"/>
                          <a:cs typeface="Arial"/>
                        </a:rPr>
                        <a:t>Zuken E3.series</a:t>
                      </a:r>
                    </a:p>
                  </a:txBody>
                  <a:tcPr marL="76200" marR="76200" marT="28575" marB="28575" anchor="ctr">
                    <a:solidFill>
                      <a:srgbClr val="F2F6F7"/>
                    </a:solidFill>
                  </a:tcPr>
                </a:tc>
                <a:tc>
                  <a:txBody>
                    <a:bodyPr lIns="114300" tIns="114300" rIns="114300" bIns="114300">
                      <a:noAutofit/>
                    </a:bodyPr>
                    <a:lstStyle/>
                    <a:p>
                      <a:r>
                        <a:rPr sz="1725" b="0">
                          <a:solidFill>
                            <a:srgbClr val="173B50"/>
                          </a:solidFill>
                          <a:latin typeface="Arial"/>
                          <a:ea typeface="Arial"/>
                          <a:cs typeface="Arial"/>
                        </a:rPr>
                        <a:t>Synchronized cable/formboard data and DRC</a:t>
                      </a:r>
                    </a:p>
                  </a:txBody>
                  <a:tcPr marL="76200" marR="76200" marT="28575" marB="28575" anchor="ctr">
                    <a:solidFill>
                      <a:srgbClr val="F2F6F7"/>
                    </a:solidFill>
                  </a:tcPr>
                </a:tc>
                <a:tc>
                  <a:txBody>
                    <a:bodyPr lIns="114300" tIns="114300" rIns="114300" bIns="114300">
                      <a:noAutofit/>
                    </a:bodyPr>
                    <a:lstStyle/>
                    <a:p>
                      <a:r>
                        <a:rPr sz="1725" b="0">
                          <a:solidFill>
                            <a:srgbClr val="173B50"/>
                          </a:solidFill>
                          <a:latin typeface="Arial"/>
                          <a:ea typeface="Arial"/>
                          <a:cs typeface="Arial"/>
                        </a:rPr>
                        <a:t>Electrical design and manufacture</a:t>
                      </a:r>
                    </a:p>
                  </a:txBody>
                  <a:tcPr marL="76200" marR="76200" marT="28575" marB="28575" anchor="ctr">
                    <a:solidFill>
                      <a:srgbClr val="F2F6F7"/>
                    </a:solidFill>
                  </a:tcPr>
                </a:tc>
              </a:tr>
              <a:tr h="612321">
                <a:tc>
                  <a:txBody>
                    <a:bodyPr lIns="114300" tIns="114300" rIns="114300" bIns="114300">
                      <a:noAutofit/>
                    </a:bodyPr>
                    <a:lstStyle/>
                    <a:p>
                      <a:r>
                        <a:rPr sz="1725" b="0">
                          <a:solidFill>
                            <a:srgbClr val="173B50"/>
                          </a:solidFill>
                          <a:latin typeface="Arial"/>
                          <a:ea typeface="Arial"/>
                          <a:cs typeface="Arial"/>
                        </a:rPr>
                        <a:t>EPLAN Harness proD</a:t>
                      </a:r>
                    </a:p>
                  </a:txBody>
                  <a:tcPr marL="76200" marR="76200" marT="28575" marB="28575" anchor="ctr">
                    <a:solidFill>
                      <a:srgbClr val="FFFFFF"/>
                    </a:solidFill>
                  </a:tcPr>
                </a:tc>
                <a:tc>
                  <a:txBody>
                    <a:bodyPr lIns="114300" tIns="114300" rIns="114300" bIns="114300">
                      <a:noAutofit/>
                    </a:bodyPr>
                    <a:lstStyle/>
                    <a:p>
                      <a:r>
                        <a:rPr sz="1725" b="0">
                          <a:solidFill>
                            <a:srgbClr val="173B50"/>
                          </a:solidFill>
                          <a:latin typeface="Arial"/>
                          <a:ea typeface="Arial"/>
                          <a:cs typeface="Arial"/>
                        </a:rPr>
                        <a:t>3D routes, 2D production drawings, MCAD links</a:t>
                      </a:r>
                    </a:p>
                  </a:txBody>
                  <a:tcPr marL="76200" marR="76200" marT="28575" marB="28575" anchor="ctr">
                    <a:solidFill>
                      <a:srgbClr val="FFFFFF"/>
                    </a:solidFill>
                  </a:tcPr>
                </a:tc>
                <a:tc>
                  <a:txBody>
                    <a:bodyPr lIns="114300" tIns="114300" rIns="114300" bIns="114300">
                      <a:noAutofit/>
                    </a:bodyPr>
                    <a:lstStyle/>
                    <a:p>
                      <a:r>
                        <a:rPr sz="1725" b="0">
                          <a:solidFill>
                            <a:srgbClr val="173B50"/>
                          </a:solidFill>
                          <a:latin typeface="Arial"/>
                          <a:ea typeface="Arial"/>
                          <a:cs typeface="Arial"/>
                        </a:rPr>
                        <a:t>Machine and vehicle cabling</a:t>
                      </a:r>
                    </a:p>
                  </a:txBody>
                  <a:tcPr marL="76200" marR="76200" marT="28575" marB="28575" anchor="ctr">
                    <a:solidFill>
                      <a:srgbClr val="FFFFFF"/>
                    </a:solidFill>
                  </a:tcPr>
                </a:tc>
              </a:tr>
              <a:tr h="612321">
                <a:tc>
                  <a:txBody>
                    <a:bodyPr lIns="114300" tIns="114300" rIns="114300" bIns="114300">
                      <a:noAutofit/>
                    </a:bodyPr>
                    <a:lstStyle/>
                    <a:p>
                      <a:r>
                        <a:rPr sz="1725" b="0">
                          <a:solidFill>
                            <a:srgbClr val="173B50"/>
                          </a:solidFill>
                          <a:latin typeface="Arial"/>
                          <a:ea typeface="Arial"/>
                          <a:cs typeface="Arial"/>
                        </a:rPr>
                        <a:t>SOLIDWORKS Electrical 3D</a:t>
                      </a:r>
                    </a:p>
                  </a:txBody>
                  <a:tcPr marL="76200" marR="76200" marT="28575" marB="28575" anchor="ctr">
                    <a:solidFill>
                      <a:srgbClr val="F2F6F7"/>
                    </a:solidFill>
                  </a:tcPr>
                </a:tc>
                <a:tc>
                  <a:txBody>
                    <a:bodyPr lIns="114300" tIns="114300" rIns="114300" bIns="114300">
                      <a:noAutofit/>
                    </a:bodyPr>
                    <a:lstStyle/>
                    <a:p>
                      <a:r>
                        <a:rPr sz="1725" b="0">
                          <a:solidFill>
                            <a:srgbClr val="173B50"/>
                          </a:solidFill>
                          <a:latin typeface="Arial"/>
                          <a:ea typeface="Arial"/>
                          <a:cs typeface="Arial"/>
                        </a:rPr>
                        <a:t>Schematic/3D integration and automatic wire routing</a:t>
                      </a:r>
                    </a:p>
                  </a:txBody>
                  <a:tcPr marL="76200" marR="76200" marT="28575" marB="28575" anchor="ctr">
                    <a:solidFill>
                      <a:srgbClr val="F2F6F7"/>
                    </a:solidFill>
                  </a:tcPr>
                </a:tc>
                <a:tc>
                  <a:txBody>
                    <a:bodyPr lIns="114300" tIns="114300" rIns="114300" bIns="114300">
                      <a:noAutofit/>
                    </a:bodyPr>
                    <a:lstStyle/>
                    <a:p>
                      <a:r>
                        <a:rPr sz="1725" b="0">
                          <a:solidFill>
                            <a:srgbClr val="173B50"/>
                          </a:solidFill>
                          <a:latin typeface="Arial"/>
                          <a:ea typeface="Arial"/>
                          <a:cs typeface="Arial"/>
                        </a:rPr>
                        <a:t>SOLIDWORKS mechanical workflows</a:t>
                      </a:r>
                    </a:p>
                  </a:txBody>
                  <a:tcPr marL="76200" marR="76200" marT="28575" marB="28575" anchor="ctr">
                    <a:solidFill>
                      <a:srgbClr val="F2F6F7"/>
                    </a:solidFill>
                  </a:tcPr>
                </a:tc>
              </a:tr>
              <a:tr h="612321">
                <a:tc>
                  <a:txBody>
                    <a:bodyPr lIns="114300" tIns="114300" rIns="114300" bIns="114300">
                      <a:noAutofit/>
                    </a:bodyPr>
                    <a:lstStyle/>
                    <a:p>
                      <a:r>
                        <a:rPr sz="1725" b="0">
                          <a:solidFill>
                            <a:srgbClr val="173B50"/>
                          </a:solidFill>
                          <a:latin typeface="Arial"/>
                          <a:ea typeface="Arial"/>
                          <a:cs typeface="Arial"/>
                        </a:rPr>
                        <a:t>Cadonix Arcadia</a:t>
                      </a:r>
                    </a:p>
                  </a:txBody>
                  <a:tcPr marL="76200" marR="76200" marT="28575" marB="28575" anchor="ctr">
                    <a:solidFill>
                      <a:srgbClr val="FFFFFF"/>
                    </a:solidFill>
                  </a:tcPr>
                </a:tc>
                <a:tc>
                  <a:txBody>
                    <a:bodyPr lIns="114300" tIns="114300" rIns="114300" bIns="114300">
                      <a:noAutofit/>
                    </a:bodyPr>
                    <a:lstStyle/>
                    <a:p>
                      <a:r>
                        <a:rPr sz="1725" b="0">
                          <a:solidFill>
                            <a:srgbClr val="173B50"/>
                          </a:solidFill>
                          <a:latin typeface="Arial"/>
                          <a:ea typeface="Arial"/>
                          <a:cs typeface="Arial"/>
                        </a:rPr>
                        <a:t>Cloud design, manufacturing reports and component data</a:t>
                      </a:r>
                    </a:p>
                  </a:txBody>
                  <a:tcPr marL="76200" marR="76200" marT="28575" marB="28575" anchor="ctr">
                    <a:solidFill>
                      <a:srgbClr val="FFFFFF"/>
                    </a:solidFill>
                  </a:tcPr>
                </a:tc>
                <a:tc>
                  <a:txBody>
                    <a:bodyPr lIns="114300" tIns="114300" rIns="114300" bIns="114300">
                      <a:noAutofit/>
                    </a:bodyPr>
                    <a:lstStyle/>
                    <a:p>
                      <a:r>
                        <a:rPr sz="1725" b="0">
                          <a:solidFill>
                            <a:srgbClr val="173B50"/>
                          </a:solidFill>
                          <a:latin typeface="Arial"/>
                          <a:ea typeface="Arial"/>
                          <a:cs typeface="Arial"/>
                        </a:rPr>
                        <a:t>Connected design and shop floor</a:t>
                      </a:r>
                    </a:p>
                  </a:txBody>
                  <a:tcPr marL="76200" marR="76200" marT="28575" marB="28575" anchor="ctr">
                    <a:solidFill>
                      <a:srgbClr val="FFFFFF"/>
                    </a:solidFill>
                  </a:tcPr>
                </a:tc>
              </a:tr>
              <a:tr h="612321">
                <a:tc>
                  <a:txBody>
                    <a:bodyPr lIns="114300" tIns="114300" rIns="114300" bIns="114300">
                      <a:noAutofit/>
                    </a:bodyPr>
                    <a:lstStyle/>
                    <a:p>
                      <a:r>
                        <a:rPr sz="1725" b="0">
                          <a:solidFill>
                            <a:srgbClr val="173B50"/>
                          </a:solidFill>
                          <a:latin typeface="Arial"/>
                          <a:ea typeface="Arial"/>
                          <a:cs typeface="Arial"/>
                        </a:rPr>
                        <a:t>RapidHarness</a:t>
                      </a:r>
                    </a:p>
                  </a:txBody>
                  <a:tcPr marL="76200" marR="76200" marT="28575" marB="28575" anchor="ctr">
                    <a:solidFill>
                      <a:srgbClr val="F2F6F7"/>
                    </a:solidFill>
                  </a:tcPr>
                </a:tc>
                <a:tc>
                  <a:txBody>
                    <a:bodyPr lIns="114300" tIns="114300" rIns="114300" bIns="114300">
                      <a:noAutofit/>
                    </a:bodyPr>
                    <a:lstStyle/>
                    <a:p>
                      <a:r>
                        <a:rPr sz="1725" b="0">
                          <a:solidFill>
                            <a:srgbClr val="173B50"/>
                          </a:solidFill>
                          <a:latin typeface="Arial"/>
                          <a:ea typeface="Arial"/>
                          <a:cs typeface="Arial"/>
                        </a:rPr>
                        <a:t>Harness/system design, DRC and cloud version control</a:t>
                      </a:r>
                    </a:p>
                  </a:txBody>
                  <a:tcPr marL="76200" marR="76200" marT="28575" marB="28575" anchor="ctr">
                    <a:solidFill>
                      <a:srgbClr val="F2F6F7"/>
                    </a:solidFill>
                  </a:tcPr>
                </a:tc>
                <a:tc>
                  <a:txBody>
                    <a:bodyPr lIns="114300" tIns="114300" rIns="114300" bIns="114300">
                      <a:noAutofit/>
                    </a:bodyPr>
                    <a:lstStyle/>
                    <a:p>
                      <a:r>
                        <a:rPr sz="1725" b="0">
                          <a:solidFill>
                            <a:srgbClr val="173B50"/>
                          </a:solidFill>
                          <a:latin typeface="Arial"/>
                          <a:ea typeface="Arial"/>
                          <a:cs typeface="Arial"/>
                        </a:rPr>
                        <a:t>Windows desktop with cloud data</a:t>
                      </a:r>
                    </a:p>
                  </a:txBody>
                  <a:tcPr marL="76200" marR="76200" marT="28575" marB="28575" anchor="ctr">
                    <a:solidFill>
                      <a:srgbClr val="F2F6F7"/>
                    </a:solidFill>
                  </a:tcPr>
                </a:tc>
              </a:tr>
            </a:tbl>
          </a:graphicData>
        </a:graphic>
      </p:graphicFrame>
    </p:spTree>
    <p:extLst>
      <p:ext uri="{BB962C8B-B14F-4D97-AF65-F5344CB8AC3E}">
        <p14:creationId xmlns:p14="http://schemas.microsoft.com/office/powerpoint/2010/main" val="137932919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F8670484-DF9F-4B9C-9D9F-02A35552C18C}"/>
              </a:ext>
            </a:extLst>
          </p:cNvPr>
          <p:cNvPicPr>
            <a:picLocks xmlns:a="http://schemas.openxmlformats.org/drawingml/2006/main" noChangeAspect="1"/>
          </p:cNvPicPr>
          <p:nvPr/>
        </p:nvPicPr>
        <p:blipFill>
          <a:blip xmlns:r="http://schemas.openxmlformats.org/officeDocument/2006/relationships" xmlns:a="http://schemas.openxmlformats.org/drawingml/2006/main" r:embed="R1aac13406c88415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Light background wash">
            <a:extLst xmlns:a="http://schemas.openxmlformats.org/drawingml/2006/main">
              <a:ext uri="{FF2B5EF4-FFF2-40B4-BE49-F238E27FC236}">
                <a16:creationId xmlns:a16="http://schemas.microsoft.com/office/drawing/2014/main" id="{098547DC-3275-4F3F-8C9E-1E12224FDF2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90000"/>
            </a:srgbClr>
          </a:solidFill>
          <a:ln xmlns:a="http://schemas.openxmlformats.org/drawingml/2006/main" w="0">
            <a:noFill/>
          </a:ln>
        </p:spPr>
      </p:sp>
      <p:sp>
        <p:nvSpPr>
          <p:cNvPr id="3" name="Where this app can win">
            <a:extLst xmlns:a="http://schemas.openxmlformats.org/drawingml/2006/main">
              <a:ext uri="{FF2B5EF4-FFF2-40B4-BE49-F238E27FC236}">
                <a16:creationId xmlns:a16="http://schemas.microsoft.com/office/drawing/2014/main" id="{0B2D1811-33AD-4977-833E-1A55B10A90A4}"/>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73B50"/>
                </a:solidFill>
                <a:latin typeface="Arial"/>
                <a:ea typeface="Arial"/>
                <a:cs typeface="Arial"/>
              </a:defRPr>
            </a:defPPr>
          </a:lstStyle>
          <a:p xmlns:a="http://schemas.openxmlformats.org/drawingml/2006/main">
            <a:pPr>
              <a:defRPr sz="3450" b="1">
                <a:solidFill>
                  <a:srgbClr val="173B50"/>
                </a:solidFill>
                <a:latin typeface="Arial"/>
                <a:ea typeface="Arial"/>
                <a:cs typeface="Arial"/>
              </a:defRPr>
            </a:pPr>
            <a:r>
              <a:rPr sz="3450" b="1">
                <a:solidFill>
                  <a:srgbClr val="173B50"/>
                </a:solidFill>
                <a:latin typeface="Arial"/>
                <a:ea typeface="Arial"/>
                <a:cs typeface="Arial"/>
              </a:rPr>
              <a:t>Where this app can win</a:t>
            </a:r>
          </a:p>
        </p:txBody>
      </p:sp>
      <p:sp>
        <p:nvSpPr>
          <p:cNvPr id="4" name="21">
            <a:extLst xmlns:a="http://schemas.openxmlformats.org/drawingml/2006/main">
              <a:ext uri="{FF2B5EF4-FFF2-40B4-BE49-F238E27FC236}">
                <a16:creationId xmlns:a16="http://schemas.microsoft.com/office/drawing/2014/main" id="{49AA229A-38E8-4B6E-93A9-4B469DBCECFC}"/>
              </a:ext>
            </a:extLst>
          </p:cNvPr>
          <p:cNvSpPr>
            <a:spLocks xmlns:a="http://schemas.openxmlformats.org/drawingml/2006/main" noGrp="1"/>
          </p:cNvSpPr>
          <p:nvPr/>
        </p:nvSpPr>
        <p:spPr>
          <a:xfrm xmlns:a="http://schemas.openxmlformats.org/drawingml/2006/main">
            <a:off x="11191875"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C7B"/>
                </a:solidFill>
                <a:latin typeface="Arial"/>
                <a:ea typeface="Arial"/>
                <a:cs typeface="Arial"/>
              </a:defRPr>
            </a:defPPr>
          </a:lstStyle>
          <a:p xmlns:a="http://schemas.openxmlformats.org/drawingml/2006/main">
            <a:pPr>
              <a:defRPr sz="1200" b="0">
                <a:solidFill>
                  <a:srgbClr val="516C7B"/>
                </a:solidFill>
                <a:latin typeface="Arial"/>
                <a:ea typeface="Arial"/>
                <a:cs typeface="Arial"/>
              </a:defRPr>
            </a:pPr>
            <a:r>
              <a:rPr sz="1200" b="0">
                <a:solidFill>
                  <a:srgbClr val="516C7B"/>
                </a:solidFill>
                <a:latin typeface="Arial"/>
                <a:ea typeface="Arial"/>
                <a:cs typeface="Arial"/>
              </a:rPr>
              <a:t>21</a:t>
            </a:r>
          </a:p>
        </p:txBody>
      </p:sp>
      <p:sp>
        <p:nvSpPr>
          <p:cNvPr id="5" name="Candidate strengths require pilot validation. Ente">
            <a:extLst xmlns:a="http://schemas.openxmlformats.org/drawingml/2006/main">
              <a:ext uri="{FF2B5EF4-FFF2-40B4-BE49-F238E27FC236}">
                <a16:creationId xmlns:a16="http://schemas.microsoft.com/office/drawing/2014/main" id="{B3D577B5-7EAC-43AC-A8D7-C639B76F97AD}"/>
              </a:ext>
            </a:extLst>
          </p:cNvPr>
          <p:cNvSpPr>
            <a:spLocks xmlns:a="http://schemas.openxmlformats.org/drawingml/2006/main" noGrp="1"/>
          </p:cNvSpPr>
          <p:nvPr/>
        </p:nvSpPr>
        <p:spPr>
          <a:xfrm xmlns:a="http://schemas.openxmlformats.org/drawingml/2006/main">
            <a:off x="609600" y="6191250"/>
            <a:ext cx="1019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16C7B"/>
                </a:solidFill>
                <a:latin typeface="Arial"/>
                <a:ea typeface="Arial"/>
                <a:cs typeface="Arial"/>
              </a:defRPr>
            </a:defPPr>
          </a:lstStyle>
          <a:p xmlns:a="http://schemas.openxmlformats.org/drawingml/2006/main">
            <a:pPr>
              <a:defRPr sz="1350" b="0">
                <a:solidFill>
                  <a:srgbClr val="516C7B"/>
                </a:solidFill>
                <a:latin typeface="Arial"/>
                <a:ea typeface="Arial"/>
                <a:cs typeface="Arial"/>
              </a:defRPr>
            </a:pPr>
            <a:r>
              <a:rPr sz="1350" b="0">
                <a:solidFill>
                  <a:srgbClr val="516C7B"/>
                </a:solidFill>
                <a:latin typeface="Arial"/>
                <a:ea typeface="Arial"/>
                <a:cs typeface="Arial"/>
              </a:rPr>
              <a:t>Candidate strengths require pilot validation. Enterprise integration, collaboration and support remain competitor advantages.</a:t>
            </a:r>
          </a:p>
        </p:txBody>
      </p:sp>
      <p:sp>
        <p:nvSpPr>
          <p:cNvPr id="6" name="Local project control">
            <a:extLst xmlns:a="http://schemas.openxmlformats.org/drawingml/2006/main">
              <a:ext uri="{FF2B5EF4-FFF2-40B4-BE49-F238E27FC236}">
                <a16:creationId xmlns:a16="http://schemas.microsoft.com/office/drawing/2014/main" id="{5F5B26D0-D931-431F-9B9A-93BCA2515C82}"/>
              </a:ext>
            </a:extLst>
          </p:cNvPr>
          <p:cNvSpPr>
            <a:spLocks xmlns:a="http://schemas.openxmlformats.org/drawingml/2006/main" noGrp="1"/>
          </p:cNvSpPr>
          <p:nvPr/>
        </p:nvSpPr>
        <p:spPr>
          <a:xfrm xmlns:a="http://schemas.openxmlformats.org/drawingml/2006/main">
            <a:off x="609600" y="1666875"/>
            <a:ext cx="50101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73B50"/>
                </a:solidFill>
                <a:latin typeface="Arial"/>
                <a:ea typeface="Arial"/>
                <a:cs typeface="Arial"/>
              </a:defRPr>
            </a:defPPr>
          </a:lstStyle>
          <a:p xmlns:a="http://schemas.openxmlformats.org/drawingml/2006/main">
            <a:pPr>
              <a:defRPr sz="2400" b="1">
                <a:solidFill>
                  <a:srgbClr val="173B50"/>
                </a:solidFill>
                <a:latin typeface="Arial"/>
                <a:ea typeface="Arial"/>
                <a:cs typeface="Arial"/>
              </a:defRPr>
            </a:pPr>
            <a:r>
              <a:rPr sz="2400" b="1">
                <a:solidFill>
                  <a:srgbClr val="173B50"/>
                </a:solidFill>
                <a:latin typeface="Arial"/>
                <a:ea typeface="Arial"/>
                <a:cs typeface="Arial"/>
              </a:rPr>
              <a:t>Local project control</a:t>
            </a:r>
          </a:p>
        </p:txBody>
      </p:sp>
      <p:sp>
        <p:nvSpPr>
          <p:cNvPr id="7" name="Native Windows authoring and local DWX files suit ">
            <a:extLst xmlns:a="http://schemas.openxmlformats.org/drawingml/2006/main">
              <a:ext uri="{FF2B5EF4-FFF2-40B4-BE49-F238E27FC236}">
                <a16:creationId xmlns:a16="http://schemas.microsoft.com/office/drawing/2014/main" id="{723D6389-4715-4A1F-8F4D-1FEA56BF4C1F}"/>
              </a:ext>
            </a:extLst>
          </p:cNvPr>
          <p:cNvSpPr>
            <a:spLocks xmlns:a="http://schemas.openxmlformats.org/drawingml/2006/main" noGrp="1"/>
          </p:cNvSpPr>
          <p:nvPr/>
        </p:nvSpPr>
        <p:spPr>
          <a:xfrm xmlns:a="http://schemas.openxmlformats.org/drawingml/2006/main">
            <a:off x="609600" y="2466975"/>
            <a:ext cx="50101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16C7B"/>
                </a:solidFill>
                <a:latin typeface="Arial"/>
                <a:ea typeface="Arial"/>
                <a:cs typeface="Arial"/>
              </a:defRPr>
            </a:defPPr>
          </a:lstStyle>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Native Windows authoring and local DWX files suit teams with limited connectivity or local data requirements.</a:t>
            </a:r>
          </a:p>
        </p:txBody>
      </p:sp>
      <p:sp>
        <p:nvSpPr>
          <p:cNvPr id="8" name="Visible validation state">
            <a:extLst xmlns:a="http://schemas.openxmlformats.org/drawingml/2006/main">
              <a:ext uri="{FF2B5EF4-FFF2-40B4-BE49-F238E27FC236}">
                <a16:creationId xmlns:a16="http://schemas.microsoft.com/office/drawing/2014/main" id="{4427FC3C-A5CF-4BC3-A1E6-0825BB0032D9}"/>
              </a:ext>
            </a:extLst>
          </p:cNvPr>
          <p:cNvSpPr>
            <a:spLocks xmlns:a="http://schemas.openxmlformats.org/drawingml/2006/main" noGrp="1"/>
          </p:cNvSpPr>
          <p:nvPr/>
        </p:nvSpPr>
        <p:spPr>
          <a:xfrm xmlns:a="http://schemas.openxmlformats.org/drawingml/2006/main">
            <a:off x="6467475" y="1666875"/>
            <a:ext cx="50101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73B50"/>
                </a:solidFill>
                <a:latin typeface="Arial"/>
                <a:ea typeface="Arial"/>
                <a:cs typeface="Arial"/>
              </a:defRPr>
            </a:defPPr>
          </a:lstStyle>
          <a:p xmlns:a="http://schemas.openxmlformats.org/drawingml/2006/main">
            <a:pPr>
              <a:defRPr sz="2400" b="1">
                <a:solidFill>
                  <a:srgbClr val="173B50"/>
                </a:solidFill>
                <a:latin typeface="Arial"/>
                <a:ea typeface="Arial"/>
                <a:cs typeface="Arial"/>
              </a:defRPr>
            </a:pPr>
            <a:r>
              <a:rPr sz="2400" b="1">
                <a:solidFill>
                  <a:srgbClr val="173B50"/>
                </a:solidFill>
                <a:latin typeface="Arial"/>
                <a:ea typeface="Arial"/>
                <a:cs typeface="Arial"/>
              </a:rPr>
              <a:t>Visible validation state</a:t>
            </a:r>
          </a:p>
        </p:txBody>
      </p:sp>
      <p:sp>
        <p:nvSpPr>
          <p:cNvPr id="9" name="Canvas pass notes disappear after drawing changes.">
            <a:extLst xmlns:a="http://schemas.openxmlformats.org/drawingml/2006/main">
              <a:ext uri="{FF2B5EF4-FFF2-40B4-BE49-F238E27FC236}">
                <a16:creationId xmlns:a16="http://schemas.microsoft.com/office/drawing/2014/main" id="{66CE837A-E81D-4819-B879-16C74EA46667}"/>
              </a:ext>
            </a:extLst>
          </p:cNvPr>
          <p:cNvSpPr>
            <a:spLocks xmlns:a="http://schemas.openxmlformats.org/drawingml/2006/main" noGrp="1"/>
          </p:cNvSpPr>
          <p:nvPr/>
        </p:nvSpPr>
        <p:spPr>
          <a:xfrm xmlns:a="http://schemas.openxmlformats.org/drawingml/2006/main">
            <a:off x="6467475" y="2466975"/>
            <a:ext cx="50101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16C7B"/>
                </a:solidFill>
                <a:latin typeface="Arial"/>
                <a:ea typeface="Arial"/>
                <a:cs typeface="Arial"/>
              </a:defRPr>
            </a:defPPr>
          </a:lstStyle>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Canvas pass notes disappear after drawing changes. Project checks expose missing saved evidence.</a:t>
            </a:r>
          </a:p>
        </p:txBody>
      </p:sp>
      <p:sp>
        <p:nvSpPr>
          <p:cNvPr id="10" name="Explained engineering rules">
            <a:extLst xmlns:a="http://schemas.openxmlformats.org/drawingml/2006/main">
              <a:ext uri="{FF2B5EF4-FFF2-40B4-BE49-F238E27FC236}">
                <a16:creationId xmlns:a16="http://schemas.microsoft.com/office/drawing/2014/main" id="{B176BB6A-22A0-472B-875F-858F8E21CB07}"/>
              </a:ext>
            </a:extLst>
          </p:cNvPr>
          <p:cNvSpPr>
            <a:spLocks xmlns:a="http://schemas.openxmlformats.org/drawingml/2006/main" noGrp="1"/>
          </p:cNvSpPr>
          <p:nvPr/>
        </p:nvSpPr>
        <p:spPr>
          <a:xfrm xmlns:a="http://schemas.openxmlformats.org/drawingml/2006/main">
            <a:off x="609600" y="3952875"/>
            <a:ext cx="50101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73B50"/>
                </a:solidFill>
                <a:latin typeface="Arial"/>
                <a:ea typeface="Arial"/>
                <a:cs typeface="Arial"/>
              </a:defRPr>
            </a:defPPr>
          </a:lstStyle>
          <a:p xmlns:a="http://schemas.openxmlformats.org/drawingml/2006/main">
            <a:pPr>
              <a:defRPr sz="2400" b="1">
                <a:solidFill>
                  <a:srgbClr val="173B50"/>
                </a:solidFill>
                <a:latin typeface="Arial"/>
                <a:ea typeface="Arial"/>
                <a:cs typeface="Arial"/>
              </a:defRPr>
            </a:pPr>
            <a:r>
              <a:rPr sz="2400" b="1">
                <a:solidFill>
                  <a:srgbClr val="173B50"/>
                </a:solidFill>
                <a:latin typeface="Arial"/>
                <a:ea typeface="Arial"/>
                <a:cs typeface="Arial"/>
              </a:rPr>
              <a:t>Explained engineering rules</a:t>
            </a:r>
          </a:p>
        </p:txBody>
      </p:sp>
      <p:sp>
        <p:nvSpPr>
          <p:cNvPr id="11" name="Animated fault-and-fix previews and issue navigati">
            <a:extLst xmlns:a="http://schemas.openxmlformats.org/drawingml/2006/main">
              <a:ext uri="{FF2B5EF4-FFF2-40B4-BE49-F238E27FC236}">
                <a16:creationId xmlns:a16="http://schemas.microsoft.com/office/drawing/2014/main" id="{F0469CED-9438-471F-A620-C4793E2D48F0}"/>
              </a:ext>
            </a:extLst>
          </p:cNvPr>
          <p:cNvSpPr>
            <a:spLocks xmlns:a="http://schemas.openxmlformats.org/drawingml/2006/main" noGrp="1"/>
          </p:cNvSpPr>
          <p:nvPr/>
        </p:nvSpPr>
        <p:spPr>
          <a:xfrm xmlns:a="http://schemas.openxmlformats.org/drawingml/2006/main">
            <a:off x="609600" y="4752975"/>
            <a:ext cx="50101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16C7B"/>
                </a:solidFill>
                <a:latin typeface="Arial"/>
                <a:ea typeface="Arial"/>
                <a:cs typeface="Arial"/>
              </a:defRPr>
            </a:defPPr>
          </a:lstStyle>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Animated fault-and-fix previews and issue navigation help engineers understand what to correct.</a:t>
            </a:r>
          </a:p>
        </p:txBody>
      </p:sp>
      <p:sp>
        <p:nvSpPr>
          <p:cNvPr id="12" name="A lower paid entry price">
            <a:extLst xmlns:a="http://schemas.openxmlformats.org/drawingml/2006/main">
              <a:ext uri="{FF2B5EF4-FFF2-40B4-BE49-F238E27FC236}">
                <a16:creationId xmlns:a16="http://schemas.microsoft.com/office/drawing/2014/main" id="{1D748454-1D98-467F-AF03-CF8A8C41ABC9}"/>
              </a:ext>
            </a:extLst>
          </p:cNvPr>
          <p:cNvSpPr>
            <a:spLocks xmlns:a="http://schemas.openxmlformats.org/drawingml/2006/main" noGrp="1"/>
          </p:cNvSpPr>
          <p:nvPr/>
        </p:nvSpPr>
        <p:spPr>
          <a:xfrm xmlns:a="http://schemas.openxmlformats.org/drawingml/2006/main">
            <a:off x="6467475" y="3952875"/>
            <a:ext cx="50101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73B50"/>
                </a:solidFill>
                <a:latin typeface="Arial"/>
                <a:ea typeface="Arial"/>
                <a:cs typeface="Arial"/>
              </a:defRPr>
            </a:defPPr>
          </a:lstStyle>
          <a:p xmlns:a="http://schemas.openxmlformats.org/drawingml/2006/main">
            <a:pPr>
              <a:defRPr sz="2400" b="1">
                <a:solidFill>
                  <a:srgbClr val="173B50"/>
                </a:solidFill>
                <a:latin typeface="Arial"/>
                <a:ea typeface="Arial"/>
                <a:cs typeface="Arial"/>
              </a:defRPr>
            </a:pPr>
            <a:r>
              <a:rPr sz="2400" b="1">
                <a:solidFill>
                  <a:srgbClr val="173B50"/>
                </a:solidFill>
                <a:latin typeface="Arial"/>
                <a:ea typeface="Arial"/>
                <a:cs typeface="Arial"/>
              </a:rPr>
              <a:t>A lower paid entry price</a:t>
            </a:r>
          </a:p>
        </p:txBody>
      </p:sp>
      <p:sp>
        <p:nvSpPr>
          <p:cNvPr id="13" name="Drawing starts at $70/month. RapidHarness Standard">
            <a:extLst xmlns:a="http://schemas.openxmlformats.org/drawingml/2006/main">
              <a:ext uri="{FF2B5EF4-FFF2-40B4-BE49-F238E27FC236}">
                <a16:creationId xmlns:a16="http://schemas.microsoft.com/office/drawing/2014/main" id="{6E80B273-9996-464B-A003-F82DA30D2922}"/>
              </a:ext>
            </a:extLst>
          </p:cNvPr>
          <p:cNvSpPr>
            <a:spLocks xmlns:a="http://schemas.openxmlformats.org/drawingml/2006/main" noGrp="1"/>
          </p:cNvSpPr>
          <p:nvPr/>
        </p:nvSpPr>
        <p:spPr>
          <a:xfrm xmlns:a="http://schemas.openxmlformats.org/drawingml/2006/main">
            <a:off x="6467475" y="4752975"/>
            <a:ext cx="50101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16C7B"/>
                </a:solidFill>
                <a:latin typeface="Arial"/>
                <a:ea typeface="Arial"/>
                <a:cs typeface="Arial"/>
              </a:defRPr>
            </a:defPPr>
          </a:lstStyle>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Drawing starts at $70/month. RapidHarness Standard is $219/month individually. Capability scope differs.</a:t>
            </a:r>
          </a:p>
        </p:txBody>
      </p:sp>
    </p:spTree>
    <p:extLst>
      <p:ext uri="{BB962C8B-B14F-4D97-AF65-F5344CB8AC3E}">
        <p14:creationId xmlns:p14="http://schemas.microsoft.com/office/powerpoint/2010/main" val="130730333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4C1E40A7-499E-44FE-B044-8B272AF69AC9}"/>
              </a:ext>
            </a:extLst>
          </p:cNvPr>
          <p:cNvPicPr>
            <a:picLocks xmlns:a="http://schemas.openxmlformats.org/drawingml/2006/main" noChangeAspect="1"/>
          </p:cNvPicPr>
          <p:nvPr/>
        </p:nvPicPr>
        <p:blipFill>
          <a:blip xmlns:r="http://schemas.openxmlformats.org/officeDocument/2006/relationships" xmlns:a="http://schemas.openxmlformats.org/drawingml/2006/main" r:embed="R33ce5e64f3664ef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Light background wash">
            <a:extLst xmlns:a="http://schemas.openxmlformats.org/drawingml/2006/main">
              <a:ext uri="{FF2B5EF4-FFF2-40B4-BE49-F238E27FC236}">
                <a16:creationId xmlns:a16="http://schemas.microsoft.com/office/drawing/2014/main" id="{BF344600-FF2C-46DA-8080-6FD93057203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90000"/>
            </a:srgbClr>
          </a:solidFill>
          <a:ln xmlns:a="http://schemas.openxmlformats.org/drawingml/2006/main" w="0">
            <a:noFill/>
          </a:ln>
        </p:spPr>
      </p:sp>
      <p:sp>
        <p:nvSpPr>
          <p:cNvPr id="3" name="Proposed subscription model">
            <a:extLst xmlns:a="http://schemas.openxmlformats.org/drawingml/2006/main">
              <a:ext uri="{FF2B5EF4-FFF2-40B4-BE49-F238E27FC236}">
                <a16:creationId xmlns:a16="http://schemas.microsoft.com/office/drawing/2014/main" id="{E4060013-160F-4372-AE52-B67BD0566F2D}"/>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73B50"/>
                </a:solidFill>
                <a:latin typeface="Arial"/>
                <a:ea typeface="Arial"/>
                <a:cs typeface="Arial"/>
              </a:defRPr>
            </a:defPPr>
          </a:lstStyle>
          <a:p xmlns:a="http://schemas.openxmlformats.org/drawingml/2006/main">
            <a:pPr>
              <a:defRPr sz="3450" b="1">
                <a:solidFill>
                  <a:srgbClr val="173B50"/>
                </a:solidFill>
                <a:latin typeface="Arial"/>
                <a:ea typeface="Arial"/>
                <a:cs typeface="Arial"/>
              </a:defRPr>
            </a:pPr>
            <a:r>
              <a:rPr sz="3450" b="1">
                <a:solidFill>
                  <a:srgbClr val="173B50"/>
                </a:solidFill>
                <a:latin typeface="Arial"/>
                <a:ea typeface="Arial"/>
                <a:cs typeface="Arial"/>
              </a:rPr>
              <a:t>Proposed subscription model</a:t>
            </a:r>
          </a:p>
        </p:txBody>
      </p:sp>
      <p:sp>
        <p:nvSpPr>
          <p:cNvPr id="4" name="22">
            <a:extLst xmlns:a="http://schemas.openxmlformats.org/drawingml/2006/main">
              <a:ext uri="{FF2B5EF4-FFF2-40B4-BE49-F238E27FC236}">
                <a16:creationId xmlns:a16="http://schemas.microsoft.com/office/drawing/2014/main" id="{34BF9011-BEE8-42C3-82B0-D000F908BD99}"/>
              </a:ext>
            </a:extLst>
          </p:cNvPr>
          <p:cNvSpPr>
            <a:spLocks xmlns:a="http://schemas.openxmlformats.org/drawingml/2006/main" noGrp="1"/>
          </p:cNvSpPr>
          <p:nvPr/>
        </p:nvSpPr>
        <p:spPr>
          <a:xfrm xmlns:a="http://schemas.openxmlformats.org/drawingml/2006/main">
            <a:off x="11191875"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C7B"/>
                </a:solidFill>
                <a:latin typeface="Arial"/>
                <a:ea typeface="Arial"/>
                <a:cs typeface="Arial"/>
              </a:defRPr>
            </a:defPPr>
          </a:lstStyle>
          <a:p xmlns:a="http://schemas.openxmlformats.org/drawingml/2006/main">
            <a:pPr>
              <a:defRPr sz="1200" b="0">
                <a:solidFill>
                  <a:srgbClr val="516C7B"/>
                </a:solidFill>
                <a:latin typeface="Arial"/>
                <a:ea typeface="Arial"/>
                <a:cs typeface="Arial"/>
              </a:defRPr>
            </a:pPr>
            <a:r>
              <a:rPr sz="1200" b="0">
                <a:solidFill>
                  <a:srgbClr val="516C7B"/>
                </a:solidFill>
                <a:latin typeface="Arial"/>
                <a:ea typeface="Arial"/>
                <a:cs typeface="Arial"/>
              </a:rPr>
              <a:t>22</a:t>
            </a:r>
          </a:p>
        </p:txBody>
      </p:sp>
      <p:sp>
        <p:nvSpPr>
          <p:cNvPr id="5" name="Single-seat and corporate subscriptions. Prices ar">
            <a:extLst xmlns:a="http://schemas.openxmlformats.org/drawingml/2006/main">
              <a:ext uri="{FF2B5EF4-FFF2-40B4-BE49-F238E27FC236}">
                <a16:creationId xmlns:a16="http://schemas.microsoft.com/office/drawing/2014/main" id="{486784BB-28E2-4C7F-9B3B-FE4AFE2CBBF6}"/>
              </a:ext>
            </a:extLst>
          </p:cNvPr>
          <p:cNvSpPr>
            <a:spLocks xmlns:a="http://schemas.openxmlformats.org/drawingml/2006/main" noGrp="1"/>
          </p:cNvSpPr>
          <p:nvPr/>
        </p:nvSpPr>
        <p:spPr>
          <a:xfrm xmlns:a="http://schemas.openxmlformats.org/drawingml/2006/main">
            <a:off x="609600" y="6191250"/>
            <a:ext cx="1019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16C7B"/>
                </a:solidFill>
                <a:latin typeface="Arial"/>
                <a:ea typeface="Arial"/>
                <a:cs typeface="Arial"/>
              </a:defRPr>
            </a:defPPr>
          </a:lstStyle>
          <a:p xmlns:a="http://schemas.openxmlformats.org/drawingml/2006/main">
            <a:pPr>
              <a:defRPr sz="1350" b="0">
                <a:solidFill>
                  <a:srgbClr val="516C7B"/>
                </a:solidFill>
                <a:latin typeface="Arial"/>
                <a:ea typeface="Arial"/>
                <a:cs typeface="Arial"/>
              </a:defRPr>
            </a:pPr>
            <a:r>
              <a:rPr sz="1350" b="0">
                <a:solidFill>
                  <a:srgbClr val="516C7B"/>
                </a:solidFill>
                <a:latin typeface="Arial"/>
                <a:ea typeface="Arial"/>
                <a:cs typeface="Arial"/>
              </a:rPr>
              <a:t>Single-seat and corporate subscriptions. Prices are the proposed commercial plan, before any discounts or tax.</a:t>
            </a:r>
          </a:p>
        </p:txBody>
      </p:sp>
      <p:graphicFrame>
        <p:nvGraphicFramePr>
          <p:cNvPr id="6" name="">
            <a:extLst xmlns:a="http://schemas.openxmlformats.org/drawingml/2006/main">
              <a:ext uri="{FF2B5EF4-FFF2-40B4-BE49-F238E27FC236}">
                <a16:creationId xmlns:a16="http://schemas.microsoft.com/office/drawing/2014/main" id="{A75F6CAD-C988-4E2B-9FAE-5FB4584507C0}"/>
              </a:ext>
            </a:extLst>
          </p:cNvPr>
          <p:cNvGraphicFramePr/>
          <p:nvPr/>
        </p:nvGraphicFramePr>
        <p:xfrm>
          <a:off xmlns:a="http://schemas.openxmlformats.org/drawingml/2006/main" x="609600" y="1600200"/>
          <a:ext xmlns:a="http://schemas.openxmlformats.org/drawingml/2006/main" cx="10972800" cy="3267075"/>
        </p:xfrm>
        <a:graphic xmlns:a="http://schemas.openxmlformats.org/drawingml/2006/main">
          <a:graphicData uri="http://schemas.openxmlformats.org/drawingml/2006/table">
            <a:tbl>
              <a:tblPr/>
              <a:tblGrid>
                <a:gridCol w="2190750"/>
                <a:gridCol w="5486400"/>
                <a:gridCol w="1676400"/>
                <a:gridCol w="1619250"/>
              </a:tblGrid>
              <a:tr h="653415">
                <a:tc>
                  <a:txBody>
                    <a:bodyPr lIns="114300" tIns="114300" rIns="114300" bIns="114300">
                      <a:noAutofit/>
                    </a:bodyPr>
                    <a:lstStyle/>
                    <a:p>
                      <a:r>
                        <a:rPr sz="1950" b="1">
                          <a:solidFill>
                            <a:srgbClr val="173B50"/>
                          </a:solidFill>
                          <a:latin typeface="Arial"/>
                          <a:ea typeface="Arial"/>
                          <a:cs typeface="Arial"/>
                        </a:rPr>
                        <a:t>Tier</a:t>
                      </a:r>
                    </a:p>
                  </a:txBody>
                  <a:tcPr marL="76200" marR="76200" marT="28575" marB="28575" anchor="ctr">
                    <a:solidFill>
                      <a:srgbClr val="E3EFF3"/>
                    </a:solidFill>
                  </a:tcPr>
                </a:tc>
                <a:tc>
                  <a:txBody>
                    <a:bodyPr lIns="114300" tIns="114300" rIns="114300" bIns="114300">
                      <a:noAutofit/>
                    </a:bodyPr>
                    <a:lstStyle/>
                    <a:p>
                      <a:r>
                        <a:rPr sz="1950" b="1">
                          <a:solidFill>
                            <a:srgbClr val="173B50"/>
                          </a:solidFill>
                          <a:latin typeface="Arial"/>
                          <a:ea typeface="Arial"/>
                          <a:cs typeface="Arial"/>
                        </a:rPr>
                        <a:t>Capability bundle</a:t>
                      </a:r>
                    </a:p>
                  </a:txBody>
                  <a:tcPr marL="76200" marR="76200" marT="28575" marB="28575" anchor="ctr">
                    <a:solidFill>
                      <a:srgbClr val="E3EFF3"/>
                    </a:solidFill>
                  </a:tcPr>
                </a:tc>
                <a:tc>
                  <a:txBody>
                    <a:bodyPr lIns="114300" tIns="114300" rIns="114300" bIns="114300">
                      <a:noAutofit/>
                    </a:bodyPr>
                    <a:lstStyle/>
                    <a:p>
                      <a:r>
                        <a:rPr sz="1950" b="1">
                          <a:solidFill>
                            <a:srgbClr val="173B50"/>
                          </a:solidFill>
                          <a:latin typeface="Arial"/>
                          <a:ea typeface="Arial"/>
                          <a:cs typeface="Arial"/>
                        </a:rPr>
                        <a:t>USD / month</a:t>
                      </a:r>
                    </a:p>
                  </a:txBody>
                  <a:tcPr marL="76200" marR="76200" marT="28575" marB="28575" anchor="ctr">
                    <a:solidFill>
                      <a:srgbClr val="E3EFF3"/>
                    </a:solidFill>
                  </a:tcPr>
                </a:tc>
                <a:tc>
                  <a:txBody>
                    <a:bodyPr lIns="114300" tIns="114300" rIns="114300" bIns="114300">
                      <a:noAutofit/>
                    </a:bodyPr>
                    <a:lstStyle/>
                    <a:p>
                      <a:r>
                        <a:rPr sz="1950" b="1">
                          <a:solidFill>
                            <a:srgbClr val="173B50"/>
                          </a:solidFill>
                          <a:latin typeface="Arial"/>
                          <a:ea typeface="Arial"/>
                          <a:cs typeface="Arial"/>
                        </a:rPr>
                        <a:t>USD / year</a:t>
                      </a:r>
                    </a:p>
                  </a:txBody>
                  <a:tcPr marL="76200" marR="76200" marT="28575" marB="28575" anchor="ctr">
                    <a:solidFill>
                      <a:srgbClr val="E3EFF3"/>
                    </a:solidFill>
                  </a:tcPr>
                </a:tc>
              </a:tr>
              <a:tr h="653415">
                <a:tc>
                  <a:txBody>
                    <a:bodyPr lIns="114300" tIns="114300" rIns="114300" bIns="114300">
                      <a:noAutofit/>
                    </a:bodyPr>
                    <a:lstStyle/>
                    <a:p>
                      <a:r>
                        <a:rPr sz="1950" b="0">
                          <a:solidFill>
                            <a:srgbClr val="173B50"/>
                          </a:solidFill>
                          <a:latin typeface="Arial"/>
                          <a:ea typeface="Arial"/>
                          <a:cs typeface="Arial"/>
                        </a:rPr>
                        <a:t>Free</a:t>
                      </a:r>
                    </a:p>
                  </a:txBody>
                  <a:tcPr marL="76200" marR="76200" marT="28575" marB="28575" anchor="ctr">
                    <a:solidFill>
                      <a:srgbClr val="FFFFFF"/>
                    </a:solidFill>
                  </a:tcPr>
                </a:tc>
                <a:tc>
                  <a:txBody>
                    <a:bodyPr lIns="114300" tIns="114300" rIns="114300" bIns="114300">
                      <a:noAutofit/>
                    </a:bodyPr>
                    <a:lstStyle/>
                    <a:p>
                      <a:r>
                        <a:rPr sz="1950" b="0">
                          <a:solidFill>
                            <a:srgbClr val="173B50"/>
                          </a:solidFill>
                          <a:latin typeface="Arial"/>
                          <a:ea typeface="Arial"/>
                          <a:cs typeface="Arial"/>
                        </a:rPr>
                        <a:t>Evaluation access, limits to define</a:t>
                      </a:r>
                    </a:p>
                  </a:txBody>
                  <a:tcPr marL="76200" marR="76200" marT="28575" marB="28575" anchor="ctr">
                    <a:solidFill>
                      <a:srgbClr val="FFFFFF"/>
                    </a:solidFill>
                  </a:tcPr>
                </a:tc>
                <a:tc>
                  <a:txBody>
                    <a:bodyPr lIns="114300" tIns="114300" rIns="114300" bIns="114300">
                      <a:noAutofit/>
                    </a:bodyPr>
                    <a:lstStyle/>
                    <a:p>
                      <a:r>
                        <a:rPr sz="1950" b="0">
                          <a:solidFill>
                            <a:srgbClr val="173B50"/>
                          </a:solidFill>
                          <a:latin typeface="Arial"/>
                          <a:ea typeface="Arial"/>
                          <a:cs typeface="Arial"/>
                        </a:rPr>
                        <a:t>$0</a:t>
                      </a:r>
                    </a:p>
                  </a:txBody>
                  <a:tcPr marL="76200" marR="76200" marT="28575" marB="28575" anchor="ctr">
                    <a:solidFill>
                      <a:srgbClr val="FFFFFF"/>
                    </a:solidFill>
                  </a:tcPr>
                </a:tc>
                <a:tc>
                  <a:txBody>
                    <a:bodyPr lIns="114300" tIns="114300" rIns="114300" bIns="114300">
                      <a:noAutofit/>
                    </a:bodyPr>
                    <a:lstStyle/>
                    <a:p>
                      <a:r>
                        <a:rPr sz="1950" b="0">
                          <a:solidFill>
                            <a:srgbClr val="173B50"/>
                          </a:solidFill>
                          <a:latin typeface="Arial"/>
                          <a:ea typeface="Arial"/>
                          <a:cs typeface="Arial"/>
                        </a:rPr>
                        <a:t>$0</a:t>
                      </a:r>
                    </a:p>
                  </a:txBody>
                  <a:tcPr marL="76200" marR="76200" marT="28575" marB="28575" anchor="ctr">
                    <a:solidFill>
                      <a:srgbClr val="FFFFFF"/>
                    </a:solidFill>
                  </a:tcPr>
                </a:tc>
              </a:tr>
              <a:tr h="653415">
                <a:tc>
                  <a:txBody>
                    <a:bodyPr lIns="114300" tIns="114300" rIns="114300" bIns="114300">
                      <a:noAutofit/>
                    </a:bodyPr>
                    <a:lstStyle/>
                    <a:p>
                      <a:r>
                        <a:rPr sz="1950" b="0">
                          <a:solidFill>
                            <a:srgbClr val="173B50"/>
                          </a:solidFill>
                          <a:latin typeface="Arial"/>
                          <a:ea typeface="Arial"/>
                          <a:cs typeface="Arial"/>
                        </a:rPr>
                        <a:t>Drawing</a:t>
                      </a:r>
                    </a:p>
                  </a:txBody>
                  <a:tcPr marL="76200" marR="76200" marT="28575" marB="28575" anchor="ctr">
                    <a:solidFill>
                      <a:srgbClr val="F2F6F7"/>
                    </a:solidFill>
                  </a:tcPr>
                </a:tc>
                <a:tc>
                  <a:txBody>
                    <a:bodyPr lIns="114300" tIns="114300" rIns="114300" bIns="114300">
                      <a:noAutofit/>
                    </a:bodyPr>
                    <a:lstStyle/>
                    <a:p>
                      <a:r>
                        <a:rPr sz="1950" b="0">
                          <a:solidFill>
                            <a:srgbClr val="173B50"/>
                          </a:solidFill>
                          <a:latin typeface="Arial"/>
                          <a:ea typeface="Arial"/>
                          <a:cs typeface="Arial"/>
                        </a:rPr>
                        <a:t>Harness drawing capabilities</a:t>
                      </a:r>
                    </a:p>
                  </a:txBody>
                  <a:tcPr marL="76200" marR="76200" marT="28575" marB="28575" anchor="ctr">
                    <a:solidFill>
                      <a:srgbClr val="F2F6F7"/>
                    </a:solidFill>
                  </a:tcPr>
                </a:tc>
                <a:tc>
                  <a:txBody>
                    <a:bodyPr lIns="114300" tIns="114300" rIns="114300" bIns="114300">
                      <a:noAutofit/>
                    </a:bodyPr>
                    <a:lstStyle/>
                    <a:p>
                      <a:r>
                        <a:rPr sz="1950" b="0">
                          <a:solidFill>
                            <a:srgbClr val="173B50"/>
                          </a:solidFill>
                          <a:latin typeface="Arial"/>
                          <a:ea typeface="Arial"/>
                          <a:cs typeface="Arial"/>
                        </a:rPr>
                        <a:t>$70</a:t>
                      </a:r>
                    </a:p>
                  </a:txBody>
                  <a:tcPr marL="76200" marR="76200" marT="28575" marB="28575" anchor="ctr">
                    <a:solidFill>
                      <a:srgbClr val="F2F6F7"/>
                    </a:solidFill>
                  </a:tcPr>
                </a:tc>
                <a:tc>
                  <a:txBody>
                    <a:bodyPr lIns="114300" tIns="114300" rIns="114300" bIns="114300">
                      <a:noAutofit/>
                    </a:bodyPr>
                    <a:lstStyle/>
                    <a:p>
                      <a:r>
                        <a:rPr sz="1950" b="0">
                          <a:solidFill>
                            <a:srgbClr val="173B50"/>
                          </a:solidFill>
                          <a:latin typeface="Arial"/>
                          <a:ea typeface="Arial"/>
                          <a:cs typeface="Arial"/>
                        </a:rPr>
                        <a:t>$840</a:t>
                      </a:r>
                    </a:p>
                  </a:txBody>
                  <a:tcPr marL="76200" marR="76200" marT="28575" marB="28575" anchor="ctr">
                    <a:solidFill>
                      <a:srgbClr val="F2F6F7"/>
                    </a:solidFill>
                  </a:tcPr>
                </a:tc>
              </a:tr>
              <a:tr h="653415">
                <a:tc>
                  <a:txBody>
                    <a:bodyPr lIns="114300" tIns="114300" rIns="114300" bIns="114300">
                      <a:noAutofit/>
                    </a:bodyPr>
                    <a:lstStyle/>
                    <a:p>
                      <a:r>
                        <a:rPr sz="1950" b="0">
                          <a:solidFill>
                            <a:srgbClr val="173B50"/>
                          </a:solidFill>
                          <a:latin typeface="Arial"/>
                          <a:ea typeface="Arial"/>
                          <a:cs typeface="Arial"/>
                        </a:rPr>
                        <a:t>Engineering</a:t>
                      </a:r>
                    </a:p>
                  </a:txBody>
                  <a:tcPr marL="76200" marR="76200" marT="28575" marB="28575" anchor="ctr">
                    <a:solidFill>
                      <a:srgbClr val="FFFFFF"/>
                    </a:solidFill>
                  </a:tcPr>
                </a:tc>
                <a:tc>
                  <a:txBody>
                    <a:bodyPr lIns="114300" tIns="114300" rIns="114300" bIns="114300">
                      <a:noAutofit/>
                    </a:bodyPr>
                    <a:lstStyle/>
                    <a:p>
                      <a:r>
                        <a:rPr sz="1950" b="0">
                          <a:solidFill>
                            <a:srgbClr val="173B50"/>
                          </a:solidFill>
                          <a:latin typeface="Arial"/>
                          <a:ea typeface="Arial"/>
                          <a:cs typeface="Arial"/>
                        </a:rPr>
                        <a:t>Schematic and mechanical harness wizards</a:t>
                      </a:r>
                    </a:p>
                  </a:txBody>
                  <a:tcPr marL="76200" marR="76200" marT="28575" marB="28575" anchor="ctr">
                    <a:solidFill>
                      <a:srgbClr val="FFFFFF"/>
                    </a:solidFill>
                  </a:tcPr>
                </a:tc>
                <a:tc>
                  <a:txBody>
                    <a:bodyPr lIns="114300" tIns="114300" rIns="114300" bIns="114300">
                      <a:noAutofit/>
                    </a:bodyPr>
                    <a:lstStyle/>
                    <a:p>
                      <a:r>
                        <a:rPr sz="1950" b="0">
                          <a:solidFill>
                            <a:srgbClr val="173B50"/>
                          </a:solidFill>
                          <a:latin typeface="Arial"/>
                          <a:ea typeface="Arial"/>
                          <a:cs typeface="Arial"/>
                        </a:rPr>
                        <a:t>$100</a:t>
                      </a:r>
                    </a:p>
                  </a:txBody>
                  <a:tcPr marL="76200" marR="76200" marT="28575" marB="28575" anchor="ctr">
                    <a:solidFill>
                      <a:srgbClr val="FFFFFF"/>
                    </a:solidFill>
                  </a:tcPr>
                </a:tc>
                <a:tc>
                  <a:txBody>
                    <a:bodyPr lIns="114300" tIns="114300" rIns="114300" bIns="114300">
                      <a:noAutofit/>
                    </a:bodyPr>
                    <a:lstStyle/>
                    <a:p>
                      <a:r>
                        <a:rPr sz="1950" b="0">
                          <a:solidFill>
                            <a:srgbClr val="173B50"/>
                          </a:solidFill>
                          <a:latin typeface="Arial"/>
                          <a:ea typeface="Arial"/>
                          <a:cs typeface="Arial"/>
                        </a:rPr>
                        <a:t>$1,200</a:t>
                      </a:r>
                    </a:p>
                  </a:txBody>
                  <a:tcPr marL="76200" marR="76200" marT="28575" marB="28575" anchor="ctr">
                    <a:solidFill>
                      <a:srgbClr val="FFFFFF"/>
                    </a:solidFill>
                  </a:tcPr>
                </a:tc>
              </a:tr>
              <a:tr h="653415">
                <a:tc>
                  <a:txBody>
                    <a:bodyPr lIns="114300" tIns="114300" rIns="114300" bIns="114300">
                      <a:noAutofit/>
                    </a:bodyPr>
                    <a:lstStyle/>
                    <a:p>
                      <a:r>
                        <a:rPr sz="1950" b="0">
                          <a:solidFill>
                            <a:srgbClr val="173B50"/>
                          </a:solidFill>
                          <a:latin typeface="Arial"/>
                          <a:ea typeface="Arial"/>
                          <a:cs typeface="Arial"/>
                        </a:rPr>
                        <a:t>Complete</a:t>
                      </a:r>
                    </a:p>
                  </a:txBody>
                  <a:tcPr marL="76200" marR="76200" marT="28575" marB="28575" anchor="ctr">
                    <a:solidFill>
                      <a:srgbClr val="F2F6F7"/>
                    </a:solidFill>
                  </a:tcPr>
                </a:tc>
                <a:tc>
                  <a:txBody>
                    <a:bodyPr lIns="114300" tIns="114300" rIns="114300" bIns="114300">
                      <a:noAutofit/>
                    </a:bodyPr>
                    <a:lstStyle/>
                    <a:p>
                      <a:r>
                        <a:rPr sz="1950" b="0">
                          <a:solidFill>
                            <a:srgbClr val="173B50"/>
                          </a:solidFill>
                          <a:latin typeface="Arial"/>
                          <a:ea typeface="Arial"/>
                          <a:cs typeface="Arial"/>
                        </a:rPr>
                        <a:t>3D and system design capabilities</a:t>
                      </a:r>
                    </a:p>
                  </a:txBody>
                  <a:tcPr marL="76200" marR="76200" marT="28575" marB="28575" anchor="ctr">
                    <a:solidFill>
                      <a:srgbClr val="F2F6F7"/>
                    </a:solidFill>
                  </a:tcPr>
                </a:tc>
                <a:tc>
                  <a:txBody>
                    <a:bodyPr lIns="114300" tIns="114300" rIns="114300" bIns="114300">
                      <a:noAutofit/>
                    </a:bodyPr>
                    <a:lstStyle/>
                    <a:p>
                      <a:r>
                        <a:rPr sz="1950" b="0">
                          <a:solidFill>
                            <a:srgbClr val="173B50"/>
                          </a:solidFill>
                          <a:latin typeface="Arial"/>
                          <a:ea typeface="Arial"/>
                          <a:cs typeface="Arial"/>
                        </a:rPr>
                        <a:t>$150</a:t>
                      </a:r>
                    </a:p>
                  </a:txBody>
                  <a:tcPr marL="76200" marR="76200" marT="28575" marB="28575" anchor="ctr">
                    <a:solidFill>
                      <a:srgbClr val="F2F6F7"/>
                    </a:solidFill>
                  </a:tcPr>
                </a:tc>
                <a:tc>
                  <a:txBody>
                    <a:bodyPr lIns="114300" tIns="114300" rIns="114300" bIns="114300">
                      <a:noAutofit/>
                    </a:bodyPr>
                    <a:lstStyle/>
                    <a:p>
                      <a:r>
                        <a:rPr sz="1950" b="0">
                          <a:solidFill>
                            <a:srgbClr val="173B50"/>
                          </a:solidFill>
                          <a:latin typeface="Arial"/>
                          <a:ea typeface="Arial"/>
                          <a:cs typeface="Arial"/>
                        </a:rPr>
                        <a:t>$1,800</a:t>
                      </a:r>
                    </a:p>
                  </a:txBody>
                  <a:tcPr marL="76200" marR="76200" marT="28575" marB="28575" anchor="ctr">
                    <a:solidFill>
                      <a:srgbClr val="F2F6F7"/>
                    </a:solidFill>
                  </a:tcPr>
                </a:tc>
              </a:tr>
            </a:tbl>
          </a:graphicData>
        </a:graphic>
      </p:graphicFrame>
      <p:sp>
        <p:nvSpPr>
          <p:cNvPr id="7" name="Corporate terms">
            <a:extLst xmlns:a="http://schemas.openxmlformats.org/drawingml/2006/main">
              <a:ext uri="{FF2B5EF4-FFF2-40B4-BE49-F238E27FC236}">
                <a16:creationId xmlns:a16="http://schemas.microsoft.com/office/drawing/2014/main" id="{EC9D99D7-23BF-4B60-AD7E-FE8FCAFBCA93}"/>
              </a:ext>
            </a:extLst>
          </p:cNvPr>
          <p:cNvSpPr>
            <a:spLocks xmlns:a="http://schemas.openxmlformats.org/drawingml/2006/main" noGrp="1"/>
          </p:cNvSpPr>
          <p:nvPr/>
        </p:nvSpPr>
        <p:spPr>
          <a:xfrm xmlns:a="http://schemas.openxmlformats.org/drawingml/2006/main">
            <a:off x="609600" y="5210175"/>
            <a:ext cx="10382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73B50"/>
                </a:solidFill>
                <a:latin typeface="Arial"/>
                <a:ea typeface="Arial"/>
                <a:cs typeface="Arial"/>
              </a:defRPr>
            </a:defPPr>
          </a:lstStyle>
          <a:p xmlns:a="http://schemas.openxmlformats.org/drawingml/2006/main">
            <a:pPr>
              <a:defRPr sz="2400" b="1">
                <a:solidFill>
                  <a:srgbClr val="173B50"/>
                </a:solidFill>
                <a:latin typeface="Arial"/>
                <a:ea typeface="Arial"/>
                <a:cs typeface="Arial"/>
              </a:defRPr>
            </a:pPr>
            <a:r>
              <a:rPr sz="2400" b="1">
                <a:solidFill>
                  <a:srgbClr val="173B50"/>
                </a:solidFill>
                <a:latin typeface="Arial"/>
                <a:ea typeface="Arial"/>
                <a:cs typeface="Arial"/>
              </a:rPr>
              <a:t>Corporate terms</a:t>
            </a:r>
          </a:p>
        </p:txBody>
      </p:sp>
      <p:sp>
        <p:nvSpPr>
          <p:cNvPr id="8" name="Multiple seats with volume and deployment terms to">
            <a:extLst xmlns:a="http://schemas.openxmlformats.org/drawingml/2006/main">
              <a:ext uri="{FF2B5EF4-FFF2-40B4-BE49-F238E27FC236}">
                <a16:creationId xmlns:a16="http://schemas.microsoft.com/office/drawing/2014/main" id="{7E556C9B-9B6D-46E7-BC19-AEB2B9EB1FE8}"/>
              </a:ext>
            </a:extLst>
          </p:cNvPr>
          <p:cNvSpPr>
            <a:spLocks xmlns:a="http://schemas.openxmlformats.org/drawingml/2006/main" noGrp="1"/>
          </p:cNvSpPr>
          <p:nvPr/>
        </p:nvSpPr>
        <p:spPr>
          <a:xfrm xmlns:a="http://schemas.openxmlformats.org/drawingml/2006/main">
            <a:off x="609600" y="574357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16C7B"/>
                </a:solidFill>
                <a:latin typeface="Arial"/>
                <a:ea typeface="Arial"/>
                <a:cs typeface="Arial"/>
              </a:defRPr>
            </a:defPPr>
          </a:lstStyle>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Multiple seats with volume and deployment terms to define during customer pilots.</a:t>
            </a:r>
          </a:p>
        </p:txBody>
      </p:sp>
    </p:spTree>
    <p:extLst>
      <p:ext uri="{BB962C8B-B14F-4D97-AF65-F5344CB8AC3E}">
        <p14:creationId xmlns:p14="http://schemas.microsoft.com/office/powerpoint/2010/main" val="51758950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1165D25C-4E05-47BC-A8CE-DD55DFAA8DE5}"/>
              </a:ext>
            </a:extLst>
          </p:cNvPr>
          <p:cNvPicPr>
            <a:picLocks xmlns:a="http://schemas.openxmlformats.org/drawingml/2006/main" noChangeAspect="1"/>
          </p:cNvPicPr>
          <p:nvPr/>
        </p:nvPicPr>
        <p:blipFill>
          <a:blip xmlns:r="http://schemas.openxmlformats.org/officeDocument/2006/relationships" xmlns:a="http://schemas.openxmlformats.org/drawingml/2006/main" r:embed="R187306521b2b42b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Light background wash">
            <a:extLst xmlns:a="http://schemas.openxmlformats.org/drawingml/2006/main">
              <a:ext uri="{FF2B5EF4-FFF2-40B4-BE49-F238E27FC236}">
                <a16:creationId xmlns:a16="http://schemas.microsoft.com/office/drawing/2014/main" id="{E5E25899-F221-47BE-A508-AB766C8624E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90000"/>
            </a:srgbClr>
          </a:solidFill>
          <a:ln xmlns:a="http://schemas.openxmlformats.org/drawingml/2006/main" w="0">
            <a:noFill/>
          </a:ln>
        </p:spPr>
      </p:sp>
      <p:sp>
        <p:nvSpPr>
          <p:cNvPr id="3" name="Revenue when each company buys one seat">
            <a:extLst xmlns:a="http://schemas.openxmlformats.org/drawingml/2006/main">
              <a:ext uri="{FF2B5EF4-FFF2-40B4-BE49-F238E27FC236}">
                <a16:creationId xmlns:a16="http://schemas.microsoft.com/office/drawing/2014/main" id="{5D74920D-552B-4D45-8A84-3F565AC1FDE8}"/>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73B50"/>
                </a:solidFill>
                <a:latin typeface="Arial"/>
                <a:ea typeface="Arial"/>
                <a:cs typeface="Arial"/>
              </a:defRPr>
            </a:defPPr>
          </a:lstStyle>
          <a:p xmlns:a="http://schemas.openxmlformats.org/drawingml/2006/main">
            <a:pPr>
              <a:defRPr sz="3450" b="1">
                <a:solidFill>
                  <a:srgbClr val="173B50"/>
                </a:solidFill>
                <a:latin typeface="Arial"/>
                <a:ea typeface="Arial"/>
                <a:cs typeface="Arial"/>
              </a:defRPr>
            </a:pPr>
            <a:r>
              <a:rPr sz="3450" b="1">
                <a:solidFill>
                  <a:srgbClr val="173B50"/>
                </a:solidFill>
                <a:latin typeface="Arial"/>
                <a:ea typeface="Arial"/>
                <a:cs typeface="Arial"/>
              </a:rPr>
              <a:t>Revenue when each company buys one seat</a:t>
            </a:r>
          </a:p>
        </p:txBody>
      </p:sp>
      <p:sp>
        <p:nvSpPr>
          <p:cNvPr id="4" name="23">
            <a:extLst xmlns:a="http://schemas.openxmlformats.org/drawingml/2006/main">
              <a:ext uri="{FF2B5EF4-FFF2-40B4-BE49-F238E27FC236}">
                <a16:creationId xmlns:a16="http://schemas.microsoft.com/office/drawing/2014/main" id="{2E28B6A3-7B5B-48D2-8F8D-032B96A3C4D5}"/>
              </a:ext>
            </a:extLst>
          </p:cNvPr>
          <p:cNvSpPr>
            <a:spLocks xmlns:a="http://schemas.openxmlformats.org/drawingml/2006/main" noGrp="1"/>
          </p:cNvSpPr>
          <p:nvPr/>
        </p:nvSpPr>
        <p:spPr>
          <a:xfrm xmlns:a="http://schemas.openxmlformats.org/drawingml/2006/main">
            <a:off x="11191875"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C7B"/>
                </a:solidFill>
                <a:latin typeface="Arial"/>
                <a:ea typeface="Arial"/>
                <a:cs typeface="Arial"/>
              </a:defRPr>
            </a:defPPr>
          </a:lstStyle>
          <a:p xmlns:a="http://schemas.openxmlformats.org/drawingml/2006/main">
            <a:pPr>
              <a:defRPr sz="1200" b="0">
                <a:solidFill>
                  <a:srgbClr val="516C7B"/>
                </a:solidFill>
                <a:latin typeface="Arial"/>
                <a:ea typeface="Arial"/>
                <a:cs typeface="Arial"/>
              </a:defRPr>
            </a:pPr>
            <a:r>
              <a:rPr sz="1200" b="0">
                <a:solidFill>
                  <a:srgbClr val="516C7B"/>
                </a:solidFill>
                <a:latin typeface="Arial"/>
                <a:ea typeface="Arial"/>
                <a:cs typeface="Arial"/>
              </a:rPr>
              <a:t>23</a:t>
            </a:r>
          </a:p>
        </p:txBody>
      </p:sp>
      <p:sp>
        <p:nvSpPr>
          <p:cNvPr id="5" name="One paid seat per company. Illustrative annual rev">
            <a:extLst xmlns:a="http://schemas.openxmlformats.org/drawingml/2006/main">
              <a:ext uri="{FF2B5EF4-FFF2-40B4-BE49-F238E27FC236}">
                <a16:creationId xmlns:a16="http://schemas.microsoft.com/office/drawing/2014/main" id="{AFF7F1F1-4CC0-4517-895D-4F9286893A7B}"/>
              </a:ext>
            </a:extLst>
          </p:cNvPr>
          <p:cNvSpPr>
            <a:spLocks xmlns:a="http://schemas.openxmlformats.org/drawingml/2006/main" noGrp="1"/>
          </p:cNvSpPr>
          <p:nvPr/>
        </p:nvSpPr>
        <p:spPr>
          <a:xfrm xmlns:a="http://schemas.openxmlformats.org/drawingml/2006/main">
            <a:off x="609600" y="6191250"/>
            <a:ext cx="1019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16C7B"/>
                </a:solidFill>
                <a:latin typeface="Arial"/>
                <a:ea typeface="Arial"/>
                <a:cs typeface="Arial"/>
              </a:defRPr>
            </a:defPPr>
          </a:lstStyle>
          <a:p xmlns:a="http://schemas.openxmlformats.org/drawingml/2006/main">
            <a:pPr>
              <a:defRPr sz="1350" b="0">
                <a:solidFill>
                  <a:srgbClr val="516C7B"/>
                </a:solidFill>
                <a:latin typeface="Arial"/>
                <a:ea typeface="Arial"/>
                <a:cs typeface="Arial"/>
              </a:defRPr>
            </a:pPr>
            <a:r>
              <a:rPr sz="1350" b="0">
                <a:solidFill>
                  <a:srgbClr val="516C7B"/>
                </a:solidFill>
                <a:latin typeface="Arial"/>
                <a:ea typeface="Arial"/>
                <a:cs typeface="Arial"/>
              </a:rPr>
              <a:t>One paid seat per company. Illustrative annual revenue only, before costs, discounts, churn and tax.</a:t>
            </a:r>
          </a:p>
        </p:txBody>
      </p:sp>
      <p:sp>
        <p:nvSpPr>
          <p:cNvPr id="6" name="A one-seat customer contributes $840–$1,800 per ye">
            <a:extLst xmlns:a="http://schemas.openxmlformats.org/drawingml/2006/main">
              <a:ext uri="{FF2B5EF4-FFF2-40B4-BE49-F238E27FC236}">
                <a16:creationId xmlns:a16="http://schemas.microsoft.com/office/drawing/2014/main" id="{DD57EA55-B02E-4E62-B44F-F4E3E734B731}"/>
              </a:ext>
            </a:extLst>
          </p:cNvPr>
          <p:cNvSpPr>
            <a:spLocks xmlns:a="http://schemas.openxmlformats.org/drawingml/2006/main" noGrp="1"/>
          </p:cNvSpPr>
          <p:nvPr/>
        </p:nvSpPr>
        <p:spPr>
          <a:xfrm xmlns:a="http://schemas.openxmlformats.org/drawingml/2006/main">
            <a:off x="609600" y="1562100"/>
            <a:ext cx="108394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173B50"/>
                </a:solidFill>
                <a:latin typeface="Arial"/>
                <a:ea typeface="Arial"/>
                <a:cs typeface="Arial"/>
              </a:defRPr>
            </a:defPPr>
          </a:lstStyle>
          <a:p xmlns:a="http://schemas.openxmlformats.org/drawingml/2006/main">
            <a:pPr>
              <a:defRPr sz="2850" b="1">
                <a:solidFill>
                  <a:srgbClr val="173B50"/>
                </a:solidFill>
                <a:latin typeface="Arial"/>
                <a:ea typeface="Arial"/>
                <a:cs typeface="Arial"/>
              </a:defRPr>
            </a:pPr>
            <a:r>
              <a:rPr sz="2850" b="1">
                <a:solidFill>
                  <a:srgbClr val="173B50"/>
                </a:solidFill>
                <a:latin typeface="Arial"/>
                <a:ea typeface="Arial"/>
                <a:cs typeface="Arial"/>
              </a:rPr>
              <a:t>A one-seat customer contributes $840–$1,800 per year</a:t>
            </a:r>
          </a:p>
        </p:txBody>
      </p:sp>
      <p:graphicFrame>
        <p:nvGraphicFramePr>
          <p:cNvPr id="7" name="">
            <a:extLst xmlns:a="http://schemas.openxmlformats.org/drawingml/2006/main">
              <a:ext uri="{FF2B5EF4-FFF2-40B4-BE49-F238E27FC236}">
                <a16:creationId xmlns:a16="http://schemas.microsoft.com/office/drawing/2014/main" id="{E835D638-27FD-4C9B-9A80-661B324AF377}"/>
              </a:ext>
            </a:extLst>
          </p:cNvPr>
          <p:cNvGraphicFramePr/>
          <p:nvPr/>
        </p:nvGraphicFramePr>
        <p:xfrm>
          <a:off xmlns:a="http://schemas.openxmlformats.org/drawingml/2006/main" x="609600" y="2781300"/>
          <a:ext xmlns:a="http://schemas.openxmlformats.org/drawingml/2006/main" cx="10972800" cy="2800350"/>
        </p:xfrm>
        <a:graphic xmlns:a="http://schemas.openxmlformats.org/drawingml/2006/main">
          <a:graphicData uri="http://schemas.openxmlformats.org/drawingml/2006/table">
            <a:tbl>
              <a:tblPr/>
              <a:tblGrid>
                <a:gridCol w="2857500"/>
                <a:gridCol w="2705100"/>
                <a:gridCol w="2705100"/>
                <a:gridCol w="2705100"/>
              </a:tblGrid>
              <a:tr h="560070">
                <a:tc>
                  <a:txBody>
                    <a:bodyPr lIns="114300" tIns="114300" rIns="114300" bIns="114300">
                      <a:noAutofit/>
                    </a:bodyPr>
                    <a:lstStyle/>
                    <a:p>
                      <a:r>
                        <a:rPr sz="1875" b="1">
                          <a:solidFill>
                            <a:srgbClr val="173B50"/>
                          </a:solidFill>
                          <a:latin typeface="Arial"/>
                          <a:ea typeface="Arial"/>
                          <a:cs typeface="Arial"/>
                        </a:rPr>
                        <a:t>Paying companies</a:t>
                      </a:r>
                    </a:p>
                  </a:txBody>
                  <a:tcPr marL="76200" marR="76200" marT="28575" marB="28575" anchor="ctr">
                    <a:solidFill>
                      <a:srgbClr val="E3EFF3"/>
                    </a:solidFill>
                  </a:tcPr>
                </a:tc>
                <a:tc>
                  <a:txBody>
                    <a:bodyPr lIns="114300" tIns="114300" rIns="114300" bIns="114300">
                      <a:noAutofit/>
                    </a:bodyPr>
                    <a:lstStyle/>
                    <a:p>
                      <a:r>
                        <a:rPr sz="1875" b="1">
                          <a:solidFill>
                            <a:srgbClr val="173B50"/>
                          </a:solidFill>
                          <a:latin typeface="Arial"/>
                          <a:ea typeface="Arial"/>
                          <a:cs typeface="Arial"/>
                        </a:rPr>
                        <a:t>Drawing $70/mo</a:t>
                      </a:r>
                    </a:p>
                  </a:txBody>
                  <a:tcPr marL="76200" marR="76200" marT="28575" marB="28575" anchor="ctr">
                    <a:solidFill>
                      <a:srgbClr val="E3EFF3"/>
                    </a:solidFill>
                  </a:tcPr>
                </a:tc>
                <a:tc>
                  <a:txBody>
                    <a:bodyPr lIns="114300" tIns="114300" rIns="114300" bIns="114300">
                      <a:noAutofit/>
                    </a:bodyPr>
                    <a:lstStyle/>
                    <a:p>
                      <a:r>
                        <a:rPr sz="1875" b="1">
                          <a:solidFill>
                            <a:srgbClr val="173B50"/>
                          </a:solidFill>
                          <a:latin typeface="Arial"/>
                          <a:ea typeface="Arial"/>
                          <a:cs typeface="Arial"/>
                        </a:rPr>
                        <a:t>Engineering $100/mo</a:t>
                      </a:r>
                    </a:p>
                  </a:txBody>
                  <a:tcPr marL="76200" marR="76200" marT="28575" marB="28575" anchor="ctr">
                    <a:solidFill>
                      <a:srgbClr val="E3EFF3"/>
                    </a:solidFill>
                  </a:tcPr>
                </a:tc>
                <a:tc>
                  <a:txBody>
                    <a:bodyPr lIns="114300" tIns="114300" rIns="114300" bIns="114300">
                      <a:noAutofit/>
                    </a:bodyPr>
                    <a:lstStyle/>
                    <a:p>
                      <a:r>
                        <a:rPr sz="1875" b="1">
                          <a:solidFill>
                            <a:srgbClr val="173B50"/>
                          </a:solidFill>
                          <a:latin typeface="Arial"/>
                          <a:ea typeface="Arial"/>
                          <a:cs typeface="Arial"/>
                        </a:rPr>
                        <a:t>Complete $150/mo</a:t>
                      </a:r>
                    </a:p>
                  </a:txBody>
                  <a:tcPr marL="76200" marR="76200" marT="28575" marB="28575" anchor="ctr">
                    <a:solidFill>
                      <a:srgbClr val="E3EFF3"/>
                    </a:solidFill>
                  </a:tcPr>
                </a:tc>
              </a:tr>
              <a:tr h="560070">
                <a:tc>
                  <a:txBody>
                    <a:bodyPr lIns="114300" tIns="114300" rIns="114300" bIns="114300">
                      <a:noAutofit/>
                    </a:bodyPr>
                    <a:lstStyle/>
                    <a:p>
                      <a:r>
                        <a:rPr sz="1875" b="0">
                          <a:solidFill>
                            <a:srgbClr val="173B50"/>
                          </a:solidFill>
                          <a:latin typeface="Arial"/>
                          <a:ea typeface="Arial"/>
                          <a:cs typeface="Arial"/>
                        </a:rPr>
                        <a:t>100</a:t>
                      </a:r>
                    </a:p>
                  </a:txBody>
                  <a:tcPr marL="76200" marR="76200" marT="28575" marB="28575" anchor="ctr">
                    <a:solidFill>
                      <a:srgbClr val="FFFFFF"/>
                    </a:solidFill>
                  </a:tcPr>
                </a:tc>
                <a:tc>
                  <a:txBody>
                    <a:bodyPr lIns="114300" tIns="114300" rIns="114300" bIns="114300">
                      <a:noAutofit/>
                    </a:bodyPr>
                    <a:lstStyle/>
                    <a:p>
                      <a:r>
                        <a:rPr sz="1875" b="0">
                          <a:solidFill>
                            <a:srgbClr val="173B50"/>
                          </a:solidFill>
                          <a:latin typeface="Arial"/>
                          <a:ea typeface="Arial"/>
                          <a:cs typeface="Arial"/>
                        </a:rPr>
                        <a:t>$84,000</a:t>
                      </a:r>
                    </a:p>
                  </a:txBody>
                  <a:tcPr marL="76200" marR="76200" marT="28575" marB="28575" anchor="ctr">
                    <a:solidFill>
                      <a:srgbClr val="FFFFFF"/>
                    </a:solidFill>
                  </a:tcPr>
                </a:tc>
                <a:tc>
                  <a:txBody>
                    <a:bodyPr lIns="114300" tIns="114300" rIns="114300" bIns="114300">
                      <a:noAutofit/>
                    </a:bodyPr>
                    <a:lstStyle/>
                    <a:p>
                      <a:r>
                        <a:rPr sz="1875" b="0">
                          <a:solidFill>
                            <a:srgbClr val="173B50"/>
                          </a:solidFill>
                          <a:latin typeface="Arial"/>
                          <a:ea typeface="Arial"/>
                          <a:cs typeface="Arial"/>
                        </a:rPr>
                        <a:t>$120,000</a:t>
                      </a:r>
                    </a:p>
                  </a:txBody>
                  <a:tcPr marL="76200" marR="76200" marT="28575" marB="28575" anchor="ctr">
                    <a:solidFill>
                      <a:srgbClr val="FFFFFF"/>
                    </a:solidFill>
                  </a:tcPr>
                </a:tc>
                <a:tc>
                  <a:txBody>
                    <a:bodyPr lIns="114300" tIns="114300" rIns="114300" bIns="114300">
                      <a:noAutofit/>
                    </a:bodyPr>
                    <a:lstStyle/>
                    <a:p>
                      <a:r>
                        <a:rPr sz="1875" b="0">
                          <a:solidFill>
                            <a:srgbClr val="173B50"/>
                          </a:solidFill>
                          <a:latin typeface="Arial"/>
                          <a:ea typeface="Arial"/>
                          <a:cs typeface="Arial"/>
                        </a:rPr>
                        <a:t>$180,000</a:t>
                      </a:r>
                    </a:p>
                  </a:txBody>
                  <a:tcPr marL="76200" marR="76200" marT="28575" marB="28575" anchor="ctr">
                    <a:solidFill>
                      <a:srgbClr val="FFFFFF"/>
                    </a:solidFill>
                  </a:tcPr>
                </a:tc>
              </a:tr>
              <a:tr h="560070">
                <a:tc>
                  <a:txBody>
                    <a:bodyPr lIns="114300" tIns="114300" rIns="114300" bIns="114300">
                      <a:noAutofit/>
                    </a:bodyPr>
                    <a:lstStyle/>
                    <a:p>
                      <a:r>
                        <a:rPr sz="1875" b="0">
                          <a:solidFill>
                            <a:srgbClr val="173B50"/>
                          </a:solidFill>
                          <a:latin typeface="Arial"/>
                          <a:ea typeface="Arial"/>
                          <a:cs typeface="Arial"/>
                        </a:rPr>
                        <a:t>500</a:t>
                      </a:r>
                    </a:p>
                  </a:txBody>
                  <a:tcPr marL="76200" marR="76200" marT="28575" marB="28575" anchor="ctr">
                    <a:solidFill>
                      <a:srgbClr val="F2F6F7"/>
                    </a:solidFill>
                  </a:tcPr>
                </a:tc>
                <a:tc>
                  <a:txBody>
                    <a:bodyPr lIns="114300" tIns="114300" rIns="114300" bIns="114300">
                      <a:noAutofit/>
                    </a:bodyPr>
                    <a:lstStyle/>
                    <a:p>
                      <a:r>
                        <a:rPr sz="1875" b="0">
                          <a:solidFill>
                            <a:srgbClr val="173B50"/>
                          </a:solidFill>
                          <a:latin typeface="Arial"/>
                          <a:ea typeface="Arial"/>
                          <a:cs typeface="Arial"/>
                        </a:rPr>
                        <a:t>$420,000</a:t>
                      </a:r>
                    </a:p>
                  </a:txBody>
                  <a:tcPr marL="76200" marR="76200" marT="28575" marB="28575" anchor="ctr">
                    <a:solidFill>
                      <a:srgbClr val="F2F6F7"/>
                    </a:solidFill>
                  </a:tcPr>
                </a:tc>
                <a:tc>
                  <a:txBody>
                    <a:bodyPr lIns="114300" tIns="114300" rIns="114300" bIns="114300">
                      <a:noAutofit/>
                    </a:bodyPr>
                    <a:lstStyle/>
                    <a:p>
                      <a:r>
                        <a:rPr sz="1875" b="0">
                          <a:solidFill>
                            <a:srgbClr val="173B50"/>
                          </a:solidFill>
                          <a:latin typeface="Arial"/>
                          <a:ea typeface="Arial"/>
                          <a:cs typeface="Arial"/>
                        </a:rPr>
                        <a:t>$600,000</a:t>
                      </a:r>
                    </a:p>
                  </a:txBody>
                  <a:tcPr marL="76200" marR="76200" marT="28575" marB="28575" anchor="ctr">
                    <a:solidFill>
                      <a:srgbClr val="F2F6F7"/>
                    </a:solidFill>
                  </a:tcPr>
                </a:tc>
                <a:tc>
                  <a:txBody>
                    <a:bodyPr lIns="114300" tIns="114300" rIns="114300" bIns="114300">
                      <a:noAutofit/>
                    </a:bodyPr>
                    <a:lstStyle/>
                    <a:p>
                      <a:r>
                        <a:rPr sz="1875" b="0">
                          <a:solidFill>
                            <a:srgbClr val="173B50"/>
                          </a:solidFill>
                          <a:latin typeface="Arial"/>
                          <a:ea typeface="Arial"/>
                          <a:cs typeface="Arial"/>
                        </a:rPr>
                        <a:t>$900,000</a:t>
                      </a:r>
                    </a:p>
                  </a:txBody>
                  <a:tcPr marL="76200" marR="76200" marT="28575" marB="28575" anchor="ctr">
                    <a:solidFill>
                      <a:srgbClr val="F2F6F7"/>
                    </a:solidFill>
                  </a:tcPr>
                </a:tc>
              </a:tr>
              <a:tr h="560070">
                <a:tc>
                  <a:txBody>
                    <a:bodyPr lIns="114300" tIns="114300" rIns="114300" bIns="114300">
                      <a:noAutofit/>
                    </a:bodyPr>
                    <a:lstStyle/>
                    <a:p>
                      <a:r>
                        <a:rPr sz="1875" b="0">
                          <a:solidFill>
                            <a:srgbClr val="173B50"/>
                          </a:solidFill>
                          <a:latin typeface="Arial"/>
                          <a:ea typeface="Arial"/>
                          <a:cs typeface="Arial"/>
                        </a:rPr>
                        <a:t>1,000</a:t>
                      </a:r>
                    </a:p>
                  </a:txBody>
                  <a:tcPr marL="76200" marR="76200" marT="28575" marB="28575" anchor="ctr">
                    <a:solidFill>
                      <a:srgbClr val="FFFFFF"/>
                    </a:solidFill>
                  </a:tcPr>
                </a:tc>
                <a:tc>
                  <a:txBody>
                    <a:bodyPr lIns="114300" tIns="114300" rIns="114300" bIns="114300">
                      <a:noAutofit/>
                    </a:bodyPr>
                    <a:lstStyle/>
                    <a:p>
                      <a:r>
                        <a:rPr sz="1875" b="0">
                          <a:solidFill>
                            <a:srgbClr val="173B50"/>
                          </a:solidFill>
                          <a:latin typeface="Arial"/>
                          <a:ea typeface="Arial"/>
                          <a:cs typeface="Arial"/>
                        </a:rPr>
                        <a:t>$840,000</a:t>
                      </a:r>
                    </a:p>
                  </a:txBody>
                  <a:tcPr marL="76200" marR="76200" marT="28575" marB="28575" anchor="ctr">
                    <a:solidFill>
                      <a:srgbClr val="FFFFFF"/>
                    </a:solidFill>
                  </a:tcPr>
                </a:tc>
                <a:tc>
                  <a:txBody>
                    <a:bodyPr lIns="114300" tIns="114300" rIns="114300" bIns="114300">
                      <a:noAutofit/>
                    </a:bodyPr>
                    <a:lstStyle/>
                    <a:p>
                      <a:r>
                        <a:rPr sz="1875" b="0">
                          <a:solidFill>
                            <a:srgbClr val="173B50"/>
                          </a:solidFill>
                          <a:latin typeface="Arial"/>
                          <a:ea typeface="Arial"/>
                          <a:cs typeface="Arial"/>
                        </a:rPr>
                        <a:t>$1,200,000</a:t>
                      </a:r>
                    </a:p>
                  </a:txBody>
                  <a:tcPr marL="76200" marR="76200" marT="28575" marB="28575" anchor="ctr">
                    <a:solidFill>
                      <a:srgbClr val="FFFFFF"/>
                    </a:solidFill>
                  </a:tcPr>
                </a:tc>
                <a:tc>
                  <a:txBody>
                    <a:bodyPr lIns="114300" tIns="114300" rIns="114300" bIns="114300">
                      <a:noAutofit/>
                    </a:bodyPr>
                    <a:lstStyle/>
                    <a:p>
                      <a:r>
                        <a:rPr sz="1875" b="0">
                          <a:solidFill>
                            <a:srgbClr val="173B50"/>
                          </a:solidFill>
                          <a:latin typeface="Arial"/>
                          <a:ea typeface="Arial"/>
                          <a:cs typeface="Arial"/>
                        </a:rPr>
                        <a:t>$1,800,000</a:t>
                      </a:r>
                    </a:p>
                  </a:txBody>
                  <a:tcPr marL="76200" marR="76200" marT="28575" marB="28575" anchor="ctr">
                    <a:solidFill>
                      <a:srgbClr val="FFFFFF"/>
                    </a:solidFill>
                  </a:tcPr>
                </a:tc>
              </a:tr>
              <a:tr h="560070">
                <a:tc>
                  <a:txBody>
                    <a:bodyPr lIns="114300" tIns="114300" rIns="114300" bIns="114300">
                      <a:noAutofit/>
                    </a:bodyPr>
                    <a:lstStyle/>
                    <a:p>
                      <a:r>
                        <a:rPr sz="1875" b="0">
                          <a:solidFill>
                            <a:srgbClr val="173B50"/>
                          </a:solidFill>
                          <a:latin typeface="Arial"/>
                          <a:ea typeface="Arial"/>
                          <a:cs typeface="Arial"/>
                        </a:rPr>
                        <a:t>3,000</a:t>
                      </a:r>
                    </a:p>
                  </a:txBody>
                  <a:tcPr marL="76200" marR="76200" marT="28575" marB="28575" anchor="ctr">
                    <a:solidFill>
                      <a:srgbClr val="F2F6F7"/>
                    </a:solidFill>
                  </a:tcPr>
                </a:tc>
                <a:tc>
                  <a:txBody>
                    <a:bodyPr lIns="114300" tIns="114300" rIns="114300" bIns="114300">
                      <a:noAutofit/>
                    </a:bodyPr>
                    <a:lstStyle/>
                    <a:p>
                      <a:r>
                        <a:rPr sz="1875" b="0">
                          <a:solidFill>
                            <a:srgbClr val="173B50"/>
                          </a:solidFill>
                          <a:latin typeface="Arial"/>
                          <a:ea typeface="Arial"/>
                          <a:cs typeface="Arial"/>
                        </a:rPr>
                        <a:t>$2,520,000</a:t>
                      </a:r>
                    </a:p>
                  </a:txBody>
                  <a:tcPr marL="76200" marR="76200" marT="28575" marB="28575" anchor="ctr">
                    <a:solidFill>
                      <a:srgbClr val="F2F6F7"/>
                    </a:solidFill>
                  </a:tcPr>
                </a:tc>
                <a:tc>
                  <a:txBody>
                    <a:bodyPr lIns="114300" tIns="114300" rIns="114300" bIns="114300">
                      <a:noAutofit/>
                    </a:bodyPr>
                    <a:lstStyle/>
                    <a:p>
                      <a:r>
                        <a:rPr sz="1875" b="0">
                          <a:solidFill>
                            <a:srgbClr val="173B50"/>
                          </a:solidFill>
                          <a:latin typeface="Arial"/>
                          <a:ea typeface="Arial"/>
                          <a:cs typeface="Arial"/>
                        </a:rPr>
                        <a:t>$3,600,000</a:t>
                      </a:r>
                    </a:p>
                  </a:txBody>
                  <a:tcPr marL="76200" marR="76200" marT="28575" marB="28575" anchor="ctr">
                    <a:solidFill>
                      <a:srgbClr val="F2F6F7"/>
                    </a:solidFill>
                  </a:tcPr>
                </a:tc>
                <a:tc>
                  <a:txBody>
                    <a:bodyPr lIns="114300" tIns="114300" rIns="114300" bIns="114300">
                      <a:noAutofit/>
                    </a:bodyPr>
                    <a:lstStyle/>
                    <a:p>
                      <a:r>
                        <a:rPr sz="1875" b="0">
                          <a:solidFill>
                            <a:srgbClr val="173B50"/>
                          </a:solidFill>
                          <a:latin typeface="Arial"/>
                          <a:ea typeface="Arial"/>
                          <a:cs typeface="Arial"/>
                        </a:rPr>
                        <a:t>$5,400,000</a:t>
                      </a:r>
                    </a:p>
                  </a:txBody>
                  <a:tcPr marL="76200" marR="76200" marT="28575" marB="28575" anchor="ctr">
                    <a:solidFill>
                      <a:srgbClr val="F2F6F7"/>
                    </a:solidFill>
                  </a:tcPr>
                </a:tc>
              </a:tr>
            </a:tbl>
          </a:graphicData>
        </a:graphic>
      </p:graphicFrame>
      <p:sp>
        <p:nvSpPr>
          <p:cNvPr id="8" name="One company with one Engineering seat generates $1">
            <a:extLst xmlns:a="http://schemas.openxmlformats.org/drawingml/2006/main">
              <a:ext uri="{FF2B5EF4-FFF2-40B4-BE49-F238E27FC236}">
                <a16:creationId xmlns:a16="http://schemas.microsoft.com/office/drawing/2014/main" id="{AC10B8AA-EFCD-4660-B29D-8D4276D9ED3B}"/>
              </a:ext>
            </a:extLst>
          </p:cNvPr>
          <p:cNvSpPr>
            <a:spLocks xmlns:a="http://schemas.openxmlformats.org/drawingml/2006/main" noGrp="1"/>
          </p:cNvSpPr>
          <p:nvPr/>
        </p:nvSpPr>
        <p:spPr>
          <a:xfrm xmlns:a="http://schemas.openxmlformats.org/drawingml/2006/main">
            <a:off x="609600" y="5810250"/>
            <a:ext cx="1083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73B50"/>
                </a:solidFill>
                <a:latin typeface="Arial"/>
                <a:ea typeface="Arial"/>
                <a:cs typeface="Arial"/>
              </a:defRPr>
            </a:defPPr>
          </a:lstStyle>
          <a:p xmlns:a="http://schemas.openxmlformats.org/drawingml/2006/main">
            <a:pPr>
              <a:defRPr sz="2025" b="1">
                <a:solidFill>
                  <a:srgbClr val="173B50"/>
                </a:solidFill>
                <a:latin typeface="Arial"/>
                <a:ea typeface="Arial"/>
                <a:cs typeface="Arial"/>
              </a:defRPr>
            </a:pPr>
            <a:r>
              <a:rPr sz="2025" b="1">
                <a:solidFill>
                  <a:srgbClr val="173B50"/>
                </a:solidFill>
                <a:latin typeface="Arial"/>
                <a:ea typeface="Arial"/>
                <a:cs typeface="Arial"/>
              </a:rPr>
              <a:t>One company with one Engineering seat generates $100/month or $1,200/year</a:t>
            </a:r>
          </a:p>
        </p:txBody>
      </p:sp>
    </p:spTree>
    <p:extLst>
      <p:ext uri="{BB962C8B-B14F-4D97-AF65-F5344CB8AC3E}">
        <p14:creationId xmlns:p14="http://schemas.microsoft.com/office/powerpoint/2010/main" val="32039718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10BA5D0C-6393-40FA-91C7-ADDD474B748A}"/>
              </a:ext>
            </a:extLst>
          </p:cNvPr>
          <p:cNvPicPr>
            <a:picLocks xmlns:a="http://schemas.openxmlformats.org/drawingml/2006/main" noChangeAspect="1"/>
          </p:cNvPicPr>
          <p:nvPr/>
        </p:nvPicPr>
        <p:blipFill>
          <a:blip xmlns:r="http://schemas.openxmlformats.org/officeDocument/2006/relationships" xmlns:a="http://schemas.openxmlformats.org/drawingml/2006/main" r:embed="Rb6e30d902db2440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Light background wash">
            <a:extLst xmlns:a="http://schemas.openxmlformats.org/drawingml/2006/main">
              <a:ext uri="{FF2B5EF4-FFF2-40B4-BE49-F238E27FC236}">
                <a16:creationId xmlns:a16="http://schemas.microsoft.com/office/drawing/2014/main" id="{FDA2468F-F46C-460A-A926-E7A5E0D7902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90000"/>
            </a:srgbClr>
          </a:solidFill>
          <a:ln xmlns:a="http://schemas.openxmlformats.org/drawingml/2006/main" w="0">
            <a:noFill/>
          </a:ln>
        </p:spPr>
      </p:sp>
      <p:sp>
        <p:nvSpPr>
          <p:cNvPr id="3" name="One-seat and five-seat customer economics">
            <a:extLst xmlns:a="http://schemas.openxmlformats.org/drawingml/2006/main">
              <a:ext uri="{FF2B5EF4-FFF2-40B4-BE49-F238E27FC236}">
                <a16:creationId xmlns:a16="http://schemas.microsoft.com/office/drawing/2014/main" id="{AE247918-C903-43F1-BA85-742072F1963F}"/>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73B50"/>
                </a:solidFill>
                <a:latin typeface="Arial"/>
                <a:ea typeface="Arial"/>
                <a:cs typeface="Arial"/>
              </a:defRPr>
            </a:defPPr>
          </a:lstStyle>
          <a:p xmlns:a="http://schemas.openxmlformats.org/drawingml/2006/main">
            <a:pPr>
              <a:defRPr sz="3450" b="1">
                <a:solidFill>
                  <a:srgbClr val="173B50"/>
                </a:solidFill>
                <a:latin typeface="Arial"/>
                <a:ea typeface="Arial"/>
                <a:cs typeface="Arial"/>
              </a:defRPr>
            </a:pPr>
            <a:r>
              <a:rPr sz="3450" b="1">
                <a:solidFill>
                  <a:srgbClr val="173B50"/>
                </a:solidFill>
                <a:latin typeface="Arial"/>
                <a:ea typeface="Arial"/>
                <a:cs typeface="Arial"/>
              </a:rPr>
              <a:t>One-seat and five-seat customer economics</a:t>
            </a:r>
          </a:p>
        </p:txBody>
      </p:sp>
      <p:sp>
        <p:nvSpPr>
          <p:cNvPr id="4" name="24">
            <a:extLst xmlns:a="http://schemas.openxmlformats.org/drawingml/2006/main">
              <a:ext uri="{FF2B5EF4-FFF2-40B4-BE49-F238E27FC236}">
                <a16:creationId xmlns:a16="http://schemas.microsoft.com/office/drawing/2014/main" id="{C11FD3C3-3AAE-4715-94D5-694447B39EFD}"/>
              </a:ext>
            </a:extLst>
          </p:cNvPr>
          <p:cNvSpPr>
            <a:spLocks xmlns:a="http://schemas.openxmlformats.org/drawingml/2006/main" noGrp="1"/>
          </p:cNvSpPr>
          <p:nvPr/>
        </p:nvSpPr>
        <p:spPr>
          <a:xfrm xmlns:a="http://schemas.openxmlformats.org/drawingml/2006/main">
            <a:off x="11191875"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C7B"/>
                </a:solidFill>
                <a:latin typeface="Arial"/>
                <a:ea typeface="Arial"/>
                <a:cs typeface="Arial"/>
              </a:defRPr>
            </a:defPPr>
          </a:lstStyle>
          <a:p xmlns:a="http://schemas.openxmlformats.org/drawingml/2006/main">
            <a:pPr>
              <a:defRPr sz="1200" b="0">
                <a:solidFill>
                  <a:srgbClr val="516C7B"/>
                </a:solidFill>
                <a:latin typeface="Arial"/>
                <a:ea typeface="Arial"/>
                <a:cs typeface="Arial"/>
              </a:defRPr>
            </a:pPr>
            <a:r>
              <a:rPr sz="1200" b="0">
                <a:solidFill>
                  <a:srgbClr val="516C7B"/>
                </a:solidFill>
                <a:latin typeface="Arial"/>
                <a:ea typeface="Arial"/>
                <a:cs typeface="Arial"/>
              </a:rPr>
              <a:t>24</a:t>
            </a:r>
          </a:p>
        </p:txBody>
      </p:sp>
      <p:sp>
        <p:nvSpPr>
          <p:cNvPr id="5" name="Break-even assumes NIS 3.5/USD, 85% cash contribut">
            <a:extLst xmlns:a="http://schemas.openxmlformats.org/drawingml/2006/main">
              <a:ext uri="{FF2B5EF4-FFF2-40B4-BE49-F238E27FC236}">
                <a16:creationId xmlns:a16="http://schemas.microsoft.com/office/drawing/2014/main" id="{A0E2B63F-D00D-447C-8897-1E1D1FDEDFB9}"/>
              </a:ext>
            </a:extLst>
          </p:cNvPr>
          <p:cNvSpPr>
            <a:spLocks xmlns:a="http://schemas.openxmlformats.org/drawingml/2006/main" noGrp="1"/>
          </p:cNvSpPr>
          <p:nvPr/>
        </p:nvSpPr>
        <p:spPr>
          <a:xfrm xmlns:a="http://schemas.openxmlformats.org/drawingml/2006/main">
            <a:off x="609600" y="6191250"/>
            <a:ext cx="1019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16C7B"/>
                </a:solidFill>
                <a:latin typeface="Arial"/>
                <a:ea typeface="Arial"/>
                <a:cs typeface="Arial"/>
              </a:defRPr>
            </a:defPPr>
          </a:lstStyle>
          <a:p xmlns:a="http://schemas.openxmlformats.org/drawingml/2006/main">
            <a:pPr>
              <a:defRPr sz="1350" b="0">
                <a:solidFill>
                  <a:srgbClr val="516C7B"/>
                </a:solidFill>
                <a:latin typeface="Arial"/>
                <a:ea typeface="Arial"/>
                <a:cs typeface="Arial"/>
              </a:defRPr>
            </a:pPr>
            <a:r>
              <a:rPr sz="1350" b="0">
                <a:solidFill>
                  <a:srgbClr val="516C7B"/>
                </a:solidFill>
                <a:latin typeface="Arial"/>
                <a:ea typeface="Arial"/>
                <a:cs typeface="Arial"/>
              </a:rPr>
              <a:t>Break-even assumes NIS 3.5/USD, 85% cash contribution and NIS 3M annual salary/rent cost.</a:t>
            </a:r>
          </a:p>
        </p:txBody>
      </p:sp>
      <p:graphicFrame>
        <p:nvGraphicFramePr>
          <p:cNvPr id="6" name="">
            <a:extLst xmlns:a="http://schemas.openxmlformats.org/drawingml/2006/main">
              <a:ext uri="{FF2B5EF4-FFF2-40B4-BE49-F238E27FC236}">
                <a16:creationId xmlns:a16="http://schemas.microsoft.com/office/drawing/2014/main" id="{B502F7E6-857F-4621-A545-A014C5EBD312}"/>
              </a:ext>
            </a:extLst>
          </p:cNvPr>
          <p:cNvGraphicFramePr/>
          <p:nvPr/>
        </p:nvGraphicFramePr>
        <p:xfrm>
          <a:off xmlns:a="http://schemas.openxmlformats.org/drawingml/2006/main" x="609600" y="1790700"/>
          <a:ext xmlns:a="http://schemas.openxmlformats.org/drawingml/2006/main" cx="10972800" cy="3419475"/>
        </p:xfrm>
        <a:graphic xmlns:a="http://schemas.openxmlformats.org/drawingml/2006/main">
          <a:graphicData uri="http://schemas.openxmlformats.org/drawingml/2006/table">
            <a:tbl>
              <a:tblPr/>
              <a:tblGrid>
                <a:gridCol w="4781550"/>
                <a:gridCol w="3095625"/>
                <a:gridCol w="3095625"/>
              </a:tblGrid>
              <a:tr h="683895">
                <a:tc>
                  <a:txBody>
                    <a:bodyPr lIns="114300" tIns="114300" rIns="114300" bIns="114300">
                      <a:noAutofit/>
                    </a:bodyPr>
                    <a:lstStyle/>
                    <a:p>
                      <a:r>
                        <a:rPr sz="2025" b="1">
                          <a:solidFill>
                            <a:srgbClr val="173B50"/>
                          </a:solidFill>
                          <a:latin typeface="Arial"/>
                          <a:ea typeface="Arial"/>
                          <a:cs typeface="Arial"/>
                        </a:rPr>
                        <a:t>Measure</a:t>
                      </a:r>
                    </a:p>
                  </a:txBody>
                  <a:tcPr marL="76200" marR="76200" marT="28575" marB="28575" anchor="ctr">
                    <a:solidFill>
                      <a:srgbClr val="E3EFF3"/>
                    </a:solidFill>
                  </a:tcPr>
                </a:tc>
                <a:tc>
                  <a:txBody>
                    <a:bodyPr lIns="114300" tIns="114300" rIns="114300" bIns="114300">
                      <a:noAutofit/>
                    </a:bodyPr>
                    <a:lstStyle/>
                    <a:p>
                      <a:r>
                        <a:rPr sz="2025" b="1">
                          <a:solidFill>
                            <a:srgbClr val="173B50"/>
                          </a:solidFill>
                          <a:latin typeface="Arial"/>
                          <a:ea typeface="Arial"/>
                          <a:cs typeface="Arial"/>
                        </a:rPr>
                        <a:t>One seat / company</a:t>
                      </a:r>
                    </a:p>
                  </a:txBody>
                  <a:tcPr marL="76200" marR="76200" marT="28575" marB="28575" anchor="ctr">
                    <a:solidFill>
                      <a:srgbClr val="E3EFF3"/>
                    </a:solidFill>
                  </a:tcPr>
                </a:tc>
                <a:tc>
                  <a:txBody>
                    <a:bodyPr lIns="114300" tIns="114300" rIns="114300" bIns="114300">
                      <a:noAutofit/>
                    </a:bodyPr>
                    <a:lstStyle/>
                    <a:p>
                      <a:r>
                        <a:rPr sz="2025" b="1">
                          <a:solidFill>
                            <a:srgbClr val="173B50"/>
                          </a:solidFill>
                          <a:latin typeface="Arial"/>
                          <a:ea typeface="Arial"/>
                          <a:cs typeface="Arial"/>
                        </a:rPr>
                        <a:t>Five seats / company</a:t>
                      </a:r>
                    </a:p>
                  </a:txBody>
                  <a:tcPr marL="76200" marR="76200" marT="28575" marB="28575" anchor="ctr">
                    <a:solidFill>
                      <a:srgbClr val="E3EFF3"/>
                    </a:solidFill>
                  </a:tcPr>
                </a:tc>
              </a:tr>
              <a:tr h="683895">
                <a:tc>
                  <a:txBody>
                    <a:bodyPr lIns="114300" tIns="114300" rIns="114300" bIns="114300">
                      <a:noAutofit/>
                    </a:bodyPr>
                    <a:lstStyle/>
                    <a:p>
                      <a:r>
                        <a:rPr sz="2025" b="0">
                          <a:solidFill>
                            <a:srgbClr val="173B50"/>
                          </a:solidFill>
                          <a:latin typeface="Arial"/>
                          <a:ea typeface="Arial"/>
                          <a:cs typeface="Arial"/>
                        </a:rPr>
                        <a:t>Monthly revenue / company</a:t>
                      </a:r>
                    </a:p>
                  </a:txBody>
                  <a:tcPr marL="76200" marR="76200" marT="28575" marB="28575" anchor="ctr">
                    <a:solidFill>
                      <a:srgbClr val="FFFFFF"/>
                    </a:solidFill>
                  </a:tcPr>
                </a:tc>
                <a:tc>
                  <a:txBody>
                    <a:bodyPr lIns="114300" tIns="114300" rIns="114300" bIns="114300">
                      <a:noAutofit/>
                    </a:bodyPr>
                    <a:lstStyle/>
                    <a:p>
                      <a:r>
                        <a:rPr sz="2025" b="0">
                          <a:solidFill>
                            <a:srgbClr val="173B50"/>
                          </a:solidFill>
                          <a:latin typeface="Arial"/>
                          <a:ea typeface="Arial"/>
                          <a:cs typeface="Arial"/>
                        </a:rPr>
                        <a:t>$100</a:t>
                      </a:r>
                    </a:p>
                  </a:txBody>
                  <a:tcPr marL="76200" marR="76200" marT="28575" marB="28575" anchor="ctr">
                    <a:solidFill>
                      <a:srgbClr val="FFFFFF"/>
                    </a:solidFill>
                  </a:tcPr>
                </a:tc>
                <a:tc>
                  <a:txBody>
                    <a:bodyPr lIns="114300" tIns="114300" rIns="114300" bIns="114300">
                      <a:noAutofit/>
                    </a:bodyPr>
                    <a:lstStyle/>
                    <a:p>
                      <a:r>
                        <a:rPr sz="2025" b="0">
                          <a:solidFill>
                            <a:srgbClr val="173B50"/>
                          </a:solidFill>
                          <a:latin typeface="Arial"/>
                          <a:ea typeface="Arial"/>
                          <a:cs typeface="Arial"/>
                        </a:rPr>
                        <a:t>$500</a:t>
                      </a:r>
                    </a:p>
                  </a:txBody>
                  <a:tcPr marL="76200" marR="76200" marT="28575" marB="28575" anchor="ctr">
                    <a:solidFill>
                      <a:srgbClr val="FFFFFF"/>
                    </a:solidFill>
                  </a:tcPr>
                </a:tc>
              </a:tr>
              <a:tr h="683895">
                <a:tc>
                  <a:txBody>
                    <a:bodyPr lIns="114300" tIns="114300" rIns="114300" bIns="114300">
                      <a:noAutofit/>
                    </a:bodyPr>
                    <a:lstStyle/>
                    <a:p>
                      <a:r>
                        <a:rPr sz="2025" b="0">
                          <a:solidFill>
                            <a:srgbClr val="173B50"/>
                          </a:solidFill>
                          <a:latin typeface="Arial"/>
                          <a:ea typeface="Arial"/>
                          <a:cs typeface="Arial"/>
                        </a:rPr>
                        <a:t>Annual revenue / company</a:t>
                      </a:r>
                    </a:p>
                  </a:txBody>
                  <a:tcPr marL="76200" marR="76200" marT="28575" marB="28575" anchor="ctr">
                    <a:solidFill>
                      <a:srgbClr val="F2F6F7"/>
                    </a:solidFill>
                  </a:tcPr>
                </a:tc>
                <a:tc>
                  <a:txBody>
                    <a:bodyPr lIns="114300" tIns="114300" rIns="114300" bIns="114300">
                      <a:noAutofit/>
                    </a:bodyPr>
                    <a:lstStyle/>
                    <a:p>
                      <a:r>
                        <a:rPr sz="2025" b="0">
                          <a:solidFill>
                            <a:srgbClr val="173B50"/>
                          </a:solidFill>
                          <a:latin typeface="Arial"/>
                          <a:ea typeface="Arial"/>
                          <a:cs typeface="Arial"/>
                        </a:rPr>
                        <a:t>$1,200</a:t>
                      </a:r>
                    </a:p>
                  </a:txBody>
                  <a:tcPr marL="76200" marR="76200" marT="28575" marB="28575" anchor="ctr">
                    <a:solidFill>
                      <a:srgbClr val="F2F6F7"/>
                    </a:solidFill>
                  </a:tcPr>
                </a:tc>
                <a:tc>
                  <a:txBody>
                    <a:bodyPr lIns="114300" tIns="114300" rIns="114300" bIns="114300">
                      <a:noAutofit/>
                    </a:bodyPr>
                    <a:lstStyle/>
                    <a:p>
                      <a:r>
                        <a:rPr sz="2025" b="0">
                          <a:solidFill>
                            <a:srgbClr val="173B50"/>
                          </a:solidFill>
                          <a:latin typeface="Arial"/>
                          <a:ea typeface="Arial"/>
                          <a:cs typeface="Arial"/>
                        </a:rPr>
                        <a:t>$6,000</a:t>
                      </a:r>
                    </a:p>
                  </a:txBody>
                  <a:tcPr marL="76200" marR="76200" marT="28575" marB="28575" anchor="ctr">
                    <a:solidFill>
                      <a:srgbClr val="F2F6F7"/>
                    </a:solidFill>
                  </a:tcPr>
                </a:tc>
              </a:tr>
              <a:tr h="683895">
                <a:tc>
                  <a:txBody>
                    <a:bodyPr lIns="114300" tIns="114300" rIns="114300" bIns="114300">
                      <a:noAutofit/>
                    </a:bodyPr>
                    <a:lstStyle/>
                    <a:p>
                      <a:r>
                        <a:rPr sz="2025" b="0">
                          <a:solidFill>
                            <a:srgbClr val="173B50"/>
                          </a:solidFill>
                          <a:latin typeface="Arial"/>
                          <a:ea typeface="Arial"/>
                          <a:cs typeface="Arial"/>
                        </a:rPr>
                        <a:t>Companies for 3,000 seats</a:t>
                      </a:r>
                    </a:p>
                  </a:txBody>
                  <a:tcPr marL="76200" marR="76200" marT="28575" marB="28575" anchor="ctr">
                    <a:solidFill>
                      <a:srgbClr val="FFFFFF"/>
                    </a:solidFill>
                  </a:tcPr>
                </a:tc>
                <a:tc>
                  <a:txBody>
                    <a:bodyPr lIns="114300" tIns="114300" rIns="114300" bIns="114300">
                      <a:noAutofit/>
                    </a:bodyPr>
                    <a:lstStyle/>
                    <a:p>
                      <a:r>
                        <a:rPr sz="2025" b="0">
                          <a:solidFill>
                            <a:srgbClr val="173B50"/>
                          </a:solidFill>
                          <a:latin typeface="Arial"/>
                          <a:ea typeface="Arial"/>
                          <a:cs typeface="Arial"/>
                        </a:rPr>
                        <a:t>3,000</a:t>
                      </a:r>
                    </a:p>
                  </a:txBody>
                  <a:tcPr marL="76200" marR="76200" marT="28575" marB="28575" anchor="ctr">
                    <a:solidFill>
                      <a:srgbClr val="FFFFFF"/>
                    </a:solidFill>
                  </a:tcPr>
                </a:tc>
                <a:tc>
                  <a:txBody>
                    <a:bodyPr lIns="114300" tIns="114300" rIns="114300" bIns="114300">
                      <a:noAutofit/>
                    </a:bodyPr>
                    <a:lstStyle/>
                    <a:p>
                      <a:r>
                        <a:rPr sz="2025" b="0">
                          <a:solidFill>
                            <a:srgbClr val="173B50"/>
                          </a:solidFill>
                          <a:latin typeface="Arial"/>
                          <a:ea typeface="Arial"/>
                          <a:cs typeface="Arial"/>
                        </a:rPr>
                        <a:t>600</a:t>
                      </a:r>
                    </a:p>
                  </a:txBody>
                  <a:tcPr marL="76200" marR="76200" marT="28575" marB="28575" anchor="ctr">
                    <a:solidFill>
                      <a:srgbClr val="FFFFFF"/>
                    </a:solidFill>
                  </a:tcPr>
                </a:tc>
              </a:tr>
              <a:tr h="683895">
                <a:tc>
                  <a:txBody>
                    <a:bodyPr lIns="114300" tIns="114300" rIns="114300" bIns="114300">
                      <a:noAutofit/>
                    </a:bodyPr>
                    <a:lstStyle/>
                    <a:p>
                      <a:r>
                        <a:rPr sz="2025" b="0">
                          <a:solidFill>
                            <a:srgbClr val="173B50"/>
                          </a:solidFill>
                          <a:latin typeface="Arial"/>
                          <a:ea typeface="Arial"/>
                          <a:cs typeface="Arial"/>
                        </a:rPr>
                        <a:t>Annual revenue at 3,000 seats</a:t>
                      </a:r>
                    </a:p>
                  </a:txBody>
                  <a:tcPr marL="76200" marR="76200" marT="28575" marB="28575" anchor="ctr">
                    <a:solidFill>
                      <a:srgbClr val="F2F6F7"/>
                    </a:solidFill>
                  </a:tcPr>
                </a:tc>
                <a:tc>
                  <a:txBody>
                    <a:bodyPr lIns="114300" tIns="114300" rIns="114300" bIns="114300">
                      <a:noAutofit/>
                    </a:bodyPr>
                    <a:lstStyle/>
                    <a:p>
                      <a:r>
                        <a:rPr sz="2025" b="0">
                          <a:solidFill>
                            <a:srgbClr val="173B50"/>
                          </a:solidFill>
                          <a:latin typeface="Arial"/>
                          <a:ea typeface="Arial"/>
                          <a:cs typeface="Arial"/>
                        </a:rPr>
                        <a:t>$3,600,000</a:t>
                      </a:r>
                    </a:p>
                  </a:txBody>
                  <a:tcPr marL="76200" marR="76200" marT="28575" marB="28575" anchor="ctr">
                    <a:solidFill>
                      <a:srgbClr val="F2F6F7"/>
                    </a:solidFill>
                  </a:tcPr>
                </a:tc>
                <a:tc>
                  <a:txBody>
                    <a:bodyPr lIns="114300" tIns="114300" rIns="114300" bIns="114300">
                      <a:noAutofit/>
                    </a:bodyPr>
                    <a:lstStyle/>
                    <a:p>
                      <a:r>
                        <a:rPr sz="2025" b="0">
                          <a:solidFill>
                            <a:srgbClr val="173B50"/>
                          </a:solidFill>
                          <a:latin typeface="Arial"/>
                          <a:ea typeface="Arial"/>
                          <a:cs typeface="Arial"/>
                        </a:rPr>
                        <a:t>$3,600,000</a:t>
                      </a:r>
                    </a:p>
                  </a:txBody>
                  <a:tcPr marL="76200" marR="76200" marT="28575" marB="28575" anchor="ctr">
                    <a:solidFill>
                      <a:srgbClr val="F2F6F7"/>
                    </a:solidFill>
                  </a:tcPr>
                </a:tc>
              </a:tr>
            </a:tbl>
          </a:graphicData>
        </a:graphic>
      </p:graphicFrame>
      <p:sp>
        <p:nvSpPr>
          <p:cNvPr id="7" name="Base cash break-even: 841 Engineering seats, or 84">
            <a:extLst xmlns:a="http://schemas.openxmlformats.org/drawingml/2006/main">
              <a:ext uri="{FF2B5EF4-FFF2-40B4-BE49-F238E27FC236}">
                <a16:creationId xmlns:a16="http://schemas.microsoft.com/office/drawing/2014/main" id="{AED14C81-77AA-4BD4-B341-32285620FE1B}"/>
              </a:ext>
            </a:extLst>
          </p:cNvPr>
          <p:cNvSpPr>
            <a:spLocks xmlns:a="http://schemas.openxmlformats.org/drawingml/2006/main" noGrp="1"/>
          </p:cNvSpPr>
          <p:nvPr/>
        </p:nvSpPr>
        <p:spPr>
          <a:xfrm xmlns:a="http://schemas.openxmlformats.org/drawingml/2006/main">
            <a:off x="609600" y="5610225"/>
            <a:ext cx="108394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73B50"/>
                </a:solidFill>
                <a:latin typeface="Arial"/>
                <a:ea typeface="Arial"/>
                <a:cs typeface="Arial"/>
              </a:defRPr>
            </a:defPPr>
          </a:lstStyle>
          <a:p xmlns:a="http://schemas.openxmlformats.org/drawingml/2006/main">
            <a:pPr>
              <a:defRPr sz="2175" b="1">
                <a:solidFill>
                  <a:srgbClr val="173B50"/>
                </a:solidFill>
                <a:latin typeface="Arial"/>
                <a:ea typeface="Arial"/>
                <a:cs typeface="Arial"/>
              </a:defRPr>
            </a:pPr>
            <a:r>
              <a:rPr sz="2175" b="1">
                <a:solidFill>
                  <a:srgbClr val="173B50"/>
                </a:solidFill>
                <a:latin typeface="Arial"/>
                <a:ea typeface="Arial"/>
                <a:cs typeface="Arial"/>
              </a:rPr>
              <a:t>Base cash break-even: 841 Engineering seats, or 841 one-seat customers</a:t>
            </a:r>
          </a:p>
        </p:txBody>
      </p:sp>
    </p:spTree>
    <p:extLst>
      <p:ext uri="{BB962C8B-B14F-4D97-AF65-F5344CB8AC3E}">
        <p14:creationId xmlns:p14="http://schemas.microsoft.com/office/powerpoint/2010/main" val="54620476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787E0577-B657-4579-A212-0C9A051D6BB6}"/>
              </a:ext>
            </a:extLst>
          </p:cNvPr>
          <p:cNvPicPr>
            <a:picLocks xmlns:a="http://schemas.openxmlformats.org/drawingml/2006/main" noChangeAspect="1"/>
          </p:cNvPicPr>
          <p:nvPr/>
        </p:nvPicPr>
        <p:blipFill>
          <a:blip xmlns:r="http://schemas.openxmlformats.org/officeDocument/2006/relationships" xmlns:a="http://schemas.openxmlformats.org/drawingml/2006/main" r:embed="Rdb8ec8b4b5574a1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Light background wash">
            <a:extLst xmlns:a="http://schemas.openxmlformats.org/drawingml/2006/main">
              <a:ext uri="{FF2B5EF4-FFF2-40B4-BE49-F238E27FC236}">
                <a16:creationId xmlns:a16="http://schemas.microsoft.com/office/drawing/2014/main" id="{D8011245-6BFA-4B3E-BB82-E9975114118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90000"/>
            </a:srgbClr>
          </a:solidFill>
          <a:ln xmlns:a="http://schemas.openxmlformats.org/drawingml/2006/main" w="0">
            <a:noFill/>
          </a:ln>
        </p:spPr>
      </p:sp>
      <p:sp>
        <p:nvSpPr>
          <p:cNvPr id="3" name="Initial customers and route to market">
            <a:extLst xmlns:a="http://schemas.openxmlformats.org/drawingml/2006/main">
              <a:ext uri="{FF2B5EF4-FFF2-40B4-BE49-F238E27FC236}">
                <a16:creationId xmlns:a16="http://schemas.microsoft.com/office/drawing/2014/main" id="{CB6E935F-B061-4BA7-A406-3A43A221482E}"/>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73B50"/>
                </a:solidFill>
                <a:latin typeface="Arial"/>
                <a:ea typeface="Arial"/>
                <a:cs typeface="Arial"/>
              </a:defRPr>
            </a:defPPr>
          </a:lstStyle>
          <a:p xmlns:a="http://schemas.openxmlformats.org/drawingml/2006/main">
            <a:pPr>
              <a:defRPr sz="3450" b="1">
                <a:solidFill>
                  <a:srgbClr val="173B50"/>
                </a:solidFill>
                <a:latin typeface="Arial"/>
                <a:ea typeface="Arial"/>
                <a:cs typeface="Arial"/>
              </a:defRPr>
            </a:pPr>
            <a:r>
              <a:rPr sz="3450" b="1">
                <a:solidFill>
                  <a:srgbClr val="173B50"/>
                </a:solidFill>
                <a:latin typeface="Arial"/>
                <a:ea typeface="Arial"/>
                <a:cs typeface="Arial"/>
              </a:rPr>
              <a:t>Initial customers and route to market</a:t>
            </a:r>
          </a:p>
        </p:txBody>
      </p:sp>
      <p:sp>
        <p:nvSpPr>
          <p:cNvPr id="4" name="25">
            <a:extLst xmlns:a="http://schemas.openxmlformats.org/drawingml/2006/main">
              <a:ext uri="{FF2B5EF4-FFF2-40B4-BE49-F238E27FC236}">
                <a16:creationId xmlns:a16="http://schemas.microsoft.com/office/drawing/2014/main" id="{245CFB7C-91CE-4C4B-9C50-451F7131DAFB}"/>
              </a:ext>
            </a:extLst>
          </p:cNvPr>
          <p:cNvSpPr>
            <a:spLocks xmlns:a="http://schemas.openxmlformats.org/drawingml/2006/main" noGrp="1"/>
          </p:cNvSpPr>
          <p:nvPr/>
        </p:nvSpPr>
        <p:spPr>
          <a:xfrm xmlns:a="http://schemas.openxmlformats.org/drawingml/2006/main">
            <a:off x="11191875"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C7B"/>
                </a:solidFill>
                <a:latin typeface="Arial"/>
                <a:ea typeface="Arial"/>
                <a:cs typeface="Arial"/>
              </a:defRPr>
            </a:defPPr>
          </a:lstStyle>
          <a:p xmlns:a="http://schemas.openxmlformats.org/drawingml/2006/main">
            <a:pPr>
              <a:defRPr sz="1200" b="0">
                <a:solidFill>
                  <a:srgbClr val="516C7B"/>
                </a:solidFill>
                <a:latin typeface="Arial"/>
                <a:ea typeface="Arial"/>
                <a:cs typeface="Arial"/>
              </a:defRPr>
            </a:pPr>
            <a:r>
              <a:rPr sz="1200" b="0">
                <a:solidFill>
                  <a:srgbClr val="516C7B"/>
                </a:solidFill>
                <a:latin typeface="Arial"/>
                <a:ea typeface="Arial"/>
                <a:cs typeface="Arial"/>
              </a:rPr>
              <a:t>25</a:t>
            </a:r>
          </a:p>
        </p:txBody>
      </p:sp>
      <p:sp>
        <p:nvSpPr>
          <p:cNvPr id="5" name="First buyers">
            <a:extLst xmlns:a="http://schemas.openxmlformats.org/drawingml/2006/main">
              <a:ext uri="{FF2B5EF4-FFF2-40B4-BE49-F238E27FC236}">
                <a16:creationId xmlns:a16="http://schemas.microsoft.com/office/drawing/2014/main" id="{74B7891F-F0A2-4217-BACE-78A685C6027A}"/>
              </a:ext>
            </a:extLst>
          </p:cNvPr>
          <p:cNvSpPr>
            <a:spLocks xmlns:a="http://schemas.openxmlformats.org/drawingml/2006/main" noGrp="1"/>
          </p:cNvSpPr>
          <p:nvPr/>
        </p:nvSpPr>
        <p:spPr>
          <a:xfrm xmlns:a="http://schemas.openxmlformats.org/drawingml/2006/main">
            <a:off x="609600" y="1628775"/>
            <a:ext cx="3314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73B50"/>
                </a:solidFill>
                <a:latin typeface="Arial"/>
                <a:ea typeface="Arial"/>
                <a:cs typeface="Arial"/>
              </a:defRPr>
            </a:defPPr>
          </a:lstStyle>
          <a:p xmlns:a="http://schemas.openxmlformats.org/drawingml/2006/main">
            <a:pPr>
              <a:defRPr sz="2400" b="1">
                <a:solidFill>
                  <a:srgbClr val="173B50"/>
                </a:solidFill>
                <a:latin typeface="Arial"/>
                <a:ea typeface="Arial"/>
                <a:cs typeface="Arial"/>
              </a:defRPr>
            </a:pPr>
            <a:r>
              <a:rPr sz="2400" b="1">
                <a:solidFill>
                  <a:srgbClr val="173B50"/>
                </a:solidFill>
                <a:latin typeface="Arial"/>
                <a:ea typeface="Arial"/>
                <a:cs typeface="Arial"/>
              </a:rPr>
              <a:t>First buyers</a:t>
            </a:r>
          </a:p>
        </p:txBody>
      </p:sp>
      <p:sp>
        <p:nvSpPr>
          <p:cNvPr id="6" name="Hardware startups, defense and high-tech device bu">
            <a:extLst xmlns:a="http://schemas.openxmlformats.org/drawingml/2006/main">
              <a:ext uri="{FF2B5EF4-FFF2-40B4-BE49-F238E27FC236}">
                <a16:creationId xmlns:a16="http://schemas.microsoft.com/office/drawing/2014/main" id="{28D4904A-032D-4823-AF00-997AEE1B5B9A}"/>
              </a:ext>
            </a:extLst>
          </p:cNvPr>
          <p:cNvSpPr>
            <a:spLocks xmlns:a="http://schemas.openxmlformats.org/drawingml/2006/main" noGrp="1"/>
          </p:cNvSpPr>
          <p:nvPr/>
        </p:nvSpPr>
        <p:spPr>
          <a:xfrm xmlns:a="http://schemas.openxmlformats.org/drawingml/2006/main">
            <a:off x="609600" y="2428875"/>
            <a:ext cx="33147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16C7B"/>
                </a:solidFill>
                <a:latin typeface="Arial"/>
                <a:ea typeface="Arial"/>
                <a:cs typeface="Arial"/>
              </a:defRPr>
            </a:defPPr>
          </a:lstStyle>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Hardware startups, defense and high-tech device builders, plus firms with many system projects. Harness suppliers are another segment.</a:t>
            </a:r>
          </a:p>
        </p:txBody>
      </p:sp>
      <p:sp>
        <p:nvSpPr>
          <p:cNvPr id="7" name="First engagement">
            <a:extLst xmlns:a="http://schemas.openxmlformats.org/drawingml/2006/main">
              <a:ext uri="{FF2B5EF4-FFF2-40B4-BE49-F238E27FC236}">
                <a16:creationId xmlns:a16="http://schemas.microsoft.com/office/drawing/2014/main" id="{F9505C1A-1B75-4033-AE82-48AE1077B047}"/>
              </a:ext>
            </a:extLst>
          </p:cNvPr>
          <p:cNvSpPr>
            <a:spLocks xmlns:a="http://schemas.openxmlformats.org/drawingml/2006/main" noGrp="1"/>
          </p:cNvSpPr>
          <p:nvPr/>
        </p:nvSpPr>
        <p:spPr>
          <a:xfrm xmlns:a="http://schemas.openxmlformats.org/drawingml/2006/main">
            <a:off x="4410075" y="1628775"/>
            <a:ext cx="3314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73B50"/>
                </a:solidFill>
                <a:latin typeface="Arial"/>
                <a:ea typeface="Arial"/>
                <a:cs typeface="Arial"/>
              </a:defRPr>
            </a:defPPr>
          </a:lstStyle>
          <a:p xmlns:a="http://schemas.openxmlformats.org/drawingml/2006/main">
            <a:pPr>
              <a:defRPr sz="2400" b="1">
                <a:solidFill>
                  <a:srgbClr val="173B50"/>
                </a:solidFill>
                <a:latin typeface="Arial"/>
                <a:ea typeface="Arial"/>
                <a:cs typeface="Arial"/>
              </a:defRPr>
            </a:pPr>
            <a:r>
              <a:rPr sz="2400" b="1">
                <a:solidFill>
                  <a:srgbClr val="173B50"/>
                </a:solidFill>
                <a:latin typeface="Arial"/>
                <a:ea typeface="Arial"/>
                <a:cs typeface="Arial"/>
              </a:rPr>
              <a:t>First engagement</a:t>
            </a:r>
          </a:p>
        </p:txBody>
      </p:sp>
      <p:sp>
        <p:nvSpPr>
          <p:cNvPr id="8" name="Recruit 5–10 partners. Test common harness practic">
            <a:extLst xmlns:a="http://schemas.openxmlformats.org/drawingml/2006/main">
              <a:ext uri="{FF2B5EF4-FFF2-40B4-BE49-F238E27FC236}">
                <a16:creationId xmlns:a16="http://schemas.microsoft.com/office/drawing/2014/main" id="{9A17E697-8923-4808-8D39-B3F96B1C888D}"/>
              </a:ext>
            </a:extLst>
          </p:cNvPr>
          <p:cNvSpPr>
            <a:spLocks xmlns:a="http://schemas.openxmlformats.org/drawingml/2006/main" noGrp="1"/>
          </p:cNvSpPr>
          <p:nvPr/>
        </p:nvSpPr>
        <p:spPr>
          <a:xfrm xmlns:a="http://schemas.openxmlformats.org/drawingml/2006/main">
            <a:off x="4410075" y="2428875"/>
            <a:ext cx="33147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16C7B"/>
                </a:solidFill>
                <a:latin typeface="Arial"/>
                <a:ea typeface="Arial"/>
                <a:cs typeface="Arial"/>
              </a:defRPr>
            </a:defPPr>
          </a:lstStyle>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Recruit 5–10 partners. Test common harness practices on several live projects, using real engineering drawings.</a:t>
            </a:r>
          </a:p>
        </p:txBody>
      </p:sp>
      <p:sp>
        <p:nvSpPr>
          <p:cNvPr id="9" name="Commercial proof">
            <a:extLst xmlns:a="http://schemas.openxmlformats.org/drawingml/2006/main">
              <a:ext uri="{FF2B5EF4-FFF2-40B4-BE49-F238E27FC236}">
                <a16:creationId xmlns:a16="http://schemas.microsoft.com/office/drawing/2014/main" id="{A9AED311-7EF7-4640-8813-F7CE21FB090F}"/>
              </a:ext>
            </a:extLst>
          </p:cNvPr>
          <p:cNvSpPr>
            <a:spLocks xmlns:a="http://schemas.openxmlformats.org/drawingml/2006/main" noGrp="1"/>
          </p:cNvSpPr>
          <p:nvPr/>
        </p:nvSpPr>
        <p:spPr>
          <a:xfrm xmlns:a="http://schemas.openxmlformats.org/drawingml/2006/main">
            <a:off x="8210550" y="1628775"/>
            <a:ext cx="3314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73B50"/>
                </a:solidFill>
                <a:latin typeface="Arial"/>
                <a:ea typeface="Arial"/>
                <a:cs typeface="Arial"/>
              </a:defRPr>
            </a:defPPr>
          </a:lstStyle>
          <a:p xmlns:a="http://schemas.openxmlformats.org/drawingml/2006/main">
            <a:pPr>
              <a:defRPr sz="2400" b="1">
                <a:solidFill>
                  <a:srgbClr val="173B50"/>
                </a:solidFill>
                <a:latin typeface="Arial"/>
                <a:ea typeface="Arial"/>
                <a:cs typeface="Arial"/>
              </a:defRPr>
            </a:pPr>
            <a:r>
              <a:rPr sz="2400" b="1">
                <a:solidFill>
                  <a:srgbClr val="173B50"/>
                </a:solidFill>
                <a:latin typeface="Arial"/>
                <a:ea typeface="Arial"/>
                <a:cs typeface="Arial"/>
              </a:rPr>
              <a:t>Commercial proof</a:t>
            </a:r>
          </a:p>
        </p:txBody>
      </p:sp>
      <p:sp>
        <p:nvSpPr>
          <p:cNvPr id="10" name="Measure time saved through reuse, consistency of p">
            <a:extLst xmlns:a="http://schemas.openxmlformats.org/drawingml/2006/main">
              <a:ext uri="{FF2B5EF4-FFF2-40B4-BE49-F238E27FC236}">
                <a16:creationId xmlns:a16="http://schemas.microsoft.com/office/drawing/2014/main" id="{8D3EC1E4-11D7-482D-8E35-5CEEC7413D68}"/>
              </a:ext>
            </a:extLst>
          </p:cNvPr>
          <p:cNvSpPr>
            <a:spLocks xmlns:a="http://schemas.openxmlformats.org/drawingml/2006/main" noGrp="1"/>
          </p:cNvSpPr>
          <p:nvPr/>
        </p:nvSpPr>
        <p:spPr>
          <a:xfrm xmlns:a="http://schemas.openxmlformats.org/drawingml/2006/main">
            <a:off x="8210550" y="2428875"/>
            <a:ext cx="33147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16C7B"/>
                </a:solidFill>
                <a:latin typeface="Arial"/>
                <a:ea typeface="Arial"/>
                <a:cs typeface="Arial"/>
              </a:defRPr>
            </a:defPPr>
          </a:lstStyle>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Measure time saved through reuse, consistency of project drawings, onboarding effort and willingness to pay.</a:t>
            </a:r>
          </a:p>
        </p:txBody>
      </p:sp>
      <p:sp>
        <p:nvSpPr>
          <p:cNvPr id="11" name="Expansion path">
            <a:extLst xmlns:a="http://schemas.openxmlformats.org/drawingml/2006/main">
              <a:ext uri="{FF2B5EF4-FFF2-40B4-BE49-F238E27FC236}">
                <a16:creationId xmlns:a16="http://schemas.microsoft.com/office/drawing/2014/main" id="{80FB32CF-3D68-43FF-BA4B-3672A1712DCE}"/>
              </a:ext>
            </a:extLst>
          </p:cNvPr>
          <p:cNvSpPr>
            <a:spLocks xmlns:a="http://schemas.openxmlformats.org/drawingml/2006/main" noGrp="1"/>
          </p:cNvSpPr>
          <p:nvPr/>
        </p:nvSpPr>
        <p:spPr>
          <a:xfrm xmlns:a="http://schemas.openxmlformats.org/drawingml/2006/main">
            <a:off x="609600" y="4838700"/>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73B50"/>
                </a:solidFill>
                <a:latin typeface="Arial"/>
                <a:ea typeface="Arial"/>
                <a:cs typeface="Arial"/>
              </a:defRPr>
            </a:defPPr>
          </a:lstStyle>
          <a:p xmlns:a="http://schemas.openxmlformats.org/drawingml/2006/main">
            <a:pPr>
              <a:defRPr sz="2550" b="1">
                <a:solidFill>
                  <a:srgbClr val="173B50"/>
                </a:solidFill>
                <a:latin typeface="Arial"/>
                <a:ea typeface="Arial"/>
                <a:cs typeface="Arial"/>
              </a:defRPr>
            </a:pPr>
            <a:r>
              <a:rPr sz="2550" b="1">
                <a:solidFill>
                  <a:srgbClr val="173B50"/>
                </a:solidFill>
                <a:latin typeface="Arial"/>
                <a:ea typeface="Arial"/>
                <a:cs typeface="Arial"/>
              </a:rPr>
              <a:t>Expansion path</a:t>
            </a:r>
          </a:p>
        </p:txBody>
      </p:sp>
      <p:sp>
        <p:nvSpPr>
          <p:cNvPr id="12" name="Land a team on one project, then expand across its">
            <a:extLst xmlns:a="http://schemas.openxmlformats.org/drawingml/2006/main">
              <a:ext uri="{FF2B5EF4-FFF2-40B4-BE49-F238E27FC236}">
                <a16:creationId xmlns:a16="http://schemas.microsoft.com/office/drawing/2014/main" id="{4EA2B58A-0A40-4A2C-8DC0-2D2675B9A46C}"/>
              </a:ext>
            </a:extLst>
          </p:cNvPr>
          <p:cNvSpPr>
            <a:spLocks xmlns:a="http://schemas.openxmlformats.org/drawingml/2006/main" noGrp="1"/>
          </p:cNvSpPr>
          <p:nvPr/>
        </p:nvSpPr>
        <p:spPr>
          <a:xfrm xmlns:a="http://schemas.openxmlformats.org/drawingml/2006/main">
            <a:off x="609600" y="5514975"/>
            <a:ext cx="10572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16C7B"/>
                </a:solidFill>
                <a:latin typeface="Arial"/>
                <a:ea typeface="Arial"/>
                <a:cs typeface="Arial"/>
              </a:defRPr>
            </a:defPPr>
          </a:lstStyle>
          <a:p xmlns:a="http://schemas.openxmlformats.org/drawingml/2006/main">
            <a:pPr>
              <a:defRPr sz="2175" b="0">
                <a:solidFill>
                  <a:srgbClr val="516C7B"/>
                </a:solidFill>
                <a:latin typeface="Arial"/>
                <a:ea typeface="Arial"/>
                <a:cs typeface="Arial"/>
              </a:defRPr>
            </a:pPr>
            <a:r>
              <a:rPr sz="2175" b="0">
                <a:solidFill>
                  <a:srgbClr val="516C7B"/>
                </a:solidFill>
                <a:latin typeface="Arial"/>
                <a:ea typeface="Arial"/>
                <a:cs typeface="Arial"/>
              </a:rPr>
              <a:t>Land a team on one project, then expand across its project portfolio with common parts, designs and engineering practices.</a:t>
            </a:r>
          </a:p>
        </p:txBody>
      </p:sp>
    </p:spTree>
    <p:extLst>
      <p:ext uri="{BB962C8B-B14F-4D97-AF65-F5344CB8AC3E}">
        <p14:creationId xmlns:p14="http://schemas.microsoft.com/office/powerpoint/2010/main" val="25237900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F4B1C973-640F-4646-92DD-64198952C35E}"/>
              </a:ext>
            </a:extLst>
          </p:cNvPr>
          <p:cNvPicPr>
            <a:picLocks xmlns:a="http://schemas.openxmlformats.org/drawingml/2006/main" noChangeAspect="1"/>
          </p:cNvPicPr>
          <p:nvPr/>
        </p:nvPicPr>
        <p:blipFill>
          <a:blip xmlns:r="http://schemas.openxmlformats.org/officeDocument/2006/relationships" xmlns:a="http://schemas.openxmlformats.org/drawingml/2006/main" r:embed="Rcc71069cae684c8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Light background wash">
            <a:extLst xmlns:a="http://schemas.openxmlformats.org/drawingml/2006/main">
              <a:ext uri="{FF2B5EF4-FFF2-40B4-BE49-F238E27FC236}">
                <a16:creationId xmlns:a16="http://schemas.microsoft.com/office/drawing/2014/main" id="{8A759542-60DA-4C4A-BCCE-6445FD93A4C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90000"/>
            </a:srgbClr>
          </a:solidFill>
          <a:ln xmlns:a="http://schemas.openxmlformats.org/drawingml/2006/main" w="0">
            <a:noFill/>
          </a:ln>
        </p:spPr>
      </p:sp>
      <p:sp>
        <p:nvSpPr>
          <p:cNvPr id="3" name="Ecosystem roadmap">
            <a:extLst xmlns:a="http://schemas.openxmlformats.org/drawingml/2006/main">
              <a:ext uri="{FF2B5EF4-FFF2-40B4-BE49-F238E27FC236}">
                <a16:creationId xmlns:a16="http://schemas.microsoft.com/office/drawing/2014/main" id="{6FA89E97-ED31-4B4F-AF3F-3A83FD05C560}"/>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73B50"/>
                </a:solidFill>
                <a:latin typeface="Arial"/>
                <a:ea typeface="Arial"/>
                <a:cs typeface="Arial"/>
              </a:defRPr>
            </a:defPPr>
          </a:lstStyle>
          <a:p xmlns:a="http://schemas.openxmlformats.org/drawingml/2006/main">
            <a:pPr>
              <a:defRPr sz="3450" b="1">
                <a:solidFill>
                  <a:srgbClr val="173B50"/>
                </a:solidFill>
                <a:latin typeface="Arial"/>
                <a:ea typeface="Arial"/>
                <a:cs typeface="Arial"/>
              </a:defRPr>
            </a:pPr>
            <a:r>
              <a:rPr sz="3450" b="1">
                <a:solidFill>
                  <a:srgbClr val="173B50"/>
                </a:solidFill>
                <a:latin typeface="Arial"/>
                <a:ea typeface="Arial"/>
                <a:cs typeface="Arial"/>
              </a:rPr>
              <a:t>Ecosystem roadmap</a:t>
            </a:r>
          </a:p>
        </p:txBody>
      </p:sp>
      <p:sp>
        <p:nvSpPr>
          <p:cNvPr id="4" name="26">
            <a:extLst xmlns:a="http://schemas.openxmlformats.org/drawingml/2006/main">
              <a:ext uri="{FF2B5EF4-FFF2-40B4-BE49-F238E27FC236}">
                <a16:creationId xmlns:a16="http://schemas.microsoft.com/office/drawing/2014/main" id="{27783D06-B362-41A7-B624-65076C3CD962}"/>
              </a:ext>
            </a:extLst>
          </p:cNvPr>
          <p:cNvSpPr>
            <a:spLocks xmlns:a="http://schemas.openxmlformats.org/drawingml/2006/main" noGrp="1"/>
          </p:cNvSpPr>
          <p:nvPr/>
        </p:nvSpPr>
        <p:spPr>
          <a:xfrm xmlns:a="http://schemas.openxmlformats.org/drawingml/2006/main">
            <a:off x="11191875"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C7B"/>
                </a:solidFill>
                <a:latin typeface="Arial"/>
                <a:ea typeface="Arial"/>
                <a:cs typeface="Arial"/>
              </a:defRPr>
            </a:defPPr>
          </a:lstStyle>
          <a:p xmlns:a="http://schemas.openxmlformats.org/drawingml/2006/main">
            <a:pPr>
              <a:defRPr sz="1200" b="0">
                <a:solidFill>
                  <a:srgbClr val="516C7B"/>
                </a:solidFill>
                <a:latin typeface="Arial"/>
                <a:ea typeface="Arial"/>
                <a:cs typeface="Arial"/>
              </a:defRPr>
            </a:pPr>
            <a:r>
              <a:rPr sz="1200" b="0">
                <a:solidFill>
                  <a:srgbClr val="516C7B"/>
                </a:solidFill>
                <a:latin typeface="Arial"/>
                <a:ea typeface="Arial"/>
                <a:cs typeface="Arial"/>
              </a:rPr>
              <a:t>26</a:t>
            </a:r>
          </a:p>
        </p:txBody>
      </p:sp>
      <p:graphicFrame>
        <p:nvGraphicFramePr>
          <p:cNvPr id="5" name="">
            <a:extLst xmlns:a="http://schemas.openxmlformats.org/drawingml/2006/main">
              <a:ext uri="{FF2B5EF4-FFF2-40B4-BE49-F238E27FC236}">
                <a16:creationId xmlns:a16="http://schemas.microsoft.com/office/drawing/2014/main" id="{4936B4B1-6C8D-43C1-AC4E-D7AE4FE40A03}"/>
              </a:ext>
            </a:extLst>
          </p:cNvPr>
          <p:cNvGraphicFramePr/>
          <p:nvPr/>
        </p:nvGraphicFramePr>
        <p:xfrm>
          <a:off xmlns:a="http://schemas.openxmlformats.org/drawingml/2006/main" x="609600" y="1600200"/>
          <a:ext xmlns:a="http://schemas.openxmlformats.org/drawingml/2006/main" cx="10972800" cy="4171950"/>
        </p:xfrm>
        <a:graphic xmlns:a="http://schemas.openxmlformats.org/drawingml/2006/main">
          <a:graphicData uri="http://schemas.openxmlformats.org/drawingml/2006/table">
            <a:tbl>
              <a:tblPr/>
              <a:tblGrid>
                <a:gridCol w="2286000"/>
                <a:gridCol w="4895850"/>
                <a:gridCol w="3790950"/>
              </a:tblGrid>
              <a:tr h="695325">
                <a:tc>
                  <a:txBody>
                    <a:bodyPr lIns="114300" tIns="114300" rIns="114300" bIns="114300">
                      <a:noAutofit/>
                    </a:bodyPr>
                    <a:lstStyle/>
                    <a:p>
                      <a:r>
                        <a:rPr sz="1800" b="1">
                          <a:solidFill>
                            <a:srgbClr val="173B50"/>
                          </a:solidFill>
                          <a:latin typeface="Arial"/>
                          <a:ea typeface="Arial"/>
                          <a:cs typeface="Arial"/>
                        </a:rPr>
                        <a:t>Stage</a:t>
                      </a:r>
                    </a:p>
                  </a:txBody>
                  <a:tcPr marL="76200" marR="76200" marT="28575" marB="28575" anchor="ctr">
                    <a:solidFill>
                      <a:srgbClr val="E3EFF3"/>
                    </a:solidFill>
                  </a:tcPr>
                </a:tc>
                <a:tc>
                  <a:txBody>
                    <a:bodyPr lIns="114300" tIns="114300" rIns="114300" bIns="114300">
                      <a:noAutofit/>
                    </a:bodyPr>
                    <a:lstStyle/>
                    <a:p>
                      <a:r>
                        <a:rPr sz="1800" b="1">
                          <a:solidFill>
                            <a:srgbClr val="173B50"/>
                          </a:solidFill>
                          <a:latin typeface="Arial"/>
                          <a:ea typeface="Arial"/>
                          <a:cs typeface="Arial"/>
                        </a:rPr>
                        <a:t>Product additions</a:t>
                      </a:r>
                    </a:p>
                  </a:txBody>
                  <a:tcPr marL="76200" marR="76200" marT="28575" marB="28575" anchor="ctr">
                    <a:solidFill>
                      <a:srgbClr val="E3EFF3"/>
                    </a:solidFill>
                  </a:tcPr>
                </a:tc>
                <a:tc>
                  <a:txBody>
                    <a:bodyPr lIns="114300" tIns="114300" rIns="114300" bIns="114300">
                      <a:noAutofit/>
                    </a:bodyPr>
                    <a:lstStyle/>
                    <a:p>
                      <a:r>
                        <a:rPr sz="1800" b="1">
                          <a:solidFill>
                            <a:srgbClr val="173B50"/>
                          </a:solidFill>
                          <a:latin typeface="Arial"/>
                          <a:ea typeface="Arial"/>
                          <a:cs typeface="Arial"/>
                        </a:rPr>
                        <a:t>Engineering value</a:t>
                      </a:r>
                    </a:p>
                  </a:txBody>
                  <a:tcPr marL="76200" marR="76200" marT="28575" marB="28575" anchor="ctr">
                    <a:solidFill>
                      <a:srgbClr val="E3EFF3"/>
                    </a:solidFill>
                  </a:tcPr>
                </a:tc>
              </a:tr>
              <a:tr h="695325">
                <a:tc>
                  <a:txBody>
                    <a:bodyPr lIns="114300" tIns="114300" rIns="114300" bIns="114300">
                      <a:noAutofit/>
                    </a:bodyPr>
                    <a:lstStyle/>
                    <a:p>
                      <a:r>
                        <a:rPr sz="1800" b="0">
                          <a:solidFill>
                            <a:srgbClr val="173B50"/>
                          </a:solidFill>
                          <a:latin typeface="Arial"/>
                          <a:ea typeface="Arial"/>
                          <a:cs typeface="Arial"/>
                        </a:rPr>
                        <a:t>Pilot readiness</a:t>
                      </a:r>
                    </a:p>
                  </a:txBody>
                  <a:tcPr marL="76200" marR="76200" marT="28575" marB="28575" anchor="ctr">
                    <a:solidFill>
                      <a:srgbClr val="FFFFFF"/>
                    </a:solidFill>
                  </a:tcPr>
                </a:tc>
                <a:tc>
                  <a:txBody>
                    <a:bodyPr lIns="114300" tIns="114300" rIns="114300" bIns="114300">
                      <a:noAutofit/>
                    </a:bodyPr>
                    <a:lstStyle/>
                    <a:p>
                      <a:r>
                        <a:rPr sz="1800" b="0">
                          <a:solidFill>
                            <a:srgbClr val="173B50"/>
                          </a:solidFill>
                          <a:latin typeface="Arial"/>
                          <a:ea typeface="Arial"/>
                          <a:cs typeface="Arial"/>
                        </a:rPr>
                        <a:t>Reliability, onboarding and representative drawings</a:t>
                      </a:r>
                    </a:p>
                  </a:txBody>
                  <a:tcPr marL="76200" marR="76200" marT="28575" marB="28575" anchor="ctr">
                    <a:solidFill>
                      <a:srgbClr val="FFFFFF"/>
                    </a:solidFill>
                  </a:tcPr>
                </a:tc>
                <a:tc>
                  <a:txBody>
                    <a:bodyPr lIns="114300" tIns="114300" rIns="114300" bIns="114300">
                      <a:noAutofit/>
                    </a:bodyPr>
                    <a:lstStyle/>
                    <a:p>
                      <a:r>
                        <a:rPr sz="1800" b="0">
                          <a:solidFill>
                            <a:srgbClr val="173B50"/>
                          </a:solidFill>
                          <a:latin typeface="Arial"/>
                          <a:ea typeface="Arial"/>
                          <a:cs typeface="Arial"/>
                        </a:rPr>
                        <a:t>Prove a dependable core workflow</a:t>
                      </a:r>
                    </a:p>
                  </a:txBody>
                  <a:tcPr marL="76200" marR="76200" marT="28575" marB="28575" anchor="ctr">
                    <a:solidFill>
                      <a:srgbClr val="FFFFFF"/>
                    </a:solidFill>
                  </a:tcPr>
                </a:tc>
              </a:tr>
              <a:tr h="695325">
                <a:tc>
                  <a:txBody>
                    <a:bodyPr lIns="114300" tIns="114300" rIns="114300" bIns="114300">
                      <a:noAutofit/>
                    </a:bodyPr>
                    <a:lstStyle/>
                    <a:p>
                      <a:r>
                        <a:rPr sz="1800" b="0">
                          <a:solidFill>
                            <a:srgbClr val="173B50"/>
                          </a:solidFill>
                          <a:latin typeface="Arial"/>
                          <a:ea typeface="Arial"/>
                          <a:cs typeface="Arial"/>
                        </a:rPr>
                        <a:t>Project intelligence</a:t>
                      </a:r>
                    </a:p>
                  </a:txBody>
                  <a:tcPr marL="76200" marR="76200" marT="28575" marB="28575" anchor="ctr">
                    <a:solidFill>
                      <a:srgbClr val="F2F6F7"/>
                    </a:solidFill>
                  </a:tcPr>
                </a:tc>
                <a:tc>
                  <a:txBody>
                    <a:bodyPr lIns="114300" tIns="114300" rIns="114300" bIns="114300">
                      <a:noAutofit/>
                    </a:bodyPr>
                    <a:lstStyle/>
                    <a:p>
                      <a:r>
                        <a:rPr sz="1800" b="0">
                          <a:solidFill>
                            <a:srgbClr val="173B50"/>
                          </a:solidFill>
                          <a:latin typeface="Arial"/>
                          <a:ea typeface="Arial"/>
                          <a:cs typeface="Arial"/>
                        </a:rPr>
                        <a:t>Shared harness catalog, revision compare and exceptions</a:t>
                      </a:r>
                    </a:p>
                  </a:txBody>
                  <a:tcPr marL="76200" marR="76200" marT="28575" marB="28575" anchor="ctr">
                    <a:solidFill>
                      <a:srgbClr val="F2F6F7"/>
                    </a:solidFill>
                  </a:tcPr>
                </a:tc>
                <a:tc>
                  <a:txBody>
                    <a:bodyPr lIns="114300" tIns="114300" rIns="114300" bIns="114300">
                      <a:noAutofit/>
                    </a:bodyPr>
                    <a:lstStyle/>
                    <a:p>
                      <a:r>
                        <a:rPr sz="1800" b="0">
                          <a:solidFill>
                            <a:srgbClr val="173B50"/>
                          </a:solidFill>
                          <a:latin typeface="Arial"/>
                          <a:ea typeface="Arial"/>
                          <a:cs typeface="Arial"/>
                        </a:rPr>
                        <a:t>Manage common designs across projects</a:t>
                      </a:r>
                    </a:p>
                  </a:txBody>
                  <a:tcPr marL="76200" marR="76200" marT="28575" marB="28575" anchor="ctr">
                    <a:solidFill>
                      <a:srgbClr val="F2F6F7"/>
                    </a:solidFill>
                  </a:tcPr>
                </a:tc>
              </a:tr>
              <a:tr h="695325">
                <a:tc>
                  <a:txBody>
                    <a:bodyPr lIns="114300" tIns="114300" rIns="114300" bIns="114300">
                      <a:noAutofit/>
                    </a:bodyPr>
                    <a:lstStyle/>
                    <a:p>
                      <a:r>
                        <a:rPr sz="1800" b="0">
                          <a:solidFill>
                            <a:srgbClr val="173B50"/>
                          </a:solidFill>
                          <a:latin typeface="Arial"/>
                          <a:ea typeface="Arial"/>
                          <a:cs typeface="Arial"/>
                        </a:rPr>
                        <a:t>Electrical CAB wiring</a:t>
                      </a:r>
                    </a:p>
                  </a:txBody>
                  <a:tcPr marL="76200" marR="76200" marT="28575" marB="28575" anchor="ctr">
                    <a:solidFill>
                      <a:srgbClr val="FFFFFF"/>
                    </a:solidFill>
                  </a:tcPr>
                </a:tc>
                <a:tc>
                  <a:txBody>
                    <a:bodyPr lIns="114300" tIns="114300" rIns="114300" bIns="114300">
                      <a:noAutofit/>
                    </a:bodyPr>
                    <a:lstStyle/>
                    <a:p>
                      <a:r>
                        <a:rPr sz="1800" b="0">
                          <a:solidFill>
                            <a:srgbClr val="173B50"/>
                          </a:solidFill>
                          <a:latin typeface="Arial"/>
                          <a:ea typeface="Arial"/>
                          <a:cs typeface="Arial"/>
                        </a:rPr>
                        <a:t>Components, terminals, cabinet layouts and wire routes</a:t>
                      </a:r>
                    </a:p>
                  </a:txBody>
                  <a:tcPr marL="76200" marR="76200" marT="28575" marB="28575" anchor="ctr">
                    <a:solidFill>
                      <a:srgbClr val="FFFFFF"/>
                    </a:solidFill>
                  </a:tcPr>
                </a:tc>
                <a:tc>
                  <a:txBody>
                    <a:bodyPr lIns="114300" tIns="114300" rIns="114300" bIns="114300">
                      <a:noAutofit/>
                    </a:bodyPr>
                    <a:lstStyle/>
                    <a:p>
                      <a:r>
                        <a:rPr sz="1800" b="0">
                          <a:solidFill>
                            <a:srgbClr val="173B50"/>
                          </a:solidFill>
                          <a:latin typeface="Arial"/>
                          <a:ea typeface="Arial"/>
                          <a:cs typeface="Arial"/>
                        </a:rPr>
                        <a:t>Extend design into control cabinets</a:t>
                      </a:r>
                    </a:p>
                  </a:txBody>
                  <a:tcPr marL="76200" marR="76200" marT="28575" marB="28575" anchor="ctr">
                    <a:solidFill>
                      <a:srgbClr val="FFFFFF"/>
                    </a:solidFill>
                  </a:tcPr>
                </a:tc>
              </a:tr>
              <a:tr h="695325">
                <a:tc>
                  <a:txBody>
                    <a:bodyPr lIns="114300" tIns="114300" rIns="114300" bIns="114300">
                      <a:noAutofit/>
                    </a:bodyPr>
                    <a:lstStyle/>
                    <a:p>
                      <a:r>
                        <a:rPr sz="1800" b="0">
                          <a:solidFill>
                            <a:srgbClr val="173B50"/>
                          </a:solidFill>
                          <a:latin typeface="Arial"/>
                          <a:ea typeface="Arial"/>
                          <a:cs typeface="Arial"/>
                        </a:rPr>
                        <a:t>Engineering release</a:t>
                      </a:r>
                    </a:p>
                  </a:txBody>
                  <a:tcPr marL="76200" marR="76200" marT="28575" marB="28575" anchor="ctr">
                    <a:solidFill>
                      <a:srgbClr val="F2F6F7"/>
                    </a:solidFill>
                  </a:tcPr>
                </a:tc>
                <a:tc>
                  <a:txBody>
                    <a:bodyPr lIns="114300" tIns="114300" rIns="114300" bIns="114300">
                      <a:noAutofit/>
                    </a:bodyPr>
                    <a:lstStyle/>
                    <a:p>
                      <a:r>
                        <a:rPr sz="1800" b="0">
                          <a:solidFill>
                            <a:srgbClr val="173B50"/>
                          </a:solidFill>
                          <a:latin typeface="Arial"/>
                          <a:ea typeface="Arial"/>
                          <a:cs typeface="Arial"/>
                        </a:rPr>
                        <a:t>Revision register, approval and drawing packages</a:t>
                      </a:r>
                    </a:p>
                  </a:txBody>
                  <a:tcPr marL="76200" marR="76200" marT="28575" marB="28575" anchor="ctr">
                    <a:solidFill>
                      <a:srgbClr val="F2F6F7"/>
                    </a:solidFill>
                  </a:tcPr>
                </a:tc>
                <a:tc>
                  <a:txBody>
                    <a:bodyPr lIns="114300" tIns="114300" rIns="114300" bIns="114300">
                      <a:noAutofit/>
                    </a:bodyPr>
                    <a:lstStyle/>
                    <a:p>
                      <a:r>
                        <a:rPr sz="1800" b="0">
                          <a:solidFill>
                            <a:srgbClr val="173B50"/>
                          </a:solidFill>
                          <a:latin typeface="Arial"/>
                          <a:ea typeface="Arial"/>
                          <a:cs typeface="Arial"/>
                        </a:rPr>
                        <a:t>Keep project release data consistent</a:t>
                      </a:r>
                    </a:p>
                  </a:txBody>
                  <a:tcPr marL="76200" marR="76200" marT="28575" marB="28575" anchor="ctr">
                    <a:solidFill>
                      <a:srgbClr val="F2F6F7"/>
                    </a:solidFill>
                  </a:tcPr>
                </a:tc>
              </a:tr>
              <a:tr h="695325">
                <a:tc>
                  <a:txBody>
                    <a:bodyPr lIns="114300" tIns="114300" rIns="114300" bIns="114300">
                      <a:noAutofit/>
                    </a:bodyPr>
                    <a:lstStyle/>
                    <a:p>
                      <a:r>
                        <a:rPr sz="1800" b="0">
                          <a:solidFill>
                            <a:srgbClr val="173B50"/>
                          </a:solidFill>
                          <a:latin typeface="Arial"/>
                          <a:ea typeface="Arial"/>
                          <a:cs typeface="Arial"/>
                        </a:rPr>
                        <a:t>Team ecosystem</a:t>
                      </a:r>
                    </a:p>
                  </a:txBody>
                  <a:tcPr marL="76200" marR="76200" marT="28575" marB="28575" anchor="ctr">
                    <a:solidFill>
                      <a:srgbClr val="FFFFFF"/>
                    </a:solidFill>
                  </a:tcPr>
                </a:tc>
                <a:tc>
                  <a:txBody>
                    <a:bodyPr lIns="114300" tIns="114300" rIns="114300" bIns="114300">
                      <a:noAutofit/>
                    </a:bodyPr>
                    <a:lstStyle/>
                    <a:p>
                      <a:r>
                        <a:rPr sz="1800" b="0">
                          <a:solidFill>
                            <a:srgbClr val="173B50"/>
                          </a:solidFill>
                          <a:latin typeface="Arial"/>
                          <a:ea typeface="Arial"/>
                          <a:cs typeface="Arial"/>
                        </a:rPr>
                        <a:t>Approvals, shared libraries and PLM/ERP integrations</a:t>
                      </a:r>
                    </a:p>
                  </a:txBody>
                  <a:tcPr marL="76200" marR="76200" marT="28575" marB="28575" anchor="ctr">
                    <a:solidFill>
                      <a:srgbClr val="FFFFFF"/>
                    </a:solidFill>
                  </a:tcPr>
                </a:tc>
                <a:tc>
                  <a:txBody>
                    <a:bodyPr lIns="114300" tIns="114300" rIns="114300" bIns="114300">
                      <a:noAutofit/>
                    </a:bodyPr>
                    <a:lstStyle/>
                    <a:p>
                      <a:r>
                        <a:rPr sz="1800" b="0">
                          <a:solidFill>
                            <a:srgbClr val="173B50"/>
                          </a:solidFill>
                          <a:latin typeface="Arial"/>
                          <a:ea typeface="Arial"/>
                          <a:cs typeface="Arial"/>
                        </a:rPr>
                        <a:t>Support controlled work across organizations</a:t>
                      </a:r>
                    </a:p>
                  </a:txBody>
                  <a:tcPr marL="76200" marR="76200" marT="28575" marB="28575" anchor="ctr">
                    <a:solidFill>
                      <a:srgbClr val="FFFFFF"/>
                    </a:solidFill>
                  </a:tcPr>
                </a:tc>
              </a:tr>
            </a:tbl>
          </a:graphicData>
        </a:graphic>
      </p:graphicFrame>
    </p:spTree>
    <p:extLst>
      <p:ext uri="{BB962C8B-B14F-4D97-AF65-F5344CB8AC3E}">
        <p14:creationId xmlns:p14="http://schemas.microsoft.com/office/powerpoint/2010/main" val="113791228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6B03A823-B44B-44E4-8662-F9EFD15B4F4E}"/>
              </a:ext>
            </a:extLst>
          </p:cNvPr>
          <p:cNvPicPr>
            <a:picLocks xmlns:a="http://schemas.openxmlformats.org/drawingml/2006/main" noChangeAspect="1"/>
          </p:cNvPicPr>
          <p:nvPr/>
        </p:nvPicPr>
        <p:blipFill>
          <a:blip xmlns:r="http://schemas.openxmlformats.org/officeDocument/2006/relationships" xmlns:a="http://schemas.openxmlformats.org/drawingml/2006/main" r:embed="R2c37b309d820415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Light background wash">
            <a:extLst xmlns:a="http://schemas.openxmlformats.org/drawingml/2006/main">
              <a:ext uri="{FF2B5EF4-FFF2-40B4-BE49-F238E27FC236}">
                <a16:creationId xmlns:a16="http://schemas.microsoft.com/office/drawing/2014/main" id="{2741AD7B-DD93-4470-9DE3-1E5BA2058E0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90000"/>
            </a:srgbClr>
          </a:solidFill>
          <a:ln xmlns:a="http://schemas.openxmlformats.org/drawingml/2006/main" w="0">
            <a:noFill/>
          </a:ln>
        </p:spPr>
      </p:sp>
      <p:sp>
        <p:nvSpPr>
          <p:cNvPr id="3" name="The proposed five-person team">
            <a:extLst xmlns:a="http://schemas.openxmlformats.org/drawingml/2006/main">
              <a:ext uri="{FF2B5EF4-FFF2-40B4-BE49-F238E27FC236}">
                <a16:creationId xmlns:a16="http://schemas.microsoft.com/office/drawing/2014/main" id="{52FF7F56-E82C-4BD9-8CBC-6DF3BBBB2D67}"/>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73B50"/>
                </a:solidFill>
                <a:latin typeface="Arial"/>
                <a:ea typeface="Arial"/>
                <a:cs typeface="Arial"/>
              </a:defRPr>
            </a:defPPr>
          </a:lstStyle>
          <a:p xmlns:a="http://schemas.openxmlformats.org/drawingml/2006/main">
            <a:pPr>
              <a:defRPr sz="3450" b="1">
                <a:solidFill>
                  <a:srgbClr val="173B50"/>
                </a:solidFill>
                <a:latin typeface="Arial"/>
                <a:ea typeface="Arial"/>
                <a:cs typeface="Arial"/>
              </a:defRPr>
            </a:pPr>
            <a:r>
              <a:rPr sz="3450" b="1">
                <a:solidFill>
                  <a:srgbClr val="173B50"/>
                </a:solidFill>
                <a:latin typeface="Arial"/>
                <a:ea typeface="Arial"/>
                <a:cs typeface="Arial"/>
              </a:rPr>
              <a:t>The proposed five-person team</a:t>
            </a:r>
          </a:p>
        </p:txBody>
      </p:sp>
      <p:sp>
        <p:nvSpPr>
          <p:cNvPr id="4" name="27">
            <a:extLst xmlns:a="http://schemas.openxmlformats.org/drawingml/2006/main">
              <a:ext uri="{FF2B5EF4-FFF2-40B4-BE49-F238E27FC236}">
                <a16:creationId xmlns:a16="http://schemas.microsoft.com/office/drawing/2014/main" id="{D3B46A23-79E0-4A36-BAB1-E5ACD10C1F0E}"/>
              </a:ext>
            </a:extLst>
          </p:cNvPr>
          <p:cNvSpPr>
            <a:spLocks xmlns:a="http://schemas.openxmlformats.org/drawingml/2006/main" noGrp="1"/>
          </p:cNvSpPr>
          <p:nvPr/>
        </p:nvSpPr>
        <p:spPr>
          <a:xfrm xmlns:a="http://schemas.openxmlformats.org/drawingml/2006/main">
            <a:off x="11191875"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C7B"/>
                </a:solidFill>
                <a:latin typeface="Arial"/>
                <a:ea typeface="Arial"/>
                <a:cs typeface="Arial"/>
              </a:defRPr>
            </a:defPPr>
          </a:lstStyle>
          <a:p xmlns:a="http://schemas.openxmlformats.org/drawingml/2006/main">
            <a:pPr>
              <a:defRPr sz="1200" b="0">
                <a:solidFill>
                  <a:srgbClr val="516C7B"/>
                </a:solidFill>
                <a:latin typeface="Arial"/>
                <a:ea typeface="Arial"/>
                <a:cs typeface="Arial"/>
              </a:defRPr>
            </a:pPr>
            <a:r>
              <a:rPr sz="1200" b="0">
                <a:solidFill>
                  <a:srgbClr val="516C7B"/>
                </a:solidFill>
                <a:latin typeface="Arial"/>
                <a:ea typeface="Arial"/>
                <a:cs typeface="Arial"/>
              </a:rPr>
              <a:t>27</a:t>
            </a:r>
          </a:p>
        </p:txBody>
      </p:sp>
      <p:sp>
        <p:nvSpPr>
          <p:cNvPr id="5" name="Five planned roles. Each budgeted at NIS 40,000 pe">
            <a:extLst xmlns:a="http://schemas.openxmlformats.org/drawingml/2006/main">
              <a:ext uri="{FF2B5EF4-FFF2-40B4-BE49-F238E27FC236}">
                <a16:creationId xmlns:a16="http://schemas.microsoft.com/office/drawing/2014/main" id="{2DFA092C-28ED-4227-83B4-62A4F10BEFF0}"/>
              </a:ext>
            </a:extLst>
          </p:cNvPr>
          <p:cNvSpPr>
            <a:spLocks xmlns:a="http://schemas.openxmlformats.org/drawingml/2006/main" noGrp="1"/>
          </p:cNvSpPr>
          <p:nvPr/>
        </p:nvSpPr>
        <p:spPr>
          <a:xfrm xmlns:a="http://schemas.openxmlformats.org/drawingml/2006/main">
            <a:off x="609600" y="6191250"/>
            <a:ext cx="1019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16C7B"/>
                </a:solidFill>
                <a:latin typeface="Arial"/>
                <a:ea typeface="Arial"/>
                <a:cs typeface="Arial"/>
              </a:defRPr>
            </a:defPPr>
          </a:lstStyle>
          <a:p xmlns:a="http://schemas.openxmlformats.org/drawingml/2006/main">
            <a:pPr>
              <a:defRPr sz="1350" b="0">
                <a:solidFill>
                  <a:srgbClr val="516C7B"/>
                </a:solidFill>
                <a:latin typeface="Arial"/>
                <a:ea typeface="Arial"/>
                <a:cs typeface="Arial"/>
              </a:defRPr>
            </a:pPr>
            <a:r>
              <a:rPr sz="1350" b="0">
                <a:solidFill>
                  <a:srgbClr val="516C7B"/>
                </a:solidFill>
                <a:latin typeface="Arial"/>
                <a:ea typeface="Arial"/>
                <a:cs typeface="Arial"/>
              </a:rPr>
              <a:t>Five planned roles. Each budgeted at NIS 40,000 per month. The project owner will serve as CEO.</a:t>
            </a:r>
          </a:p>
        </p:txBody>
      </p:sp>
      <p:graphicFrame>
        <p:nvGraphicFramePr>
          <p:cNvPr id="6" name="">
            <a:extLst xmlns:a="http://schemas.openxmlformats.org/drawingml/2006/main">
              <a:ext uri="{FF2B5EF4-FFF2-40B4-BE49-F238E27FC236}">
                <a16:creationId xmlns:a16="http://schemas.microsoft.com/office/drawing/2014/main" id="{97F6EBF3-1461-4D92-BF17-896EBF89B224}"/>
              </a:ext>
            </a:extLst>
          </p:cNvPr>
          <p:cNvGraphicFramePr/>
          <p:nvPr/>
        </p:nvGraphicFramePr>
        <p:xfrm>
          <a:off xmlns:a="http://schemas.openxmlformats.org/drawingml/2006/main" x="609600" y="1600200"/>
          <a:ext xmlns:a="http://schemas.openxmlformats.org/drawingml/2006/main" cx="10972800" cy="4171950"/>
        </p:xfrm>
        <a:graphic xmlns:a="http://schemas.openxmlformats.org/drawingml/2006/main">
          <a:graphicData uri="http://schemas.openxmlformats.org/drawingml/2006/table">
            <a:tbl>
              <a:tblPr/>
              <a:tblGrid>
                <a:gridCol w="3019425"/>
                <a:gridCol w="5476875"/>
                <a:gridCol w="2476500"/>
              </a:tblGrid>
              <a:tr h="695325">
                <a:tc>
                  <a:txBody>
                    <a:bodyPr lIns="114300" tIns="114300" rIns="114300" bIns="114300">
                      <a:noAutofit/>
                    </a:bodyPr>
                    <a:lstStyle/>
                    <a:p>
                      <a:r>
                        <a:rPr sz="1800" b="1">
                          <a:solidFill>
                            <a:srgbClr val="173B50"/>
                          </a:solidFill>
                          <a:latin typeface="Arial"/>
                          <a:ea typeface="Arial"/>
                          <a:cs typeface="Arial"/>
                        </a:rPr>
                        <a:t>Role</a:t>
                      </a:r>
                    </a:p>
                  </a:txBody>
                  <a:tcPr marL="76200" marR="76200" marT="28575" marB="28575" anchor="ctr">
                    <a:solidFill>
                      <a:srgbClr val="E3EFF3"/>
                    </a:solidFill>
                  </a:tcPr>
                </a:tc>
                <a:tc>
                  <a:txBody>
                    <a:bodyPr lIns="114300" tIns="114300" rIns="114300" bIns="114300">
                      <a:noAutofit/>
                    </a:bodyPr>
                    <a:lstStyle/>
                    <a:p>
                      <a:r>
                        <a:rPr sz="1800" b="1">
                          <a:solidFill>
                            <a:srgbClr val="173B50"/>
                          </a:solidFill>
                          <a:latin typeface="Arial"/>
                          <a:ea typeface="Arial"/>
                          <a:cs typeface="Arial"/>
                        </a:rPr>
                        <a:t>Primary responsibility</a:t>
                      </a:r>
                    </a:p>
                  </a:txBody>
                  <a:tcPr marL="76200" marR="76200" marT="28575" marB="28575" anchor="ctr">
                    <a:solidFill>
                      <a:srgbClr val="E3EFF3"/>
                    </a:solidFill>
                  </a:tcPr>
                </a:tc>
                <a:tc>
                  <a:txBody>
                    <a:bodyPr lIns="114300" tIns="114300" rIns="114300" bIns="114300">
                      <a:noAutofit/>
                    </a:bodyPr>
                    <a:lstStyle/>
                    <a:p>
                      <a:r>
                        <a:rPr sz="1800" b="1">
                          <a:solidFill>
                            <a:srgbClr val="173B50"/>
                          </a:solidFill>
                          <a:latin typeface="Arial"/>
                          <a:ea typeface="Arial"/>
                          <a:cs typeface="Arial"/>
                        </a:rPr>
                        <a:t>24-month salary</a:t>
                      </a:r>
                    </a:p>
                  </a:txBody>
                  <a:tcPr marL="76200" marR="76200" marT="28575" marB="28575" anchor="ctr">
                    <a:solidFill>
                      <a:srgbClr val="E3EFF3"/>
                    </a:solidFill>
                  </a:tcPr>
                </a:tc>
              </a:tr>
              <a:tr h="695325">
                <a:tc>
                  <a:txBody>
                    <a:bodyPr lIns="114300" tIns="114300" rIns="114300" bIns="114300">
                      <a:noAutofit/>
                    </a:bodyPr>
                    <a:lstStyle/>
                    <a:p>
                      <a:r>
                        <a:rPr sz="1800" b="0">
                          <a:solidFill>
                            <a:srgbClr val="173B50"/>
                          </a:solidFill>
                          <a:latin typeface="Arial"/>
                          <a:ea typeface="Arial"/>
                          <a:cs typeface="Arial"/>
                        </a:rPr>
                        <a:t>CEO / Product owner</a:t>
                      </a:r>
                    </a:p>
                  </a:txBody>
                  <a:tcPr marL="76200" marR="76200" marT="28575" marB="28575" anchor="ctr">
                    <a:solidFill>
                      <a:srgbClr val="FFFFFF"/>
                    </a:solidFill>
                  </a:tcPr>
                </a:tc>
                <a:tc>
                  <a:txBody>
                    <a:bodyPr lIns="114300" tIns="114300" rIns="114300" bIns="114300">
                      <a:noAutofit/>
                    </a:bodyPr>
                    <a:lstStyle/>
                    <a:p>
                      <a:r>
                        <a:rPr sz="1800" b="0">
                          <a:solidFill>
                            <a:srgbClr val="173B50"/>
                          </a:solidFill>
                          <a:latin typeface="Arial"/>
                          <a:ea typeface="Arial"/>
                          <a:cs typeface="Arial"/>
                        </a:rPr>
                        <a:t>Product direction, partnerships and company leadership</a:t>
                      </a:r>
                    </a:p>
                  </a:txBody>
                  <a:tcPr marL="76200" marR="76200" marT="28575" marB="28575" anchor="ctr">
                    <a:solidFill>
                      <a:srgbClr val="FFFFFF"/>
                    </a:solidFill>
                  </a:tcPr>
                </a:tc>
                <a:tc>
                  <a:txBody>
                    <a:bodyPr lIns="114300" tIns="114300" rIns="114300" bIns="114300">
                      <a:noAutofit/>
                    </a:bodyPr>
                    <a:lstStyle/>
                    <a:p>
                      <a:r>
                        <a:rPr sz="1800" b="0">
                          <a:solidFill>
                            <a:srgbClr val="173B50"/>
                          </a:solidFill>
                          <a:latin typeface="Arial"/>
                          <a:ea typeface="Arial"/>
                          <a:cs typeface="Arial"/>
                        </a:rPr>
                        <a:t>NIS 960,000</a:t>
                      </a:r>
                    </a:p>
                  </a:txBody>
                  <a:tcPr marL="76200" marR="76200" marT="28575" marB="28575" anchor="ctr">
                    <a:solidFill>
                      <a:srgbClr val="FFFFFF"/>
                    </a:solidFill>
                  </a:tcPr>
                </a:tc>
              </a:tr>
              <a:tr h="695325">
                <a:tc>
                  <a:txBody>
                    <a:bodyPr lIns="114300" tIns="114300" rIns="114300" bIns="114300">
                      <a:noAutofit/>
                    </a:bodyPr>
                    <a:lstStyle/>
                    <a:p>
                      <a:r>
                        <a:rPr sz="1800" b="0">
                          <a:solidFill>
                            <a:srgbClr val="173B50"/>
                          </a:solidFill>
                          <a:latin typeface="Arial"/>
                          <a:ea typeface="Arial"/>
                          <a:cs typeface="Arial"/>
                        </a:rPr>
                        <a:t>Backend software engineer</a:t>
                      </a:r>
                    </a:p>
                  </a:txBody>
                  <a:tcPr marL="76200" marR="76200" marT="28575" marB="28575" anchor="ctr">
                    <a:solidFill>
                      <a:srgbClr val="F2F6F7"/>
                    </a:solidFill>
                  </a:tcPr>
                </a:tc>
                <a:tc>
                  <a:txBody>
                    <a:bodyPr lIns="114300" tIns="114300" rIns="114300" bIns="114300">
                      <a:noAutofit/>
                    </a:bodyPr>
                    <a:lstStyle/>
                    <a:p>
                      <a:r>
                        <a:rPr sz="1800" b="0">
                          <a:solidFill>
                            <a:srgbClr val="173B50"/>
                          </a:solidFill>
                          <a:latin typeface="Arial"/>
                          <a:ea typeface="Arial"/>
                          <a:cs typeface="Arial"/>
                        </a:rPr>
                        <a:t>Data services, integrations and commercial infrastructure</a:t>
                      </a:r>
                    </a:p>
                  </a:txBody>
                  <a:tcPr marL="76200" marR="76200" marT="28575" marB="28575" anchor="ctr">
                    <a:solidFill>
                      <a:srgbClr val="F2F6F7"/>
                    </a:solidFill>
                  </a:tcPr>
                </a:tc>
                <a:tc>
                  <a:txBody>
                    <a:bodyPr lIns="114300" tIns="114300" rIns="114300" bIns="114300">
                      <a:noAutofit/>
                    </a:bodyPr>
                    <a:lstStyle/>
                    <a:p>
                      <a:r>
                        <a:rPr sz="1800" b="0">
                          <a:solidFill>
                            <a:srgbClr val="173B50"/>
                          </a:solidFill>
                          <a:latin typeface="Arial"/>
                          <a:ea typeface="Arial"/>
                          <a:cs typeface="Arial"/>
                        </a:rPr>
                        <a:t>NIS 960,000</a:t>
                      </a:r>
                    </a:p>
                  </a:txBody>
                  <a:tcPr marL="76200" marR="76200" marT="28575" marB="28575" anchor="ctr">
                    <a:solidFill>
                      <a:srgbClr val="F2F6F7"/>
                    </a:solidFill>
                  </a:tcPr>
                </a:tc>
              </a:tr>
              <a:tr h="695325">
                <a:tc>
                  <a:txBody>
                    <a:bodyPr lIns="114300" tIns="114300" rIns="114300" bIns="114300">
                      <a:noAutofit/>
                    </a:bodyPr>
                    <a:lstStyle/>
                    <a:p>
                      <a:r>
                        <a:rPr sz="1800" b="0">
                          <a:solidFill>
                            <a:srgbClr val="173B50"/>
                          </a:solidFill>
                          <a:latin typeface="Arial"/>
                          <a:ea typeface="Arial"/>
                          <a:cs typeface="Arial"/>
                        </a:rPr>
                        <a:t>Full stack engineer</a:t>
                      </a:r>
                    </a:p>
                  </a:txBody>
                  <a:tcPr marL="76200" marR="76200" marT="28575" marB="28575" anchor="ctr">
                    <a:solidFill>
                      <a:srgbClr val="FFFFFF"/>
                    </a:solidFill>
                  </a:tcPr>
                </a:tc>
                <a:tc>
                  <a:txBody>
                    <a:bodyPr lIns="114300" tIns="114300" rIns="114300" bIns="114300">
                      <a:noAutofit/>
                    </a:bodyPr>
                    <a:lstStyle/>
                    <a:p>
                      <a:r>
                        <a:rPr sz="1800" b="0">
                          <a:solidFill>
                            <a:srgbClr val="173B50"/>
                          </a:solidFill>
                          <a:latin typeface="Arial"/>
                          <a:ea typeface="Arial"/>
                          <a:cs typeface="Arial"/>
                        </a:rPr>
                        <a:t>Product interfaces and future team services</a:t>
                      </a:r>
                    </a:p>
                  </a:txBody>
                  <a:tcPr marL="76200" marR="76200" marT="28575" marB="28575" anchor="ctr">
                    <a:solidFill>
                      <a:srgbClr val="FFFFFF"/>
                    </a:solidFill>
                  </a:tcPr>
                </a:tc>
                <a:tc>
                  <a:txBody>
                    <a:bodyPr lIns="114300" tIns="114300" rIns="114300" bIns="114300">
                      <a:noAutofit/>
                    </a:bodyPr>
                    <a:lstStyle/>
                    <a:p>
                      <a:r>
                        <a:rPr sz="1800" b="0">
                          <a:solidFill>
                            <a:srgbClr val="173B50"/>
                          </a:solidFill>
                          <a:latin typeface="Arial"/>
                          <a:ea typeface="Arial"/>
                          <a:cs typeface="Arial"/>
                        </a:rPr>
                        <a:t>NIS 960,000</a:t>
                      </a:r>
                    </a:p>
                  </a:txBody>
                  <a:tcPr marL="76200" marR="76200" marT="28575" marB="28575" anchor="ctr">
                    <a:solidFill>
                      <a:srgbClr val="FFFFFF"/>
                    </a:solidFill>
                  </a:tcPr>
                </a:tc>
              </a:tr>
              <a:tr h="695325">
                <a:tc>
                  <a:txBody>
                    <a:bodyPr lIns="114300" tIns="114300" rIns="114300" bIns="114300">
                      <a:noAutofit/>
                    </a:bodyPr>
                    <a:lstStyle/>
                    <a:p>
                      <a:r>
                        <a:rPr sz="1800" b="0">
                          <a:solidFill>
                            <a:srgbClr val="173B50"/>
                          </a:solidFill>
                          <a:latin typeface="Arial"/>
                          <a:ea typeface="Arial"/>
                          <a:cs typeface="Arial"/>
                        </a:rPr>
                        <a:t>System software engineer</a:t>
                      </a:r>
                    </a:p>
                  </a:txBody>
                  <a:tcPr marL="76200" marR="76200" marT="28575" marB="28575" anchor="ctr">
                    <a:solidFill>
                      <a:srgbClr val="F2F6F7"/>
                    </a:solidFill>
                  </a:tcPr>
                </a:tc>
                <a:tc>
                  <a:txBody>
                    <a:bodyPr lIns="114300" tIns="114300" rIns="114300" bIns="114300">
                      <a:noAutofit/>
                    </a:bodyPr>
                    <a:lstStyle/>
                    <a:p>
                      <a:r>
                        <a:rPr sz="1800" b="0">
                          <a:solidFill>
                            <a:srgbClr val="173B50"/>
                          </a:solidFill>
                          <a:latin typeface="Arial"/>
                          <a:ea typeface="Arial"/>
                          <a:cs typeface="Arial"/>
                        </a:rPr>
                        <a:t>Native CAD engine, routing and engineering rules</a:t>
                      </a:r>
                    </a:p>
                  </a:txBody>
                  <a:tcPr marL="76200" marR="76200" marT="28575" marB="28575" anchor="ctr">
                    <a:solidFill>
                      <a:srgbClr val="F2F6F7"/>
                    </a:solidFill>
                  </a:tcPr>
                </a:tc>
                <a:tc>
                  <a:txBody>
                    <a:bodyPr lIns="114300" tIns="114300" rIns="114300" bIns="114300">
                      <a:noAutofit/>
                    </a:bodyPr>
                    <a:lstStyle/>
                    <a:p>
                      <a:r>
                        <a:rPr sz="1800" b="0">
                          <a:solidFill>
                            <a:srgbClr val="173B50"/>
                          </a:solidFill>
                          <a:latin typeface="Arial"/>
                          <a:ea typeface="Arial"/>
                          <a:cs typeface="Arial"/>
                        </a:rPr>
                        <a:t>NIS 960,000</a:t>
                      </a:r>
                    </a:p>
                  </a:txBody>
                  <a:tcPr marL="76200" marR="76200" marT="28575" marB="28575" anchor="ctr">
                    <a:solidFill>
                      <a:srgbClr val="F2F6F7"/>
                    </a:solidFill>
                  </a:tcPr>
                </a:tc>
              </a:tr>
              <a:tr h="695325">
                <a:tc>
                  <a:txBody>
                    <a:bodyPr lIns="114300" tIns="114300" rIns="114300" bIns="114300">
                      <a:noAutofit/>
                    </a:bodyPr>
                    <a:lstStyle/>
                    <a:p>
                      <a:r>
                        <a:rPr sz="1800" b="0">
                          <a:solidFill>
                            <a:srgbClr val="173B50"/>
                          </a:solidFill>
                          <a:latin typeface="Arial"/>
                          <a:ea typeface="Arial"/>
                          <a:cs typeface="Arial"/>
                        </a:rPr>
                        <a:t>Promotion and sales</a:t>
                      </a:r>
                    </a:p>
                  </a:txBody>
                  <a:tcPr marL="76200" marR="76200" marT="28575" marB="28575" anchor="ctr">
                    <a:solidFill>
                      <a:srgbClr val="FFFFFF"/>
                    </a:solidFill>
                  </a:tcPr>
                </a:tc>
                <a:tc>
                  <a:txBody>
                    <a:bodyPr lIns="114300" tIns="114300" rIns="114300" bIns="114300">
                      <a:noAutofit/>
                    </a:bodyPr>
                    <a:lstStyle/>
                    <a:p>
                      <a:r>
                        <a:rPr sz="1800" b="0">
                          <a:solidFill>
                            <a:srgbClr val="173B50"/>
                          </a:solidFill>
                          <a:latin typeface="Arial"/>
                          <a:ea typeface="Arial"/>
                          <a:cs typeface="Arial"/>
                        </a:rPr>
                        <a:t>Design-partner recruitment, pipeline and customer adoption</a:t>
                      </a:r>
                    </a:p>
                  </a:txBody>
                  <a:tcPr marL="76200" marR="76200" marT="28575" marB="28575" anchor="ctr">
                    <a:solidFill>
                      <a:srgbClr val="FFFFFF"/>
                    </a:solidFill>
                  </a:tcPr>
                </a:tc>
                <a:tc>
                  <a:txBody>
                    <a:bodyPr lIns="114300" tIns="114300" rIns="114300" bIns="114300">
                      <a:noAutofit/>
                    </a:bodyPr>
                    <a:lstStyle/>
                    <a:p>
                      <a:r>
                        <a:rPr sz="1800" b="0">
                          <a:solidFill>
                            <a:srgbClr val="173B50"/>
                          </a:solidFill>
                          <a:latin typeface="Arial"/>
                          <a:ea typeface="Arial"/>
                          <a:cs typeface="Arial"/>
                        </a:rPr>
                        <a:t>NIS 960,000</a:t>
                      </a:r>
                    </a:p>
                  </a:txBody>
                  <a:tcPr marL="76200" marR="76200" marT="28575" marB="28575" anchor="ctr">
                    <a:solidFill>
                      <a:srgbClr val="FFFFFF"/>
                    </a:solidFill>
                  </a:tcPr>
                </a:tc>
              </a:tr>
            </a:tbl>
          </a:graphicData>
        </a:graphic>
      </p:graphicFrame>
    </p:spTree>
    <p:extLst>
      <p:ext uri="{BB962C8B-B14F-4D97-AF65-F5344CB8AC3E}">
        <p14:creationId xmlns:p14="http://schemas.microsoft.com/office/powerpoint/2010/main" val="56953109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12C12FEB-4DBA-4617-B3D5-78F026338E05}"/>
              </a:ext>
            </a:extLst>
          </p:cNvPr>
          <p:cNvPicPr>
            <a:picLocks xmlns:a="http://schemas.openxmlformats.org/drawingml/2006/main" noChangeAspect="1"/>
          </p:cNvPicPr>
          <p:nvPr/>
        </p:nvPicPr>
        <p:blipFill>
          <a:blip xmlns:r="http://schemas.openxmlformats.org/officeDocument/2006/relationships" xmlns:a="http://schemas.openxmlformats.org/drawingml/2006/main" r:embed="Ra9e76bf4748d4e9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Light background wash">
            <a:extLst xmlns:a="http://schemas.openxmlformats.org/drawingml/2006/main">
              <a:ext uri="{FF2B5EF4-FFF2-40B4-BE49-F238E27FC236}">
                <a16:creationId xmlns:a16="http://schemas.microsoft.com/office/drawing/2014/main" id="{C9C875F1-2A92-480D-A43A-B8DE37D45C1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90000"/>
            </a:srgbClr>
          </a:solidFill>
          <a:ln xmlns:a="http://schemas.openxmlformats.org/drawingml/2006/main" w="0">
            <a:noFill/>
          </a:ln>
        </p:spPr>
      </p:sp>
      <p:sp>
        <p:nvSpPr>
          <p:cNvPr id="3" name="NIS 6.0 million base funding requirement">
            <a:extLst xmlns:a="http://schemas.openxmlformats.org/drawingml/2006/main">
              <a:ext uri="{FF2B5EF4-FFF2-40B4-BE49-F238E27FC236}">
                <a16:creationId xmlns:a16="http://schemas.microsoft.com/office/drawing/2014/main" id="{7960F281-0DF9-4847-AE4F-D7CDDAD0E360}"/>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73B50"/>
                </a:solidFill>
                <a:latin typeface="Arial"/>
                <a:ea typeface="Arial"/>
                <a:cs typeface="Arial"/>
              </a:defRPr>
            </a:defPPr>
          </a:lstStyle>
          <a:p xmlns:a="http://schemas.openxmlformats.org/drawingml/2006/main">
            <a:pPr>
              <a:defRPr sz="3450" b="1">
                <a:solidFill>
                  <a:srgbClr val="173B50"/>
                </a:solidFill>
                <a:latin typeface="Arial"/>
                <a:ea typeface="Arial"/>
                <a:cs typeface="Arial"/>
              </a:defRPr>
            </a:pPr>
            <a:r>
              <a:rPr sz="3450" b="1">
                <a:solidFill>
                  <a:srgbClr val="173B50"/>
                </a:solidFill>
                <a:latin typeface="Arial"/>
                <a:ea typeface="Arial"/>
                <a:cs typeface="Arial"/>
              </a:rPr>
              <a:t>NIS 6.0 million base funding requirement</a:t>
            </a:r>
          </a:p>
        </p:txBody>
      </p:sp>
      <p:sp>
        <p:nvSpPr>
          <p:cNvPr id="4" name="28">
            <a:extLst xmlns:a="http://schemas.openxmlformats.org/drawingml/2006/main">
              <a:ext uri="{FF2B5EF4-FFF2-40B4-BE49-F238E27FC236}">
                <a16:creationId xmlns:a16="http://schemas.microsoft.com/office/drawing/2014/main" id="{D9D11D04-8601-4ED6-8C20-3F7D8B0043BD}"/>
              </a:ext>
            </a:extLst>
          </p:cNvPr>
          <p:cNvSpPr>
            <a:spLocks xmlns:a="http://schemas.openxmlformats.org/drawingml/2006/main" noGrp="1"/>
          </p:cNvSpPr>
          <p:nvPr/>
        </p:nvSpPr>
        <p:spPr>
          <a:xfrm xmlns:a="http://schemas.openxmlformats.org/drawingml/2006/main">
            <a:off x="11191875"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C7B"/>
                </a:solidFill>
                <a:latin typeface="Arial"/>
                <a:ea typeface="Arial"/>
                <a:cs typeface="Arial"/>
              </a:defRPr>
            </a:defPPr>
          </a:lstStyle>
          <a:p xmlns:a="http://schemas.openxmlformats.org/drawingml/2006/main">
            <a:pPr>
              <a:defRPr sz="1200" b="0">
                <a:solidFill>
                  <a:srgbClr val="516C7B"/>
                </a:solidFill>
                <a:latin typeface="Arial"/>
                <a:ea typeface="Arial"/>
                <a:cs typeface="Arial"/>
              </a:defRPr>
            </a:pPr>
            <a:r>
              <a:rPr sz="1200" b="0">
                <a:solidFill>
                  <a:srgbClr val="516C7B"/>
                </a:solidFill>
                <a:latin typeface="Arial"/>
                <a:ea typeface="Arial"/>
                <a:cs typeface="Arial"/>
              </a:rPr>
              <a:t>28</a:t>
            </a:r>
          </a:p>
        </p:txBody>
      </p:sp>
      <p:sp>
        <p:nvSpPr>
          <p:cNvPr id="5" name="Base budget supplied by the project owner. Funding">
            <a:extLst xmlns:a="http://schemas.openxmlformats.org/drawingml/2006/main">
              <a:ext uri="{FF2B5EF4-FFF2-40B4-BE49-F238E27FC236}">
                <a16:creationId xmlns:a16="http://schemas.microsoft.com/office/drawing/2014/main" id="{FE9FC980-D42A-4A4F-B38F-B83313861007}"/>
              </a:ext>
            </a:extLst>
          </p:cNvPr>
          <p:cNvSpPr>
            <a:spLocks xmlns:a="http://schemas.openxmlformats.org/drawingml/2006/main" noGrp="1"/>
          </p:cNvSpPr>
          <p:nvPr/>
        </p:nvSpPr>
        <p:spPr>
          <a:xfrm xmlns:a="http://schemas.openxmlformats.org/drawingml/2006/main">
            <a:off x="609600" y="6191250"/>
            <a:ext cx="1019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16C7B"/>
                </a:solidFill>
                <a:latin typeface="Arial"/>
                <a:ea typeface="Arial"/>
                <a:cs typeface="Arial"/>
              </a:defRPr>
            </a:defPPr>
          </a:lstStyle>
          <a:p xmlns:a="http://schemas.openxmlformats.org/drawingml/2006/main">
            <a:pPr>
              <a:defRPr sz="1350" b="0">
                <a:solidFill>
                  <a:srgbClr val="516C7B"/>
                </a:solidFill>
                <a:latin typeface="Arial"/>
                <a:ea typeface="Arial"/>
                <a:cs typeface="Arial"/>
              </a:defRPr>
            </a:pPr>
            <a:r>
              <a:rPr sz="1350" b="0">
                <a:solidFill>
                  <a:srgbClr val="516C7B"/>
                </a:solidFill>
                <a:latin typeface="Arial"/>
                <a:ea typeface="Arial"/>
                <a:cs typeface="Arial"/>
              </a:rPr>
              <a:t>Base budget supplied by the project owner. Funding terms and a fully loaded operating budget remain to be defined.</a:t>
            </a:r>
          </a:p>
        </p:txBody>
      </p:sp>
      <p:sp>
        <p:nvSpPr>
          <p:cNvPr id="6" name="24 months">
            <a:extLst xmlns:a="http://schemas.openxmlformats.org/drawingml/2006/main">
              <a:ext uri="{FF2B5EF4-FFF2-40B4-BE49-F238E27FC236}">
                <a16:creationId xmlns:a16="http://schemas.microsoft.com/office/drawing/2014/main" id="{62981FF3-32ED-4FBC-9D34-A4C8287528E3}"/>
              </a:ext>
            </a:extLst>
          </p:cNvPr>
          <p:cNvSpPr>
            <a:spLocks xmlns:a="http://schemas.openxmlformats.org/drawingml/2006/main" noGrp="1"/>
          </p:cNvSpPr>
          <p:nvPr/>
        </p:nvSpPr>
        <p:spPr>
          <a:xfrm xmlns:a="http://schemas.openxmlformats.org/drawingml/2006/main">
            <a:off x="609600" y="1552575"/>
            <a:ext cx="4714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650" b="1">
                <a:solidFill>
                  <a:srgbClr val="173B50"/>
                </a:solidFill>
                <a:latin typeface="Arial"/>
                <a:ea typeface="Arial"/>
                <a:cs typeface="Arial"/>
              </a:defRPr>
            </a:defPPr>
          </a:lstStyle>
          <a:p xmlns:a="http://schemas.openxmlformats.org/drawingml/2006/main">
            <a:pPr>
              <a:defRPr sz="4650" b="1">
                <a:solidFill>
                  <a:srgbClr val="173B50"/>
                </a:solidFill>
                <a:latin typeface="Arial"/>
                <a:ea typeface="Arial"/>
                <a:cs typeface="Arial"/>
              </a:defRPr>
            </a:pPr>
            <a:r>
              <a:rPr sz="4650" b="1">
                <a:solidFill>
                  <a:srgbClr val="173B50"/>
                </a:solidFill>
                <a:latin typeface="Arial"/>
                <a:ea typeface="Arial"/>
                <a:cs typeface="Arial"/>
              </a:rPr>
              <a:t>24 months</a:t>
            </a:r>
          </a:p>
        </p:txBody>
      </p:sp>
      <p:sp>
        <p:nvSpPr>
          <p:cNvPr id="7" name="NIS 250,000 per month&#10;for the stated salary and of">
            <a:extLst xmlns:a="http://schemas.openxmlformats.org/drawingml/2006/main">
              <a:ext uri="{FF2B5EF4-FFF2-40B4-BE49-F238E27FC236}">
                <a16:creationId xmlns:a16="http://schemas.microsoft.com/office/drawing/2014/main" id="{70A2515B-6BEA-4F60-B53F-B46E36DC08D8}"/>
              </a:ext>
            </a:extLst>
          </p:cNvPr>
          <p:cNvSpPr>
            <a:spLocks xmlns:a="http://schemas.openxmlformats.org/drawingml/2006/main" noGrp="1"/>
          </p:cNvSpPr>
          <p:nvPr/>
        </p:nvSpPr>
        <p:spPr>
          <a:xfrm xmlns:a="http://schemas.openxmlformats.org/drawingml/2006/main">
            <a:off x="638175" y="2543175"/>
            <a:ext cx="10001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516C7B"/>
                </a:solidFill>
                <a:latin typeface="Arial"/>
                <a:ea typeface="Arial"/>
                <a:cs typeface="Arial"/>
              </a:defRPr>
            </a:defPPr>
          </a:lstStyle>
          <a:p xmlns:a="http://schemas.openxmlformats.org/drawingml/2006/main">
            <a:pPr>
              <a:defRPr sz="2325" b="0">
                <a:solidFill>
                  <a:srgbClr val="516C7B"/>
                </a:solidFill>
                <a:latin typeface="Arial"/>
                <a:ea typeface="Arial"/>
                <a:cs typeface="Arial"/>
              </a:defRPr>
            </a:pPr>
            <a:r>
              <a:rPr sz="2325" b="0">
                <a:solidFill>
                  <a:srgbClr val="516C7B"/>
                </a:solidFill>
                <a:latin typeface="Arial"/>
                <a:ea typeface="Arial"/>
                <a:cs typeface="Arial"/>
              </a:rPr>
              <a:t>NIS 250,000 per month</a:t>
            </a:r>
          </a:p>
          <a:p xmlns:a="http://schemas.openxmlformats.org/drawingml/2006/main">
            <a:pPr>
              <a:defRPr sz="2325" b="0">
                <a:solidFill>
                  <a:srgbClr val="516C7B"/>
                </a:solidFill>
                <a:latin typeface="Arial"/>
                <a:ea typeface="Arial"/>
                <a:cs typeface="Arial"/>
              </a:defRPr>
            </a:pPr>
            <a:r>
              <a:rPr sz="2325" b="0">
                <a:solidFill>
                  <a:srgbClr val="516C7B"/>
                </a:solidFill>
                <a:latin typeface="Arial"/>
                <a:ea typeface="Arial"/>
                <a:cs typeface="Arial"/>
              </a:rPr>
              <a:t>for the stated salary and office costs</a:t>
            </a:r>
          </a:p>
        </p:txBody>
      </p:sp>
      <p:graphicFrame>
        <p:nvGraphicFramePr>
          <p:cNvPr id="8" name="">
            <a:extLst xmlns:a="http://schemas.openxmlformats.org/drawingml/2006/main">
              <a:ext uri="{FF2B5EF4-FFF2-40B4-BE49-F238E27FC236}">
                <a16:creationId xmlns:a16="http://schemas.microsoft.com/office/drawing/2014/main" id="{0B44E02F-2FB0-4601-A74C-4A4BEBEE9617}"/>
              </a:ext>
            </a:extLst>
          </p:cNvPr>
          <p:cNvGraphicFramePr/>
          <p:nvPr/>
        </p:nvGraphicFramePr>
        <p:xfrm>
          <a:off xmlns:a="http://schemas.openxmlformats.org/drawingml/2006/main" x="609600" y="3562350"/>
          <a:ext xmlns:a="http://schemas.openxmlformats.org/drawingml/2006/main" cx="10972800" cy="2085975"/>
        </p:xfrm>
        <a:graphic xmlns:a="http://schemas.openxmlformats.org/drawingml/2006/main">
          <a:graphicData uri="http://schemas.openxmlformats.org/drawingml/2006/table">
            <a:tbl>
              <a:tblPr/>
              <a:tblGrid>
                <a:gridCol w="4238625"/>
                <a:gridCol w="3362325"/>
                <a:gridCol w="3371850"/>
              </a:tblGrid>
              <a:tr h="521494">
                <a:tc>
                  <a:txBody>
                    <a:bodyPr lIns="114300" tIns="114300" rIns="114300" bIns="114300">
                      <a:noAutofit/>
                    </a:bodyPr>
                    <a:lstStyle/>
                    <a:p>
                      <a:r>
                        <a:rPr sz="2025" b="1">
                          <a:solidFill>
                            <a:srgbClr val="173B50"/>
                          </a:solidFill>
                          <a:latin typeface="Arial"/>
                          <a:ea typeface="Arial"/>
                          <a:cs typeface="Arial"/>
                        </a:rPr>
                        <a:t>Cost category</a:t>
                      </a:r>
                    </a:p>
                  </a:txBody>
                  <a:tcPr marL="76200" marR="76200" marT="28575" marB="28575" anchor="ctr">
                    <a:solidFill>
                      <a:srgbClr val="E3EFF3"/>
                    </a:solidFill>
                  </a:tcPr>
                </a:tc>
                <a:tc>
                  <a:txBody>
                    <a:bodyPr lIns="114300" tIns="114300" rIns="114300" bIns="114300">
                      <a:noAutofit/>
                    </a:bodyPr>
                    <a:lstStyle/>
                    <a:p>
                      <a:r>
                        <a:rPr sz="2025" b="1">
                          <a:solidFill>
                            <a:srgbClr val="173B50"/>
                          </a:solidFill>
                          <a:latin typeface="Arial"/>
                          <a:ea typeface="Arial"/>
                          <a:cs typeface="Arial"/>
                        </a:rPr>
                        <a:t>NIS / month</a:t>
                      </a:r>
                    </a:p>
                  </a:txBody>
                  <a:tcPr marL="76200" marR="76200" marT="28575" marB="28575" anchor="ctr">
                    <a:solidFill>
                      <a:srgbClr val="E3EFF3"/>
                    </a:solidFill>
                  </a:tcPr>
                </a:tc>
                <a:tc>
                  <a:txBody>
                    <a:bodyPr lIns="114300" tIns="114300" rIns="114300" bIns="114300">
                      <a:noAutofit/>
                    </a:bodyPr>
                    <a:lstStyle/>
                    <a:p>
                      <a:r>
                        <a:rPr sz="2025" b="1">
                          <a:solidFill>
                            <a:srgbClr val="173B50"/>
                          </a:solidFill>
                          <a:latin typeface="Arial"/>
                          <a:ea typeface="Arial"/>
                          <a:cs typeface="Arial"/>
                        </a:rPr>
                        <a:t>NIS / 24 months</a:t>
                      </a:r>
                    </a:p>
                  </a:txBody>
                  <a:tcPr marL="76200" marR="76200" marT="28575" marB="28575" anchor="ctr">
                    <a:solidFill>
                      <a:srgbClr val="E3EFF3"/>
                    </a:solidFill>
                  </a:tcPr>
                </a:tc>
              </a:tr>
              <a:tr h="521494">
                <a:tc>
                  <a:txBody>
                    <a:bodyPr lIns="114300" tIns="114300" rIns="114300" bIns="114300">
                      <a:noAutofit/>
                    </a:bodyPr>
                    <a:lstStyle/>
                    <a:p>
                      <a:r>
                        <a:rPr sz="2025" b="0">
                          <a:solidFill>
                            <a:srgbClr val="173B50"/>
                          </a:solidFill>
                          <a:latin typeface="Arial"/>
                          <a:ea typeface="Arial"/>
                          <a:cs typeface="Arial"/>
                        </a:rPr>
                        <a:t>Five salaries</a:t>
                      </a:r>
                    </a:p>
                  </a:txBody>
                  <a:tcPr marL="76200" marR="76200" marT="28575" marB="28575" anchor="ctr">
                    <a:solidFill>
                      <a:srgbClr val="FFFFFF"/>
                    </a:solidFill>
                  </a:tcPr>
                </a:tc>
                <a:tc>
                  <a:txBody>
                    <a:bodyPr lIns="114300" tIns="114300" rIns="114300" bIns="114300">
                      <a:noAutofit/>
                    </a:bodyPr>
                    <a:lstStyle/>
                    <a:p>
                      <a:r>
                        <a:rPr sz="2025" b="0">
                          <a:solidFill>
                            <a:srgbClr val="173B50"/>
                          </a:solidFill>
                          <a:latin typeface="Arial"/>
                          <a:ea typeface="Arial"/>
                          <a:cs typeface="Arial"/>
                        </a:rPr>
                        <a:t>200,000</a:t>
                      </a:r>
                    </a:p>
                  </a:txBody>
                  <a:tcPr marL="76200" marR="76200" marT="28575" marB="28575" anchor="ctr">
                    <a:solidFill>
                      <a:srgbClr val="FFFFFF"/>
                    </a:solidFill>
                  </a:tcPr>
                </a:tc>
                <a:tc>
                  <a:txBody>
                    <a:bodyPr lIns="114300" tIns="114300" rIns="114300" bIns="114300">
                      <a:noAutofit/>
                    </a:bodyPr>
                    <a:lstStyle/>
                    <a:p>
                      <a:r>
                        <a:rPr sz="2025" b="0">
                          <a:solidFill>
                            <a:srgbClr val="173B50"/>
                          </a:solidFill>
                          <a:latin typeface="Arial"/>
                          <a:ea typeface="Arial"/>
                          <a:cs typeface="Arial"/>
                        </a:rPr>
                        <a:t>4,800,000</a:t>
                      </a:r>
                    </a:p>
                  </a:txBody>
                  <a:tcPr marL="76200" marR="76200" marT="28575" marB="28575" anchor="ctr">
                    <a:solidFill>
                      <a:srgbClr val="FFFFFF"/>
                    </a:solidFill>
                  </a:tcPr>
                </a:tc>
              </a:tr>
              <a:tr h="521494">
                <a:tc>
                  <a:txBody>
                    <a:bodyPr lIns="114300" tIns="114300" rIns="114300" bIns="114300">
                      <a:noAutofit/>
                    </a:bodyPr>
                    <a:lstStyle/>
                    <a:p>
                      <a:r>
                        <a:rPr sz="2025" b="0">
                          <a:solidFill>
                            <a:srgbClr val="173B50"/>
                          </a:solidFill>
                          <a:latin typeface="Arial"/>
                          <a:ea typeface="Arial"/>
                          <a:cs typeface="Arial"/>
                        </a:rPr>
                        <a:t>Office rent</a:t>
                      </a:r>
                    </a:p>
                  </a:txBody>
                  <a:tcPr marL="76200" marR="76200" marT="28575" marB="28575" anchor="ctr">
                    <a:solidFill>
                      <a:srgbClr val="F2F6F7"/>
                    </a:solidFill>
                  </a:tcPr>
                </a:tc>
                <a:tc>
                  <a:txBody>
                    <a:bodyPr lIns="114300" tIns="114300" rIns="114300" bIns="114300">
                      <a:noAutofit/>
                    </a:bodyPr>
                    <a:lstStyle/>
                    <a:p>
                      <a:r>
                        <a:rPr sz="2025" b="0">
                          <a:solidFill>
                            <a:srgbClr val="173B50"/>
                          </a:solidFill>
                          <a:latin typeface="Arial"/>
                          <a:ea typeface="Arial"/>
                          <a:cs typeface="Arial"/>
                        </a:rPr>
                        <a:t>50,000</a:t>
                      </a:r>
                    </a:p>
                  </a:txBody>
                  <a:tcPr marL="76200" marR="76200" marT="28575" marB="28575" anchor="ctr">
                    <a:solidFill>
                      <a:srgbClr val="F2F6F7"/>
                    </a:solidFill>
                  </a:tcPr>
                </a:tc>
                <a:tc>
                  <a:txBody>
                    <a:bodyPr lIns="114300" tIns="114300" rIns="114300" bIns="114300">
                      <a:noAutofit/>
                    </a:bodyPr>
                    <a:lstStyle/>
                    <a:p>
                      <a:r>
                        <a:rPr sz="2025" b="0">
                          <a:solidFill>
                            <a:srgbClr val="173B50"/>
                          </a:solidFill>
                          <a:latin typeface="Arial"/>
                          <a:ea typeface="Arial"/>
                          <a:cs typeface="Arial"/>
                        </a:rPr>
                        <a:t>1,200,000</a:t>
                      </a:r>
                    </a:p>
                  </a:txBody>
                  <a:tcPr marL="76200" marR="76200" marT="28575" marB="28575" anchor="ctr">
                    <a:solidFill>
                      <a:srgbClr val="F2F6F7"/>
                    </a:solidFill>
                  </a:tcPr>
                </a:tc>
              </a:tr>
              <a:tr h="521494">
                <a:tc>
                  <a:txBody>
                    <a:bodyPr lIns="114300" tIns="114300" rIns="114300" bIns="114300">
                      <a:noAutofit/>
                    </a:bodyPr>
                    <a:lstStyle/>
                    <a:p>
                      <a:r>
                        <a:rPr sz="2025" b="0">
                          <a:solidFill>
                            <a:srgbClr val="173B50"/>
                          </a:solidFill>
                          <a:latin typeface="Arial"/>
                          <a:ea typeface="Arial"/>
                          <a:cs typeface="Arial"/>
                        </a:rPr>
                        <a:t>Base requirement</a:t>
                      </a:r>
                    </a:p>
                  </a:txBody>
                  <a:tcPr marL="76200" marR="76200" marT="28575" marB="28575" anchor="ctr">
                    <a:solidFill>
                      <a:srgbClr val="FFFFFF"/>
                    </a:solidFill>
                  </a:tcPr>
                </a:tc>
                <a:tc>
                  <a:txBody>
                    <a:bodyPr lIns="114300" tIns="114300" rIns="114300" bIns="114300">
                      <a:noAutofit/>
                    </a:bodyPr>
                    <a:lstStyle/>
                    <a:p>
                      <a:r>
                        <a:rPr sz="2025" b="0">
                          <a:solidFill>
                            <a:srgbClr val="173B50"/>
                          </a:solidFill>
                          <a:latin typeface="Arial"/>
                          <a:ea typeface="Arial"/>
                          <a:cs typeface="Arial"/>
                        </a:rPr>
                        <a:t>250,000</a:t>
                      </a:r>
                    </a:p>
                  </a:txBody>
                  <a:tcPr marL="76200" marR="76200" marT="28575" marB="28575" anchor="ctr">
                    <a:solidFill>
                      <a:srgbClr val="FFFFFF"/>
                    </a:solidFill>
                  </a:tcPr>
                </a:tc>
                <a:tc>
                  <a:txBody>
                    <a:bodyPr lIns="114300" tIns="114300" rIns="114300" bIns="114300">
                      <a:noAutofit/>
                    </a:bodyPr>
                    <a:lstStyle/>
                    <a:p>
                      <a:r>
                        <a:rPr sz="2025" b="0">
                          <a:solidFill>
                            <a:srgbClr val="173B50"/>
                          </a:solidFill>
                          <a:latin typeface="Arial"/>
                          <a:ea typeface="Arial"/>
                          <a:cs typeface="Arial"/>
                        </a:rPr>
                        <a:t>6,000,000</a:t>
                      </a:r>
                    </a:p>
                  </a:txBody>
                  <a:tcPr marL="76200" marR="76200" marT="28575" marB="28575" anchor="ctr">
                    <a:solidFill>
                      <a:srgbClr val="FFFFFF"/>
                    </a:solidFill>
                  </a:tcPr>
                </a:tc>
              </a:tr>
            </a:tbl>
          </a:graphicData>
        </a:graphic>
      </p:graphicFrame>
      <p:sp>
        <p:nvSpPr>
          <p:cNvPr id="9" name="Employer costs, equipment, marketing and contingen">
            <a:extLst xmlns:a="http://schemas.openxmlformats.org/drawingml/2006/main">
              <a:ext uri="{FF2B5EF4-FFF2-40B4-BE49-F238E27FC236}">
                <a16:creationId xmlns:a16="http://schemas.microsoft.com/office/drawing/2014/main" id="{E7BA4E39-1D05-4BC2-B392-40B93A05E6B2}"/>
              </a:ext>
            </a:extLst>
          </p:cNvPr>
          <p:cNvSpPr>
            <a:spLocks xmlns:a="http://schemas.openxmlformats.org/drawingml/2006/main" noGrp="1"/>
          </p:cNvSpPr>
          <p:nvPr/>
        </p:nvSpPr>
        <p:spPr>
          <a:xfrm xmlns:a="http://schemas.openxmlformats.org/drawingml/2006/main">
            <a:off x="609600" y="5819775"/>
            <a:ext cx="10572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16C7B"/>
                </a:solidFill>
                <a:latin typeface="Arial"/>
                <a:ea typeface="Arial"/>
                <a:cs typeface="Arial"/>
              </a:defRPr>
            </a:defPPr>
          </a:lstStyle>
          <a:p xmlns:a="http://schemas.openxmlformats.org/drawingml/2006/main">
            <a:pPr>
              <a:defRPr sz="1725" b="0">
                <a:solidFill>
                  <a:srgbClr val="516C7B"/>
                </a:solidFill>
                <a:latin typeface="Arial"/>
                <a:ea typeface="Arial"/>
                <a:cs typeface="Arial"/>
              </a:defRPr>
            </a:pPr>
            <a:r>
              <a:rPr sz="1725" b="0">
                <a:solidFill>
                  <a:srgbClr val="516C7B"/>
                </a:solidFill>
                <a:latin typeface="Arial"/>
                <a:ea typeface="Arial"/>
                <a:cs typeface="Arial"/>
              </a:rPr>
              <a:t>Employer costs, equipment, marketing and contingency need explicit budget treatment.</a:t>
            </a:r>
          </a:p>
        </p:txBody>
      </p:sp>
    </p:spTree>
    <p:extLst>
      <p:ext uri="{BB962C8B-B14F-4D97-AF65-F5344CB8AC3E}">
        <p14:creationId xmlns:p14="http://schemas.microsoft.com/office/powerpoint/2010/main" val="41147826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C7DDFADF-1649-4E1C-8395-8C4AA9542D7D}"/>
              </a:ext>
            </a:extLst>
          </p:cNvPr>
          <p:cNvPicPr>
            <a:picLocks xmlns:a="http://schemas.openxmlformats.org/drawingml/2006/main" noChangeAspect="1"/>
          </p:cNvPicPr>
          <p:nvPr/>
        </p:nvPicPr>
        <p:blipFill>
          <a:blip xmlns:r="http://schemas.openxmlformats.org/officeDocument/2006/relationships" xmlns:a="http://schemas.openxmlformats.org/drawingml/2006/main" r:embed="R73bb5ae25df94ea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Light background wash">
            <a:extLst xmlns:a="http://schemas.openxmlformats.org/drawingml/2006/main">
              <a:ext uri="{FF2B5EF4-FFF2-40B4-BE49-F238E27FC236}">
                <a16:creationId xmlns:a16="http://schemas.microsoft.com/office/drawing/2014/main" id="{4D967ACF-2D53-47EB-A64C-B4BFF818FFC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90000"/>
            </a:srgbClr>
          </a:solidFill>
          <a:ln xmlns:a="http://schemas.openxmlformats.org/drawingml/2006/main" w="0">
            <a:noFill/>
          </a:ln>
        </p:spPr>
      </p:sp>
      <p:sp>
        <p:nvSpPr>
          <p:cNvPr id="3" name="Investor cash-return assumptions">
            <a:extLst xmlns:a="http://schemas.openxmlformats.org/drawingml/2006/main">
              <a:ext uri="{FF2B5EF4-FFF2-40B4-BE49-F238E27FC236}">
                <a16:creationId xmlns:a16="http://schemas.microsoft.com/office/drawing/2014/main" id="{C16D5F26-C762-44F7-ABE7-36E478229AEB}"/>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73B50"/>
                </a:solidFill>
                <a:latin typeface="Arial"/>
                <a:ea typeface="Arial"/>
                <a:cs typeface="Arial"/>
              </a:defRPr>
            </a:defPPr>
          </a:lstStyle>
          <a:p xmlns:a="http://schemas.openxmlformats.org/drawingml/2006/main">
            <a:pPr>
              <a:defRPr sz="3450" b="1">
                <a:solidFill>
                  <a:srgbClr val="173B50"/>
                </a:solidFill>
                <a:latin typeface="Arial"/>
                <a:ea typeface="Arial"/>
                <a:cs typeface="Arial"/>
              </a:defRPr>
            </a:pPr>
            <a:r>
              <a:rPr sz="3450" b="1">
                <a:solidFill>
                  <a:srgbClr val="173B50"/>
                </a:solidFill>
                <a:latin typeface="Arial"/>
                <a:ea typeface="Arial"/>
                <a:cs typeface="Arial"/>
              </a:rPr>
              <a:t>Investor cash-return assumptions</a:t>
            </a:r>
          </a:p>
        </p:txBody>
      </p:sp>
      <p:sp>
        <p:nvSpPr>
          <p:cNvPr id="4" name="29">
            <a:extLst xmlns:a="http://schemas.openxmlformats.org/drawingml/2006/main">
              <a:ext uri="{FF2B5EF4-FFF2-40B4-BE49-F238E27FC236}">
                <a16:creationId xmlns:a16="http://schemas.microsoft.com/office/drawing/2014/main" id="{0867776B-E867-43C1-85B4-BFEBED6CBDA5}"/>
              </a:ext>
            </a:extLst>
          </p:cNvPr>
          <p:cNvSpPr>
            <a:spLocks xmlns:a="http://schemas.openxmlformats.org/drawingml/2006/main" noGrp="1"/>
          </p:cNvSpPr>
          <p:nvPr/>
        </p:nvSpPr>
        <p:spPr>
          <a:xfrm xmlns:a="http://schemas.openxmlformats.org/drawingml/2006/main">
            <a:off x="11191875"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C7B"/>
                </a:solidFill>
                <a:latin typeface="Arial"/>
                <a:ea typeface="Arial"/>
                <a:cs typeface="Arial"/>
              </a:defRPr>
            </a:defPPr>
          </a:lstStyle>
          <a:p xmlns:a="http://schemas.openxmlformats.org/drawingml/2006/main">
            <a:pPr>
              <a:defRPr sz="1200" b="0">
                <a:solidFill>
                  <a:srgbClr val="516C7B"/>
                </a:solidFill>
                <a:latin typeface="Arial"/>
                <a:ea typeface="Arial"/>
                <a:cs typeface="Arial"/>
              </a:defRPr>
            </a:pPr>
            <a:r>
              <a:rPr sz="1200" b="0">
                <a:solidFill>
                  <a:srgbClr val="516C7B"/>
                </a:solidFill>
                <a:latin typeface="Arial"/>
                <a:ea typeface="Arial"/>
                <a:cs typeface="Arial"/>
              </a:rPr>
              <a:t>29</a:t>
            </a:r>
          </a:p>
        </p:txBody>
      </p:sp>
      <p:sp>
        <p:nvSpPr>
          <p:cNvPr id="5" name="Illustrative steady-state model. No acquisition ra">
            <a:extLst xmlns:a="http://schemas.openxmlformats.org/drawingml/2006/main">
              <a:ext uri="{FF2B5EF4-FFF2-40B4-BE49-F238E27FC236}">
                <a16:creationId xmlns:a16="http://schemas.microsoft.com/office/drawing/2014/main" id="{9AC7E4F2-3663-4E1E-9367-FD8671E2E615}"/>
              </a:ext>
            </a:extLst>
          </p:cNvPr>
          <p:cNvSpPr>
            <a:spLocks xmlns:a="http://schemas.openxmlformats.org/drawingml/2006/main" noGrp="1"/>
          </p:cNvSpPr>
          <p:nvPr/>
        </p:nvSpPr>
        <p:spPr>
          <a:xfrm xmlns:a="http://schemas.openxmlformats.org/drawingml/2006/main">
            <a:off x="609600" y="6191250"/>
            <a:ext cx="1019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16C7B"/>
                </a:solidFill>
                <a:latin typeface="Arial"/>
                <a:ea typeface="Arial"/>
                <a:cs typeface="Arial"/>
              </a:defRPr>
            </a:defPPr>
          </a:lstStyle>
          <a:p xmlns:a="http://schemas.openxmlformats.org/drawingml/2006/main">
            <a:pPr>
              <a:defRPr sz="1350" b="0">
                <a:solidFill>
                  <a:srgbClr val="516C7B"/>
                </a:solidFill>
                <a:latin typeface="Arial"/>
                <a:ea typeface="Arial"/>
                <a:cs typeface="Arial"/>
              </a:defRPr>
            </a:pPr>
            <a:r>
              <a:rPr sz="1350" b="0">
                <a:solidFill>
                  <a:srgbClr val="516C7B"/>
                </a:solidFill>
                <a:latin typeface="Arial"/>
                <a:ea typeface="Arial"/>
                <a:cs typeface="Arial"/>
              </a:rPr>
              <a:t>Illustrative steady-state model. No acquisition ramp, dilution or agreed dividend policy is included.</a:t>
            </a:r>
          </a:p>
        </p:txBody>
      </p:sp>
      <p:graphicFrame>
        <p:nvGraphicFramePr>
          <p:cNvPr id="6" name="">
            <a:extLst xmlns:a="http://schemas.openxmlformats.org/drawingml/2006/main">
              <a:ext uri="{FF2B5EF4-FFF2-40B4-BE49-F238E27FC236}">
                <a16:creationId xmlns:a16="http://schemas.microsoft.com/office/drawing/2014/main" id="{43ECAFCF-2091-458C-8322-50C5FF270816}"/>
              </a:ext>
            </a:extLst>
          </p:cNvPr>
          <p:cNvGraphicFramePr/>
          <p:nvPr/>
        </p:nvGraphicFramePr>
        <p:xfrm>
          <a:off xmlns:a="http://schemas.openxmlformats.org/drawingml/2006/main" x="609600" y="1628775"/>
          <a:ext xmlns:a="http://schemas.openxmlformats.org/drawingml/2006/main" cx="10972800" cy="3981450"/>
        </p:xfrm>
        <a:graphic xmlns:a="http://schemas.openxmlformats.org/drawingml/2006/main">
          <a:graphicData uri="http://schemas.openxmlformats.org/drawingml/2006/table">
            <a:tbl>
              <a:tblPr/>
              <a:tblGrid>
                <a:gridCol w="5210175"/>
                <a:gridCol w="5762625"/>
              </a:tblGrid>
              <a:tr h="568779">
                <a:tc>
                  <a:txBody>
                    <a:bodyPr lIns="114300" tIns="114300" rIns="114300" bIns="114300">
                      <a:noAutofit/>
                    </a:bodyPr>
                    <a:lstStyle/>
                    <a:p>
                      <a:r>
                        <a:rPr sz="1875" b="1">
                          <a:solidFill>
                            <a:srgbClr val="173B50"/>
                          </a:solidFill>
                          <a:latin typeface="Arial"/>
                          <a:ea typeface="Arial"/>
                          <a:cs typeface="Arial"/>
                        </a:rPr>
                        <a:t>Model input</a:t>
                      </a:r>
                    </a:p>
                  </a:txBody>
                  <a:tcPr marL="76200" marR="76200" marT="28575" marB="28575" anchor="ctr">
                    <a:solidFill>
                      <a:srgbClr val="E3EFF3"/>
                    </a:solidFill>
                  </a:tcPr>
                </a:tc>
                <a:tc>
                  <a:txBody>
                    <a:bodyPr lIns="114300" tIns="114300" rIns="114300" bIns="114300">
                      <a:noAutofit/>
                    </a:bodyPr>
                    <a:lstStyle/>
                    <a:p>
                      <a:r>
                        <a:rPr sz="1875" b="1">
                          <a:solidFill>
                            <a:srgbClr val="173B50"/>
                          </a:solidFill>
                          <a:latin typeface="Arial"/>
                          <a:ea typeface="Arial"/>
                          <a:cs typeface="Arial"/>
                        </a:rPr>
                        <a:t>Illustrative assumption</a:t>
                      </a:r>
                    </a:p>
                  </a:txBody>
                  <a:tcPr marL="76200" marR="76200" marT="28575" marB="28575" anchor="ctr">
                    <a:solidFill>
                      <a:srgbClr val="E3EFF3"/>
                    </a:solidFill>
                  </a:tcPr>
                </a:tc>
              </a:tr>
              <a:tr h="568779">
                <a:tc>
                  <a:txBody>
                    <a:bodyPr lIns="114300" tIns="114300" rIns="114300" bIns="114300">
                      <a:noAutofit/>
                    </a:bodyPr>
                    <a:lstStyle/>
                    <a:p>
                      <a:r>
                        <a:rPr sz="1875" b="0">
                          <a:solidFill>
                            <a:srgbClr val="173B50"/>
                          </a:solidFill>
                          <a:latin typeface="Arial"/>
                          <a:ea typeface="Arial"/>
                          <a:cs typeface="Arial"/>
                        </a:rPr>
                        <a:t>Investment / investor ownership</a:t>
                      </a:r>
                    </a:p>
                  </a:txBody>
                  <a:tcPr marL="76200" marR="76200" marT="28575" marB="28575" anchor="ctr">
                    <a:solidFill>
                      <a:srgbClr val="FFFFFF"/>
                    </a:solidFill>
                  </a:tcPr>
                </a:tc>
                <a:tc>
                  <a:txBody>
                    <a:bodyPr lIns="114300" tIns="114300" rIns="114300" bIns="114300">
                      <a:noAutofit/>
                    </a:bodyPr>
                    <a:lstStyle/>
                    <a:p>
                      <a:r>
                        <a:rPr sz="1875" b="0">
                          <a:solidFill>
                            <a:srgbClr val="173B50"/>
                          </a:solidFill>
                          <a:latin typeface="Arial"/>
                          <a:ea typeface="Arial"/>
                          <a:cs typeface="Arial"/>
                        </a:rPr>
                        <a:t>NIS 6M / 20%</a:t>
                      </a:r>
                    </a:p>
                  </a:txBody>
                  <a:tcPr marL="76200" marR="76200" marT="28575" marB="28575" anchor="ctr">
                    <a:solidFill>
                      <a:srgbClr val="FFFFFF"/>
                    </a:solidFill>
                  </a:tcPr>
                </a:tc>
              </a:tr>
              <a:tr h="568779">
                <a:tc>
                  <a:txBody>
                    <a:bodyPr lIns="114300" tIns="114300" rIns="114300" bIns="114300">
                      <a:noAutofit/>
                    </a:bodyPr>
                    <a:lstStyle/>
                    <a:p>
                      <a:r>
                        <a:rPr sz="1875" b="0">
                          <a:solidFill>
                            <a:srgbClr val="173B50"/>
                          </a:solidFill>
                          <a:latin typeface="Arial"/>
                          <a:ea typeface="Arial"/>
                          <a:cs typeface="Arial"/>
                        </a:rPr>
                        <a:t>Paid-seat price / planning FX</a:t>
                      </a:r>
                    </a:p>
                  </a:txBody>
                  <a:tcPr marL="76200" marR="76200" marT="28575" marB="28575" anchor="ctr">
                    <a:solidFill>
                      <a:srgbClr val="F2F6F7"/>
                    </a:solidFill>
                  </a:tcPr>
                </a:tc>
                <a:tc>
                  <a:txBody>
                    <a:bodyPr lIns="114300" tIns="114300" rIns="114300" bIns="114300">
                      <a:noAutofit/>
                    </a:bodyPr>
                    <a:lstStyle/>
                    <a:p>
                      <a:r>
                        <a:rPr sz="1875" b="0">
                          <a:solidFill>
                            <a:srgbClr val="173B50"/>
                          </a:solidFill>
                          <a:latin typeface="Arial"/>
                          <a:ea typeface="Arial"/>
                          <a:cs typeface="Arial"/>
                        </a:rPr>
                        <a:t>$100/month / NIS 3.5 per USD</a:t>
                      </a:r>
                    </a:p>
                  </a:txBody>
                  <a:tcPr marL="76200" marR="76200" marT="28575" marB="28575" anchor="ctr">
                    <a:solidFill>
                      <a:srgbClr val="F2F6F7"/>
                    </a:solidFill>
                  </a:tcPr>
                </a:tc>
              </a:tr>
              <a:tr h="568779">
                <a:tc>
                  <a:txBody>
                    <a:bodyPr lIns="114300" tIns="114300" rIns="114300" bIns="114300">
                      <a:noAutofit/>
                    </a:bodyPr>
                    <a:lstStyle/>
                    <a:p>
                      <a:r>
                        <a:rPr sz="1875" b="0">
                          <a:solidFill>
                            <a:srgbClr val="173B50"/>
                          </a:solidFill>
                          <a:latin typeface="Arial"/>
                          <a:ea typeface="Arial"/>
                          <a:cs typeface="Arial"/>
                        </a:rPr>
                        <a:t>Annual salary and rent cost</a:t>
                      </a:r>
                    </a:p>
                  </a:txBody>
                  <a:tcPr marL="76200" marR="76200" marT="28575" marB="28575" anchor="ctr">
                    <a:solidFill>
                      <a:srgbClr val="FFFFFF"/>
                    </a:solidFill>
                  </a:tcPr>
                </a:tc>
                <a:tc>
                  <a:txBody>
                    <a:bodyPr lIns="114300" tIns="114300" rIns="114300" bIns="114300">
                      <a:noAutofit/>
                    </a:bodyPr>
                    <a:lstStyle/>
                    <a:p>
                      <a:r>
                        <a:rPr sz="1875" b="0">
                          <a:solidFill>
                            <a:srgbClr val="173B50"/>
                          </a:solidFill>
                          <a:latin typeface="Arial"/>
                          <a:ea typeface="Arial"/>
                          <a:cs typeface="Arial"/>
                        </a:rPr>
                        <a:t>NIS 3M</a:t>
                      </a:r>
                    </a:p>
                  </a:txBody>
                  <a:tcPr marL="76200" marR="76200" marT="28575" marB="28575" anchor="ctr">
                    <a:solidFill>
                      <a:srgbClr val="FFFFFF"/>
                    </a:solidFill>
                  </a:tcPr>
                </a:tc>
              </a:tr>
              <a:tr h="568779">
                <a:tc>
                  <a:txBody>
                    <a:bodyPr lIns="114300" tIns="114300" rIns="114300" bIns="114300">
                      <a:noAutofit/>
                    </a:bodyPr>
                    <a:lstStyle/>
                    <a:p>
                      <a:r>
                        <a:rPr sz="1875" b="0">
                          <a:solidFill>
                            <a:srgbClr val="173B50"/>
                          </a:solidFill>
                          <a:latin typeface="Arial"/>
                          <a:ea typeface="Arial"/>
                          <a:cs typeface="Arial"/>
                        </a:rPr>
                        <a:t>Cash contribution after variable costs</a:t>
                      </a:r>
                    </a:p>
                  </a:txBody>
                  <a:tcPr marL="76200" marR="76200" marT="28575" marB="28575" anchor="ctr">
                    <a:solidFill>
                      <a:srgbClr val="F2F6F7"/>
                    </a:solidFill>
                  </a:tcPr>
                </a:tc>
                <a:tc>
                  <a:txBody>
                    <a:bodyPr lIns="114300" tIns="114300" rIns="114300" bIns="114300">
                      <a:noAutofit/>
                    </a:bodyPr>
                    <a:lstStyle/>
                    <a:p>
                      <a:r>
                        <a:rPr sz="1875" b="0">
                          <a:solidFill>
                            <a:srgbClr val="173B50"/>
                          </a:solidFill>
                          <a:latin typeface="Arial"/>
                          <a:ea typeface="Arial"/>
                          <a:cs typeface="Arial"/>
                        </a:rPr>
                        <a:t>85% of subscription revenue</a:t>
                      </a:r>
                    </a:p>
                  </a:txBody>
                  <a:tcPr marL="76200" marR="76200" marT="28575" marB="28575" anchor="ctr">
                    <a:solidFill>
                      <a:srgbClr val="F2F6F7"/>
                    </a:solidFill>
                  </a:tcPr>
                </a:tc>
              </a:tr>
              <a:tr h="568779">
                <a:tc>
                  <a:txBody>
                    <a:bodyPr lIns="114300" tIns="114300" rIns="114300" bIns="114300">
                      <a:noAutofit/>
                    </a:bodyPr>
                    <a:lstStyle/>
                    <a:p>
                      <a:r>
                        <a:rPr sz="1875" b="0">
                          <a:solidFill>
                            <a:srgbClr val="173B50"/>
                          </a:solidFill>
                          <a:latin typeface="Arial"/>
                          <a:ea typeface="Arial"/>
                          <a:cs typeface="Arial"/>
                        </a:rPr>
                        <a:t>Reserve from positive operating cash</a:t>
                      </a:r>
                    </a:p>
                  </a:txBody>
                  <a:tcPr marL="76200" marR="76200" marT="28575" marB="28575" anchor="ctr">
                    <a:solidFill>
                      <a:srgbClr val="FFFFFF"/>
                    </a:solidFill>
                  </a:tcPr>
                </a:tc>
                <a:tc>
                  <a:txBody>
                    <a:bodyPr lIns="114300" tIns="114300" rIns="114300" bIns="114300">
                      <a:noAutofit/>
                    </a:bodyPr>
                    <a:lstStyle/>
                    <a:p>
                      <a:r>
                        <a:rPr sz="1875" b="0">
                          <a:solidFill>
                            <a:srgbClr val="173B50"/>
                          </a:solidFill>
                          <a:latin typeface="Arial"/>
                          <a:ea typeface="Arial"/>
                          <a:cs typeface="Arial"/>
                        </a:rPr>
                        <a:t>20% for taxes and reinvestment</a:t>
                      </a:r>
                    </a:p>
                  </a:txBody>
                  <a:tcPr marL="76200" marR="76200" marT="28575" marB="28575" anchor="ctr">
                    <a:solidFill>
                      <a:srgbClr val="FFFFFF"/>
                    </a:solidFill>
                  </a:tcPr>
                </a:tc>
              </a:tr>
              <a:tr h="568779">
                <a:tc>
                  <a:txBody>
                    <a:bodyPr lIns="114300" tIns="114300" rIns="114300" bIns="114300">
                      <a:noAutofit/>
                    </a:bodyPr>
                    <a:lstStyle/>
                    <a:p>
                      <a:r>
                        <a:rPr sz="1875" b="0">
                          <a:solidFill>
                            <a:srgbClr val="173B50"/>
                          </a:solidFill>
                          <a:latin typeface="Arial"/>
                          <a:ea typeface="Arial"/>
                          <a:cs typeface="Arial"/>
                        </a:rPr>
                        <a:t>Investor payments</a:t>
                      </a:r>
                    </a:p>
                  </a:txBody>
                  <a:tcPr marL="76200" marR="76200" marT="28575" marB="28575" anchor="ctr">
                    <a:solidFill>
                      <a:srgbClr val="F2F6F7"/>
                    </a:solidFill>
                  </a:tcPr>
                </a:tc>
                <a:tc>
                  <a:txBody>
                    <a:bodyPr lIns="114300" tIns="114300" rIns="114300" bIns="114300">
                      <a:noAutofit/>
                    </a:bodyPr>
                    <a:lstStyle/>
                    <a:p>
                      <a:r>
                        <a:rPr sz="1875" b="0">
                          <a:solidFill>
                            <a:srgbClr val="173B50"/>
                          </a:solidFill>
                          <a:latin typeface="Arial"/>
                          <a:ea typeface="Arial"/>
                          <a:cs typeface="Arial"/>
                        </a:rPr>
                        <a:t>Annual distributions from Year 3</a:t>
                      </a:r>
                    </a:p>
                  </a:txBody>
                  <a:tcPr marL="76200" marR="76200" marT="28575" marB="28575" anchor="ctr">
                    <a:solidFill>
                      <a:srgbClr val="F2F6F7"/>
                    </a:solidFill>
                  </a:tcPr>
                </a:tc>
              </a:tr>
            </a:tbl>
          </a:graphicData>
        </a:graphic>
      </p:graphicFrame>
      <p:sp>
        <p:nvSpPr>
          <p:cNvPr id="7" name="Investor cash = positive operating cash × 80% × 20">
            <a:extLst xmlns:a="http://schemas.openxmlformats.org/drawingml/2006/main">
              <a:ext uri="{FF2B5EF4-FFF2-40B4-BE49-F238E27FC236}">
                <a16:creationId xmlns:a16="http://schemas.microsoft.com/office/drawing/2014/main" id="{150B0767-DAD0-4BCE-983C-A0A20926FE30}"/>
              </a:ext>
            </a:extLst>
          </p:cNvPr>
          <p:cNvSpPr>
            <a:spLocks xmlns:a="http://schemas.openxmlformats.org/drawingml/2006/main" noGrp="1"/>
          </p:cNvSpPr>
          <p:nvPr/>
        </p:nvSpPr>
        <p:spPr>
          <a:xfrm xmlns:a="http://schemas.openxmlformats.org/drawingml/2006/main">
            <a:off x="609600" y="5829300"/>
            <a:ext cx="10839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73B50"/>
                </a:solidFill>
                <a:latin typeface="Arial"/>
                <a:ea typeface="Arial"/>
                <a:cs typeface="Arial"/>
              </a:defRPr>
            </a:defPPr>
          </a:lstStyle>
          <a:p xmlns:a="http://schemas.openxmlformats.org/drawingml/2006/main">
            <a:pPr>
              <a:defRPr sz="2025" b="1">
                <a:solidFill>
                  <a:srgbClr val="173B50"/>
                </a:solidFill>
                <a:latin typeface="Arial"/>
                <a:ea typeface="Arial"/>
                <a:cs typeface="Arial"/>
              </a:defRPr>
            </a:pPr>
            <a:r>
              <a:rPr sz="2025" b="1">
                <a:solidFill>
                  <a:srgbClr val="173B50"/>
                </a:solidFill>
                <a:latin typeface="Arial"/>
                <a:ea typeface="Arial"/>
                <a:cs typeface="Arial"/>
              </a:rPr>
              <a:t>Investor cash = positive operating cash × 80% × 20% ownership</a:t>
            </a:r>
          </a:p>
        </p:txBody>
      </p:sp>
    </p:spTree>
    <p:extLst>
      <p:ext uri="{BB962C8B-B14F-4D97-AF65-F5344CB8AC3E}">
        <p14:creationId xmlns:p14="http://schemas.microsoft.com/office/powerpoint/2010/main" val="1645764534"/>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2468E76C-AC72-4F37-9CF6-4FE70F19FCA5}"/>
              </a:ext>
            </a:extLst>
          </p:cNvPr>
          <p:cNvPicPr>
            <a:picLocks xmlns:a="http://schemas.openxmlformats.org/drawingml/2006/main" noChangeAspect="1"/>
          </p:cNvPicPr>
          <p:nvPr/>
        </p:nvPicPr>
        <p:blipFill>
          <a:blip xmlns:r="http://schemas.openxmlformats.org/officeDocument/2006/relationships" xmlns:a="http://schemas.openxmlformats.org/drawingml/2006/main" r:embed="R036e7628655748c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Light background wash">
            <a:extLst xmlns:a="http://schemas.openxmlformats.org/drawingml/2006/main">
              <a:ext uri="{FF2B5EF4-FFF2-40B4-BE49-F238E27FC236}">
                <a16:creationId xmlns:a16="http://schemas.microsoft.com/office/drawing/2014/main" id="{0DD07883-BC05-4930-8C6C-0ED0DA02B8A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90000"/>
            </a:srgbClr>
          </a:solidFill>
          <a:ln xmlns:a="http://schemas.openxmlformats.org/drawingml/2006/main" w="0">
            <a:noFill/>
          </a:ln>
        </p:spPr>
      </p:sp>
      <p:sp>
        <p:nvSpPr>
          <p:cNvPr id="3" name="When distributions return the NIS 6M investment">
            <a:extLst xmlns:a="http://schemas.openxmlformats.org/drawingml/2006/main">
              <a:ext uri="{FF2B5EF4-FFF2-40B4-BE49-F238E27FC236}">
                <a16:creationId xmlns:a16="http://schemas.microsoft.com/office/drawing/2014/main" id="{A11E917C-6A6A-4910-BD23-440BEFD986C6}"/>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73B50"/>
                </a:solidFill>
                <a:latin typeface="Arial"/>
                <a:ea typeface="Arial"/>
                <a:cs typeface="Arial"/>
              </a:defRPr>
            </a:defPPr>
          </a:lstStyle>
          <a:p xmlns:a="http://schemas.openxmlformats.org/drawingml/2006/main">
            <a:pPr>
              <a:defRPr sz="3450" b="1">
                <a:solidFill>
                  <a:srgbClr val="173B50"/>
                </a:solidFill>
                <a:latin typeface="Arial"/>
                <a:ea typeface="Arial"/>
                <a:cs typeface="Arial"/>
              </a:defRPr>
            </a:pPr>
            <a:r>
              <a:rPr sz="3450" b="1">
                <a:solidFill>
                  <a:srgbClr val="173B50"/>
                </a:solidFill>
                <a:latin typeface="Arial"/>
                <a:ea typeface="Arial"/>
                <a:cs typeface="Arial"/>
              </a:rPr>
              <a:t>When distributions return the NIS 6M investment</a:t>
            </a:r>
          </a:p>
        </p:txBody>
      </p:sp>
      <p:sp>
        <p:nvSpPr>
          <p:cNvPr id="4" name="30">
            <a:extLst xmlns:a="http://schemas.openxmlformats.org/drawingml/2006/main">
              <a:ext uri="{FF2B5EF4-FFF2-40B4-BE49-F238E27FC236}">
                <a16:creationId xmlns:a16="http://schemas.microsoft.com/office/drawing/2014/main" id="{8639FDAC-1B21-43F7-9AC8-E0D01DE1A83C}"/>
              </a:ext>
            </a:extLst>
          </p:cNvPr>
          <p:cNvSpPr>
            <a:spLocks xmlns:a="http://schemas.openxmlformats.org/drawingml/2006/main" noGrp="1"/>
          </p:cNvSpPr>
          <p:nvPr/>
        </p:nvSpPr>
        <p:spPr>
          <a:xfrm xmlns:a="http://schemas.openxmlformats.org/drawingml/2006/main">
            <a:off x="11191875"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C7B"/>
                </a:solidFill>
                <a:latin typeface="Arial"/>
                <a:ea typeface="Arial"/>
                <a:cs typeface="Arial"/>
              </a:defRPr>
            </a:defPPr>
          </a:lstStyle>
          <a:p xmlns:a="http://schemas.openxmlformats.org/drawingml/2006/main">
            <a:pPr>
              <a:defRPr sz="1200" b="0">
                <a:solidFill>
                  <a:srgbClr val="516C7B"/>
                </a:solidFill>
                <a:latin typeface="Arial"/>
                <a:ea typeface="Arial"/>
                <a:cs typeface="Arial"/>
              </a:defRPr>
            </a:pPr>
            <a:r>
              <a:rPr sz="1200" b="0">
                <a:solidFill>
                  <a:srgbClr val="516C7B"/>
                </a:solidFill>
                <a:latin typeface="Arial"/>
                <a:ea typeface="Arial"/>
                <a:cs typeface="Arial"/>
              </a:rPr>
              <a:t>30</a:t>
            </a:r>
          </a:p>
        </p:txBody>
      </p:sp>
      <p:sp>
        <p:nvSpPr>
          <p:cNvPr id="5" name="Payments begin at the end of Year 3. Stable seats ">
            <a:extLst xmlns:a="http://schemas.openxmlformats.org/drawingml/2006/main">
              <a:ext uri="{FF2B5EF4-FFF2-40B4-BE49-F238E27FC236}">
                <a16:creationId xmlns:a16="http://schemas.microsoft.com/office/drawing/2014/main" id="{153177F7-9031-49B4-AAAA-8D5CE54242F7}"/>
              </a:ext>
            </a:extLst>
          </p:cNvPr>
          <p:cNvSpPr>
            <a:spLocks xmlns:a="http://schemas.openxmlformats.org/drawingml/2006/main" noGrp="1"/>
          </p:cNvSpPr>
          <p:nvPr/>
        </p:nvSpPr>
        <p:spPr>
          <a:xfrm xmlns:a="http://schemas.openxmlformats.org/drawingml/2006/main">
            <a:off x="609600" y="6191250"/>
            <a:ext cx="1019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16C7B"/>
                </a:solidFill>
                <a:latin typeface="Arial"/>
                <a:ea typeface="Arial"/>
                <a:cs typeface="Arial"/>
              </a:defRPr>
            </a:defPPr>
          </a:lstStyle>
          <a:p xmlns:a="http://schemas.openxmlformats.org/drawingml/2006/main">
            <a:pPr>
              <a:defRPr sz="1350" b="0">
                <a:solidFill>
                  <a:srgbClr val="516C7B"/>
                </a:solidFill>
                <a:latin typeface="Arial"/>
                <a:ea typeface="Arial"/>
                <a:cs typeface="Arial"/>
              </a:defRPr>
            </a:pPr>
            <a:r>
              <a:rPr sz="1350" b="0">
                <a:solidFill>
                  <a:srgbClr val="516C7B"/>
                </a:solidFill>
                <a:latin typeface="Arial"/>
                <a:ea typeface="Arial"/>
                <a:cs typeface="Arial"/>
              </a:rPr>
              <a:t>Payments begin at the end of Year 3. Stable seats and the preceding cash assumptions determine payback.</a:t>
            </a:r>
          </a:p>
        </p:txBody>
      </p:sp>
      <p:sp>
        <p:nvSpPr>
          <p:cNvPr id="6" name="20% ownership and annual investor cash distributio">
            <a:extLst xmlns:a="http://schemas.openxmlformats.org/drawingml/2006/main">
              <a:ext uri="{FF2B5EF4-FFF2-40B4-BE49-F238E27FC236}">
                <a16:creationId xmlns:a16="http://schemas.microsoft.com/office/drawing/2014/main" id="{1DF62A88-6615-403B-ACC5-47CE703B6233}"/>
              </a:ext>
            </a:extLst>
          </p:cNvPr>
          <p:cNvSpPr>
            <a:spLocks xmlns:a="http://schemas.openxmlformats.org/drawingml/2006/main" noGrp="1"/>
          </p:cNvSpPr>
          <p:nvPr/>
        </p:nvSpPr>
        <p:spPr>
          <a:xfrm xmlns:a="http://schemas.openxmlformats.org/drawingml/2006/main">
            <a:off x="609600" y="1571625"/>
            <a:ext cx="10839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173B50"/>
                </a:solidFill>
                <a:latin typeface="Arial"/>
                <a:ea typeface="Arial"/>
                <a:cs typeface="Arial"/>
              </a:defRPr>
            </a:defPPr>
          </a:lstStyle>
          <a:p xmlns:a="http://schemas.openxmlformats.org/drawingml/2006/main">
            <a:pPr>
              <a:defRPr sz="2850" b="1">
                <a:solidFill>
                  <a:srgbClr val="173B50"/>
                </a:solidFill>
                <a:latin typeface="Arial"/>
                <a:ea typeface="Arial"/>
                <a:cs typeface="Arial"/>
              </a:defRPr>
            </a:pPr>
            <a:r>
              <a:rPr sz="2850" b="1">
                <a:solidFill>
                  <a:srgbClr val="173B50"/>
                </a:solidFill>
                <a:latin typeface="Arial"/>
                <a:ea typeface="Arial"/>
                <a:cs typeface="Arial"/>
              </a:rPr>
              <a:t>20% ownership and annual investor cash distributions</a:t>
            </a:r>
          </a:p>
        </p:txBody>
      </p:sp>
      <p:graphicFrame>
        <p:nvGraphicFramePr>
          <p:cNvPr id="7" name="">
            <a:extLst xmlns:a="http://schemas.openxmlformats.org/drawingml/2006/main">
              <a:ext uri="{FF2B5EF4-FFF2-40B4-BE49-F238E27FC236}">
                <a16:creationId xmlns:a16="http://schemas.microsoft.com/office/drawing/2014/main" id="{916D5D6B-8317-4C6D-8085-8DF00A12A47F}"/>
              </a:ext>
            </a:extLst>
          </p:cNvPr>
          <p:cNvGraphicFramePr/>
          <p:nvPr/>
        </p:nvGraphicFramePr>
        <p:xfrm>
          <a:off xmlns:a="http://schemas.openxmlformats.org/drawingml/2006/main" x="609600" y="2676525"/>
          <a:ext xmlns:a="http://schemas.openxmlformats.org/drawingml/2006/main" cx="10972800" cy="2705100"/>
        </p:xfrm>
        <a:graphic xmlns:a="http://schemas.openxmlformats.org/drawingml/2006/main">
          <a:graphicData uri="http://schemas.openxmlformats.org/drawingml/2006/table">
            <a:tbl>
              <a:tblPr/>
              <a:tblGrid>
                <a:gridCol w="2724150"/>
                <a:gridCol w="2809875"/>
                <a:gridCol w="2647950"/>
                <a:gridCol w="2790825"/>
              </a:tblGrid>
              <a:tr h="676275">
                <a:tc>
                  <a:txBody>
                    <a:bodyPr lIns="114300" tIns="114300" rIns="114300" bIns="114300">
                      <a:noAutofit/>
                    </a:bodyPr>
                    <a:lstStyle/>
                    <a:p>
                      <a:r>
                        <a:rPr sz="1875" b="1">
                          <a:solidFill>
                            <a:srgbClr val="173B50"/>
                          </a:solidFill>
                          <a:latin typeface="Arial"/>
                          <a:ea typeface="Arial"/>
                          <a:cs typeface="Arial"/>
                        </a:rPr>
                        <a:t>Paid seats from Year 3</a:t>
                      </a:r>
                    </a:p>
                  </a:txBody>
                  <a:tcPr marL="76200" marR="76200" marT="28575" marB="28575" anchor="ctr">
                    <a:solidFill>
                      <a:srgbClr val="E3EFF3"/>
                    </a:solidFill>
                  </a:tcPr>
                </a:tc>
                <a:tc>
                  <a:txBody>
                    <a:bodyPr lIns="114300" tIns="114300" rIns="114300" bIns="114300">
                      <a:noAutofit/>
                    </a:bodyPr>
                    <a:lstStyle/>
                    <a:p>
                      <a:r>
                        <a:rPr sz="1875" b="1">
                          <a:solidFill>
                            <a:srgbClr val="173B50"/>
                          </a:solidFill>
                          <a:latin typeface="Arial"/>
                          <a:ea typeface="Arial"/>
                          <a:cs typeface="Arial"/>
                        </a:rPr>
                        <a:t>Annual company revenue</a:t>
                      </a:r>
                    </a:p>
                  </a:txBody>
                  <a:tcPr marL="76200" marR="76200" marT="28575" marB="28575" anchor="ctr">
                    <a:solidFill>
                      <a:srgbClr val="E3EFF3"/>
                    </a:solidFill>
                  </a:tcPr>
                </a:tc>
                <a:tc>
                  <a:txBody>
                    <a:bodyPr lIns="114300" tIns="114300" rIns="114300" bIns="114300">
                      <a:noAutofit/>
                    </a:bodyPr>
                    <a:lstStyle/>
                    <a:p>
                      <a:r>
                        <a:rPr sz="1875" b="1">
                          <a:solidFill>
                            <a:srgbClr val="173B50"/>
                          </a:solidFill>
                          <a:latin typeface="Arial"/>
                          <a:ea typeface="Arial"/>
                          <a:cs typeface="Arial"/>
                        </a:rPr>
                        <a:t>Annual investor cash</a:t>
                      </a:r>
                    </a:p>
                  </a:txBody>
                  <a:tcPr marL="76200" marR="76200" marT="28575" marB="28575" anchor="ctr">
                    <a:solidFill>
                      <a:srgbClr val="E3EFF3"/>
                    </a:solidFill>
                  </a:tcPr>
                </a:tc>
                <a:tc>
                  <a:txBody>
                    <a:bodyPr lIns="114300" tIns="114300" rIns="114300" bIns="114300">
                      <a:noAutofit/>
                    </a:bodyPr>
                    <a:lstStyle/>
                    <a:p>
                      <a:r>
                        <a:rPr sz="1875" b="1">
                          <a:solidFill>
                            <a:srgbClr val="173B50"/>
                          </a:solidFill>
                          <a:latin typeface="Arial"/>
                          <a:ea typeface="Arial"/>
                          <a:cs typeface="Arial"/>
                        </a:rPr>
                        <a:t>Full investment returned</a:t>
                      </a:r>
                    </a:p>
                  </a:txBody>
                  <a:tcPr marL="76200" marR="76200" marT="28575" marB="28575" anchor="ctr">
                    <a:solidFill>
                      <a:srgbClr val="E3EFF3"/>
                    </a:solidFill>
                  </a:tcPr>
                </a:tc>
              </a:tr>
              <a:tr h="676275">
                <a:tc>
                  <a:txBody>
                    <a:bodyPr lIns="114300" tIns="114300" rIns="114300" bIns="114300">
                      <a:noAutofit/>
                    </a:bodyPr>
                    <a:lstStyle/>
                    <a:p>
                      <a:r>
                        <a:rPr sz="1875" b="0">
                          <a:solidFill>
                            <a:srgbClr val="173B50"/>
                          </a:solidFill>
                          <a:latin typeface="Arial"/>
                          <a:ea typeface="Arial"/>
                          <a:cs typeface="Arial"/>
                        </a:rPr>
                        <a:t>1,500</a:t>
                      </a:r>
                    </a:p>
                  </a:txBody>
                  <a:tcPr marL="76200" marR="76200" marT="28575" marB="28575" anchor="ctr">
                    <a:solidFill>
                      <a:srgbClr val="FFFFFF"/>
                    </a:solidFill>
                  </a:tcPr>
                </a:tc>
                <a:tc>
                  <a:txBody>
                    <a:bodyPr lIns="114300" tIns="114300" rIns="114300" bIns="114300">
                      <a:noAutofit/>
                    </a:bodyPr>
                    <a:lstStyle/>
                    <a:p>
                      <a:r>
                        <a:rPr sz="1875" b="0">
                          <a:solidFill>
                            <a:srgbClr val="173B50"/>
                          </a:solidFill>
                          <a:latin typeface="Arial"/>
                          <a:ea typeface="Arial"/>
                          <a:cs typeface="Arial"/>
                        </a:rPr>
                        <a:t>NIS 6.30M</a:t>
                      </a:r>
                    </a:p>
                  </a:txBody>
                  <a:tcPr marL="76200" marR="76200" marT="28575" marB="28575" anchor="ctr">
                    <a:solidFill>
                      <a:srgbClr val="FFFFFF"/>
                    </a:solidFill>
                  </a:tcPr>
                </a:tc>
                <a:tc>
                  <a:txBody>
                    <a:bodyPr lIns="114300" tIns="114300" rIns="114300" bIns="114300">
                      <a:noAutofit/>
                    </a:bodyPr>
                    <a:lstStyle/>
                    <a:p>
                      <a:r>
                        <a:rPr sz="1875" b="0">
                          <a:solidFill>
                            <a:srgbClr val="173B50"/>
                          </a:solidFill>
                          <a:latin typeface="Arial"/>
                          <a:ea typeface="Arial"/>
                          <a:cs typeface="Arial"/>
                        </a:rPr>
                        <a:t>NIS 0.377M</a:t>
                      </a:r>
                    </a:p>
                  </a:txBody>
                  <a:tcPr marL="76200" marR="76200" marT="28575" marB="28575" anchor="ctr">
                    <a:solidFill>
                      <a:srgbClr val="FFFFFF"/>
                    </a:solidFill>
                  </a:tcPr>
                </a:tc>
                <a:tc>
                  <a:txBody>
                    <a:bodyPr lIns="114300" tIns="114300" rIns="114300" bIns="114300">
                      <a:noAutofit/>
                    </a:bodyPr>
                    <a:lstStyle/>
                    <a:p>
                      <a:r>
                        <a:rPr sz="1875" b="0">
                          <a:solidFill>
                            <a:srgbClr val="173B50"/>
                          </a:solidFill>
                          <a:latin typeface="Arial"/>
                          <a:ea typeface="Arial"/>
                          <a:cs typeface="Arial"/>
                        </a:rPr>
                        <a:t>End of Year 18</a:t>
                      </a:r>
                    </a:p>
                  </a:txBody>
                  <a:tcPr marL="76200" marR="76200" marT="28575" marB="28575" anchor="ctr">
                    <a:solidFill>
                      <a:srgbClr val="FFFFFF"/>
                    </a:solidFill>
                  </a:tcPr>
                </a:tc>
              </a:tr>
              <a:tr h="676275">
                <a:tc>
                  <a:txBody>
                    <a:bodyPr lIns="114300" tIns="114300" rIns="114300" bIns="114300">
                      <a:noAutofit/>
                    </a:bodyPr>
                    <a:lstStyle/>
                    <a:p>
                      <a:r>
                        <a:rPr sz="1875" b="0">
                          <a:solidFill>
                            <a:srgbClr val="173B50"/>
                          </a:solidFill>
                          <a:latin typeface="Arial"/>
                          <a:ea typeface="Arial"/>
                          <a:cs typeface="Arial"/>
                        </a:rPr>
                        <a:t>3,000</a:t>
                      </a:r>
                    </a:p>
                  </a:txBody>
                  <a:tcPr marL="76200" marR="76200" marT="28575" marB="28575" anchor="ctr">
                    <a:solidFill>
                      <a:srgbClr val="F2F6F7"/>
                    </a:solidFill>
                  </a:tcPr>
                </a:tc>
                <a:tc>
                  <a:txBody>
                    <a:bodyPr lIns="114300" tIns="114300" rIns="114300" bIns="114300">
                      <a:noAutofit/>
                    </a:bodyPr>
                    <a:lstStyle/>
                    <a:p>
                      <a:r>
                        <a:rPr sz="1875" b="0">
                          <a:solidFill>
                            <a:srgbClr val="173B50"/>
                          </a:solidFill>
                          <a:latin typeface="Arial"/>
                          <a:ea typeface="Arial"/>
                          <a:cs typeface="Arial"/>
                        </a:rPr>
                        <a:t>NIS 12.60M</a:t>
                      </a:r>
                    </a:p>
                  </a:txBody>
                  <a:tcPr marL="76200" marR="76200" marT="28575" marB="28575" anchor="ctr">
                    <a:solidFill>
                      <a:srgbClr val="F2F6F7"/>
                    </a:solidFill>
                  </a:tcPr>
                </a:tc>
                <a:tc>
                  <a:txBody>
                    <a:bodyPr lIns="114300" tIns="114300" rIns="114300" bIns="114300">
                      <a:noAutofit/>
                    </a:bodyPr>
                    <a:lstStyle/>
                    <a:p>
                      <a:r>
                        <a:rPr sz="1875" b="0">
                          <a:solidFill>
                            <a:srgbClr val="173B50"/>
                          </a:solidFill>
                          <a:latin typeface="Arial"/>
                          <a:ea typeface="Arial"/>
                          <a:cs typeface="Arial"/>
                        </a:rPr>
                        <a:t>NIS 1.234M</a:t>
                      </a:r>
                    </a:p>
                  </a:txBody>
                  <a:tcPr marL="76200" marR="76200" marT="28575" marB="28575" anchor="ctr">
                    <a:solidFill>
                      <a:srgbClr val="F2F6F7"/>
                    </a:solidFill>
                  </a:tcPr>
                </a:tc>
                <a:tc>
                  <a:txBody>
                    <a:bodyPr lIns="114300" tIns="114300" rIns="114300" bIns="114300">
                      <a:noAutofit/>
                    </a:bodyPr>
                    <a:lstStyle/>
                    <a:p>
                      <a:r>
                        <a:rPr sz="1875" b="0">
                          <a:solidFill>
                            <a:srgbClr val="173B50"/>
                          </a:solidFill>
                          <a:latin typeface="Arial"/>
                          <a:ea typeface="Arial"/>
                          <a:cs typeface="Arial"/>
                        </a:rPr>
                        <a:t>End of Year 7</a:t>
                      </a:r>
                    </a:p>
                  </a:txBody>
                  <a:tcPr marL="76200" marR="76200" marT="28575" marB="28575" anchor="ctr">
                    <a:solidFill>
                      <a:srgbClr val="F2F6F7"/>
                    </a:solidFill>
                  </a:tcPr>
                </a:tc>
              </a:tr>
              <a:tr h="676275">
                <a:tc>
                  <a:txBody>
                    <a:bodyPr lIns="114300" tIns="114300" rIns="114300" bIns="114300">
                      <a:noAutofit/>
                    </a:bodyPr>
                    <a:lstStyle/>
                    <a:p>
                      <a:r>
                        <a:rPr sz="1875" b="0">
                          <a:solidFill>
                            <a:srgbClr val="173B50"/>
                          </a:solidFill>
                          <a:latin typeface="Arial"/>
                          <a:ea typeface="Arial"/>
                          <a:cs typeface="Arial"/>
                        </a:rPr>
                        <a:t>5,000</a:t>
                      </a:r>
                    </a:p>
                  </a:txBody>
                  <a:tcPr marL="76200" marR="76200" marT="28575" marB="28575" anchor="ctr">
                    <a:solidFill>
                      <a:srgbClr val="FFFFFF"/>
                    </a:solidFill>
                  </a:tcPr>
                </a:tc>
                <a:tc>
                  <a:txBody>
                    <a:bodyPr lIns="114300" tIns="114300" rIns="114300" bIns="114300">
                      <a:noAutofit/>
                    </a:bodyPr>
                    <a:lstStyle/>
                    <a:p>
                      <a:r>
                        <a:rPr sz="1875" b="0">
                          <a:solidFill>
                            <a:srgbClr val="173B50"/>
                          </a:solidFill>
                          <a:latin typeface="Arial"/>
                          <a:ea typeface="Arial"/>
                          <a:cs typeface="Arial"/>
                        </a:rPr>
                        <a:t>NIS 21.00M</a:t>
                      </a:r>
                    </a:p>
                  </a:txBody>
                  <a:tcPr marL="76200" marR="76200" marT="28575" marB="28575" anchor="ctr">
                    <a:solidFill>
                      <a:srgbClr val="FFFFFF"/>
                    </a:solidFill>
                  </a:tcPr>
                </a:tc>
                <a:tc>
                  <a:txBody>
                    <a:bodyPr lIns="114300" tIns="114300" rIns="114300" bIns="114300">
                      <a:noAutofit/>
                    </a:bodyPr>
                    <a:lstStyle/>
                    <a:p>
                      <a:r>
                        <a:rPr sz="1875" b="0">
                          <a:solidFill>
                            <a:srgbClr val="173B50"/>
                          </a:solidFill>
                          <a:latin typeface="Arial"/>
                          <a:ea typeface="Arial"/>
                          <a:cs typeface="Arial"/>
                        </a:rPr>
                        <a:t>NIS 2.376M</a:t>
                      </a:r>
                    </a:p>
                  </a:txBody>
                  <a:tcPr marL="76200" marR="76200" marT="28575" marB="28575" anchor="ctr">
                    <a:solidFill>
                      <a:srgbClr val="FFFFFF"/>
                    </a:solidFill>
                  </a:tcPr>
                </a:tc>
                <a:tc>
                  <a:txBody>
                    <a:bodyPr lIns="114300" tIns="114300" rIns="114300" bIns="114300">
                      <a:noAutofit/>
                    </a:bodyPr>
                    <a:lstStyle/>
                    <a:p>
                      <a:r>
                        <a:rPr sz="1875" b="0">
                          <a:solidFill>
                            <a:srgbClr val="173B50"/>
                          </a:solidFill>
                          <a:latin typeface="Arial"/>
                          <a:ea typeface="Arial"/>
                          <a:cs typeface="Arial"/>
                        </a:rPr>
                        <a:t>End of Year 5</a:t>
                      </a:r>
                    </a:p>
                  </a:txBody>
                  <a:tcPr marL="76200" marR="76200" marT="28575" marB="28575" anchor="ctr">
                    <a:solidFill>
                      <a:srgbClr val="FFFFFF"/>
                    </a:solidFill>
                  </a:tcPr>
                </a:tc>
              </a:tr>
            </a:tbl>
          </a:graphicData>
        </a:graphic>
      </p:graphicFrame>
      <p:sp>
        <p:nvSpPr>
          <p:cNvPr id="8" name="For one-seat customers, 3,000 paid seats require 3">
            <a:extLst xmlns:a="http://schemas.openxmlformats.org/drawingml/2006/main">
              <a:ext uri="{FF2B5EF4-FFF2-40B4-BE49-F238E27FC236}">
                <a16:creationId xmlns:a16="http://schemas.microsoft.com/office/drawing/2014/main" id="{235AEA7E-E1A1-41E9-8A8F-524FEC537F07}"/>
              </a:ext>
            </a:extLst>
          </p:cNvPr>
          <p:cNvSpPr>
            <a:spLocks xmlns:a="http://schemas.openxmlformats.org/drawingml/2006/main" noGrp="1"/>
          </p:cNvSpPr>
          <p:nvPr/>
        </p:nvSpPr>
        <p:spPr>
          <a:xfrm xmlns:a="http://schemas.openxmlformats.org/drawingml/2006/main">
            <a:off x="609600" y="56388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73B50"/>
                </a:solidFill>
                <a:latin typeface="Arial"/>
                <a:ea typeface="Arial"/>
                <a:cs typeface="Arial"/>
              </a:defRPr>
            </a:defPPr>
          </a:lstStyle>
          <a:p xmlns:a="http://schemas.openxmlformats.org/drawingml/2006/main">
            <a:pPr>
              <a:defRPr sz="2100" b="1">
                <a:solidFill>
                  <a:srgbClr val="173B50"/>
                </a:solidFill>
                <a:latin typeface="Arial"/>
                <a:ea typeface="Arial"/>
                <a:cs typeface="Arial"/>
              </a:defRPr>
            </a:pPr>
            <a:r>
              <a:rPr sz="2100" b="1">
                <a:solidFill>
                  <a:srgbClr val="173B50"/>
                </a:solidFill>
                <a:latin typeface="Arial"/>
                <a:ea typeface="Arial"/>
                <a:cs typeface="Arial"/>
              </a:rPr>
              <a:t>For one-seat customers, 3,000 paid seats require 3,000 paying companies</a:t>
            </a:r>
          </a:p>
        </p:txBody>
      </p:sp>
    </p:spTree>
    <p:extLst>
      <p:ext uri="{BB962C8B-B14F-4D97-AF65-F5344CB8AC3E}">
        <p14:creationId xmlns:p14="http://schemas.microsoft.com/office/powerpoint/2010/main" val="1610776372"/>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21160671-B9D6-440C-B614-A230C98B4CEB}"/>
              </a:ext>
            </a:extLst>
          </p:cNvPr>
          <p:cNvPicPr>
            <a:picLocks xmlns:a="http://schemas.openxmlformats.org/drawingml/2006/main" noChangeAspect="1"/>
          </p:cNvPicPr>
          <p:nvPr/>
        </p:nvPicPr>
        <p:blipFill>
          <a:blip xmlns:r="http://schemas.openxmlformats.org/officeDocument/2006/relationships" xmlns:a="http://schemas.openxmlformats.org/drawingml/2006/main" r:embed="Rd622b6d5972744d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Light background wash">
            <a:extLst xmlns:a="http://schemas.openxmlformats.org/drawingml/2006/main">
              <a:ext uri="{FF2B5EF4-FFF2-40B4-BE49-F238E27FC236}">
                <a16:creationId xmlns:a16="http://schemas.microsoft.com/office/drawing/2014/main" id="{35CC54E8-D5EA-47EB-81B9-7387C38F17C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90000"/>
            </a:srgbClr>
          </a:solidFill>
          <a:ln xmlns:a="http://schemas.openxmlformats.org/drawingml/2006/main" w="0">
            <a:noFill/>
          </a:ln>
        </p:spPr>
      </p:sp>
      <p:sp>
        <p:nvSpPr>
          <p:cNvPr id="3" name="Investor payback through a company sale">
            <a:extLst xmlns:a="http://schemas.openxmlformats.org/drawingml/2006/main">
              <a:ext uri="{FF2B5EF4-FFF2-40B4-BE49-F238E27FC236}">
                <a16:creationId xmlns:a16="http://schemas.microsoft.com/office/drawing/2014/main" id="{5421B193-ECDA-49A9-9E40-3C02A368E095}"/>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73B50"/>
                </a:solidFill>
                <a:latin typeface="Arial"/>
                <a:ea typeface="Arial"/>
                <a:cs typeface="Arial"/>
              </a:defRPr>
            </a:defPPr>
          </a:lstStyle>
          <a:p xmlns:a="http://schemas.openxmlformats.org/drawingml/2006/main">
            <a:pPr>
              <a:defRPr sz="3450" b="1">
                <a:solidFill>
                  <a:srgbClr val="173B50"/>
                </a:solidFill>
                <a:latin typeface="Arial"/>
                <a:ea typeface="Arial"/>
                <a:cs typeface="Arial"/>
              </a:defRPr>
            </a:pPr>
            <a:r>
              <a:rPr sz="3450" b="1">
                <a:solidFill>
                  <a:srgbClr val="173B50"/>
                </a:solidFill>
                <a:latin typeface="Arial"/>
                <a:ea typeface="Arial"/>
                <a:cs typeface="Arial"/>
              </a:rPr>
              <a:t>Investor payback through a company sale</a:t>
            </a:r>
          </a:p>
        </p:txBody>
      </p:sp>
      <p:sp>
        <p:nvSpPr>
          <p:cNvPr id="4" name="31">
            <a:extLst xmlns:a="http://schemas.openxmlformats.org/drawingml/2006/main">
              <a:ext uri="{FF2B5EF4-FFF2-40B4-BE49-F238E27FC236}">
                <a16:creationId xmlns:a16="http://schemas.microsoft.com/office/drawing/2014/main" id="{61EE6EB2-A540-4A17-AE88-AEE7552AE2AA}"/>
              </a:ext>
            </a:extLst>
          </p:cNvPr>
          <p:cNvSpPr>
            <a:spLocks xmlns:a="http://schemas.openxmlformats.org/drawingml/2006/main" noGrp="1"/>
          </p:cNvSpPr>
          <p:nvPr/>
        </p:nvSpPr>
        <p:spPr>
          <a:xfrm xmlns:a="http://schemas.openxmlformats.org/drawingml/2006/main">
            <a:off x="11191875"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C7B"/>
                </a:solidFill>
                <a:latin typeface="Arial"/>
                <a:ea typeface="Arial"/>
                <a:cs typeface="Arial"/>
              </a:defRPr>
            </a:defPPr>
          </a:lstStyle>
          <a:p xmlns:a="http://schemas.openxmlformats.org/drawingml/2006/main">
            <a:pPr>
              <a:defRPr sz="1200" b="0">
                <a:solidFill>
                  <a:srgbClr val="516C7B"/>
                </a:solidFill>
                <a:latin typeface="Arial"/>
                <a:ea typeface="Arial"/>
                <a:cs typeface="Arial"/>
              </a:defRPr>
            </a:pPr>
            <a:r>
              <a:rPr sz="1200" b="0">
                <a:solidFill>
                  <a:srgbClr val="516C7B"/>
                </a:solidFill>
                <a:latin typeface="Arial"/>
                <a:ea typeface="Arial"/>
                <a:cs typeface="Arial"/>
              </a:rPr>
              <a:t>31</a:t>
            </a:r>
          </a:p>
        </p:txBody>
      </p:sp>
      <p:sp>
        <p:nvSpPr>
          <p:cNvPr id="5" name="Hypothetical sale dates and values. Separate exit-">
            <a:extLst xmlns:a="http://schemas.openxmlformats.org/drawingml/2006/main">
              <a:ext uri="{FF2B5EF4-FFF2-40B4-BE49-F238E27FC236}">
                <a16:creationId xmlns:a16="http://schemas.microsoft.com/office/drawing/2014/main" id="{D425355F-2F0F-42AF-AC23-526443445C59}"/>
              </a:ext>
            </a:extLst>
          </p:cNvPr>
          <p:cNvSpPr>
            <a:spLocks xmlns:a="http://schemas.openxmlformats.org/drawingml/2006/main" noGrp="1"/>
          </p:cNvSpPr>
          <p:nvPr/>
        </p:nvSpPr>
        <p:spPr>
          <a:xfrm xmlns:a="http://schemas.openxmlformats.org/drawingml/2006/main">
            <a:off x="609600" y="6191250"/>
            <a:ext cx="1019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16C7B"/>
                </a:solidFill>
                <a:latin typeface="Arial"/>
                <a:ea typeface="Arial"/>
                <a:cs typeface="Arial"/>
              </a:defRPr>
            </a:defPPr>
          </a:lstStyle>
          <a:p xmlns:a="http://schemas.openxmlformats.org/drawingml/2006/main">
            <a:pPr>
              <a:defRPr sz="1350" b="0">
                <a:solidFill>
                  <a:srgbClr val="516C7B"/>
                </a:solidFill>
                <a:latin typeface="Arial"/>
                <a:ea typeface="Arial"/>
                <a:cs typeface="Arial"/>
              </a:defRPr>
            </a:pPr>
            <a:r>
              <a:rPr sz="1350" b="0">
                <a:solidFill>
                  <a:srgbClr val="516C7B"/>
                </a:solidFill>
                <a:latin typeface="Arial"/>
                <a:ea typeface="Arial"/>
                <a:cs typeface="Arial"/>
              </a:rPr>
              <a:t>Hypothetical sale dates and values. Separate exit-only cases, before dilution, preferences, taxes and fees.</a:t>
            </a:r>
          </a:p>
        </p:txBody>
      </p:sp>
      <p:sp>
        <p:nvSpPr>
          <p:cNvPr id="6" name="At 20% ownership, a NIS 30M equity sale returns NI">
            <a:extLst xmlns:a="http://schemas.openxmlformats.org/drawingml/2006/main">
              <a:ext uri="{FF2B5EF4-FFF2-40B4-BE49-F238E27FC236}">
                <a16:creationId xmlns:a16="http://schemas.microsoft.com/office/drawing/2014/main" id="{0F294BCC-0EEC-4472-94D5-60DF75CC1FB9}"/>
              </a:ext>
            </a:extLst>
          </p:cNvPr>
          <p:cNvSpPr>
            <a:spLocks xmlns:a="http://schemas.openxmlformats.org/drawingml/2006/main" noGrp="1"/>
          </p:cNvSpPr>
          <p:nvPr/>
        </p:nvSpPr>
        <p:spPr>
          <a:xfrm xmlns:a="http://schemas.openxmlformats.org/drawingml/2006/main">
            <a:off x="609600" y="1571625"/>
            <a:ext cx="108394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1">
                <a:solidFill>
                  <a:srgbClr val="173B50"/>
                </a:solidFill>
                <a:latin typeface="Arial"/>
                <a:ea typeface="Arial"/>
                <a:cs typeface="Arial"/>
              </a:defRPr>
            </a:defPPr>
          </a:lstStyle>
          <a:p xmlns:a="http://schemas.openxmlformats.org/drawingml/2006/main">
            <a:pPr>
              <a:defRPr sz="2775" b="1">
                <a:solidFill>
                  <a:srgbClr val="173B50"/>
                </a:solidFill>
                <a:latin typeface="Arial"/>
                <a:ea typeface="Arial"/>
                <a:cs typeface="Arial"/>
              </a:defRPr>
            </a:pPr>
            <a:r>
              <a:rPr sz="2775" b="1">
                <a:solidFill>
                  <a:srgbClr val="173B50"/>
                </a:solidFill>
                <a:latin typeface="Arial"/>
                <a:ea typeface="Arial"/>
                <a:cs typeface="Arial"/>
              </a:rPr>
              <a:t>At 20% ownership, a NIS 30M equity sale returns NIS 6M</a:t>
            </a:r>
          </a:p>
        </p:txBody>
      </p:sp>
      <p:graphicFrame>
        <p:nvGraphicFramePr>
          <p:cNvPr id="7" name="">
            <a:extLst xmlns:a="http://schemas.openxmlformats.org/drawingml/2006/main">
              <a:ext uri="{FF2B5EF4-FFF2-40B4-BE49-F238E27FC236}">
                <a16:creationId xmlns:a16="http://schemas.microsoft.com/office/drawing/2014/main" id="{165A4EE1-79D6-4C1A-A614-F55F60B410D4}"/>
              </a:ext>
            </a:extLst>
          </p:cNvPr>
          <p:cNvGraphicFramePr/>
          <p:nvPr/>
        </p:nvGraphicFramePr>
        <p:xfrm>
          <a:off xmlns:a="http://schemas.openxmlformats.org/drawingml/2006/main" x="609600" y="2762250"/>
          <a:ext xmlns:a="http://schemas.openxmlformats.org/drawingml/2006/main" cx="10972800" cy="2552700"/>
        </p:xfrm>
        <a:graphic xmlns:a="http://schemas.openxmlformats.org/drawingml/2006/main">
          <a:graphicData uri="http://schemas.openxmlformats.org/drawingml/2006/table">
            <a:tbl>
              <a:tblPr/>
              <a:tblGrid>
                <a:gridCol w="2724150"/>
                <a:gridCol w="3000375"/>
                <a:gridCol w="2943225"/>
                <a:gridCol w="2305050"/>
              </a:tblGrid>
              <a:tr h="638175">
                <a:tc>
                  <a:txBody>
                    <a:bodyPr lIns="114300" tIns="114300" rIns="114300" bIns="114300">
                      <a:noAutofit/>
                    </a:bodyPr>
                    <a:lstStyle/>
                    <a:p>
                      <a:r>
                        <a:rPr sz="2025" b="1">
                          <a:solidFill>
                            <a:srgbClr val="173B50"/>
                          </a:solidFill>
                          <a:latin typeface="Arial"/>
                          <a:ea typeface="Arial"/>
                          <a:cs typeface="Arial"/>
                        </a:rPr>
                        <a:t>Hypothetical sale</a:t>
                      </a:r>
                    </a:p>
                  </a:txBody>
                  <a:tcPr marL="76200" marR="76200" marT="28575" marB="28575" anchor="ctr">
                    <a:solidFill>
                      <a:srgbClr val="E3EFF3"/>
                    </a:solidFill>
                  </a:tcPr>
                </a:tc>
                <a:tc>
                  <a:txBody>
                    <a:bodyPr lIns="114300" tIns="114300" rIns="114300" bIns="114300">
                      <a:noAutofit/>
                    </a:bodyPr>
                    <a:lstStyle/>
                    <a:p>
                      <a:r>
                        <a:rPr sz="2025" b="1">
                          <a:solidFill>
                            <a:srgbClr val="173B50"/>
                          </a:solidFill>
                          <a:latin typeface="Arial"/>
                          <a:ea typeface="Arial"/>
                          <a:cs typeface="Arial"/>
                        </a:rPr>
                        <a:t>Exit equity value</a:t>
                      </a:r>
                    </a:p>
                  </a:txBody>
                  <a:tcPr marL="76200" marR="76200" marT="28575" marB="28575" anchor="ctr">
                    <a:solidFill>
                      <a:srgbClr val="E3EFF3"/>
                    </a:solidFill>
                  </a:tcPr>
                </a:tc>
                <a:tc>
                  <a:txBody>
                    <a:bodyPr lIns="114300" tIns="114300" rIns="114300" bIns="114300">
                      <a:noAutofit/>
                    </a:bodyPr>
                    <a:lstStyle/>
                    <a:p>
                      <a:r>
                        <a:rPr sz="2025" b="1">
                          <a:solidFill>
                            <a:srgbClr val="173B50"/>
                          </a:solidFill>
                          <a:latin typeface="Arial"/>
                          <a:ea typeface="Arial"/>
                          <a:cs typeface="Arial"/>
                        </a:rPr>
                        <a:t>Investor receives</a:t>
                      </a:r>
                    </a:p>
                  </a:txBody>
                  <a:tcPr marL="76200" marR="76200" marT="28575" marB="28575" anchor="ctr">
                    <a:solidFill>
                      <a:srgbClr val="E3EFF3"/>
                    </a:solidFill>
                  </a:tcPr>
                </a:tc>
                <a:tc>
                  <a:txBody>
                    <a:bodyPr lIns="114300" tIns="114300" rIns="114300" bIns="114300">
                      <a:noAutofit/>
                    </a:bodyPr>
                    <a:lstStyle/>
                    <a:p>
                      <a:r>
                        <a:rPr sz="2025" b="1">
                          <a:solidFill>
                            <a:srgbClr val="173B50"/>
                          </a:solidFill>
                          <a:latin typeface="Arial"/>
                          <a:ea typeface="Arial"/>
                          <a:cs typeface="Arial"/>
                        </a:rPr>
                        <a:t>Gross ROI</a:t>
                      </a:r>
                    </a:p>
                  </a:txBody>
                  <a:tcPr marL="76200" marR="76200" marT="28575" marB="28575" anchor="ctr">
                    <a:solidFill>
                      <a:srgbClr val="E3EFF3"/>
                    </a:solidFill>
                  </a:tcPr>
                </a:tc>
              </a:tr>
              <a:tr h="638175">
                <a:tc>
                  <a:txBody>
                    <a:bodyPr lIns="114300" tIns="114300" rIns="114300" bIns="114300">
                      <a:noAutofit/>
                    </a:bodyPr>
                    <a:lstStyle/>
                    <a:p>
                      <a:r>
                        <a:rPr sz="2025" b="0">
                          <a:solidFill>
                            <a:srgbClr val="173B50"/>
                          </a:solidFill>
                          <a:latin typeface="Arial"/>
                          <a:ea typeface="Arial"/>
                          <a:cs typeface="Arial"/>
                        </a:rPr>
                        <a:t>Year 3</a:t>
                      </a:r>
                    </a:p>
                  </a:txBody>
                  <a:tcPr marL="76200" marR="76200" marT="28575" marB="28575" anchor="ctr">
                    <a:solidFill>
                      <a:srgbClr val="FFFFFF"/>
                    </a:solidFill>
                  </a:tcPr>
                </a:tc>
                <a:tc>
                  <a:txBody>
                    <a:bodyPr lIns="114300" tIns="114300" rIns="114300" bIns="114300">
                      <a:noAutofit/>
                    </a:bodyPr>
                    <a:lstStyle/>
                    <a:p>
                      <a:r>
                        <a:rPr sz="2025" b="0">
                          <a:solidFill>
                            <a:srgbClr val="173B50"/>
                          </a:solidFill>
                          <a:latin typeface="Arial"/>
                          <a:ea typeface="Arial"/>
                          <a:cs typeface="Arial"/>
                        </a:rPr>
                        <a:t>NIS 30M</a:t>
                      </a:r>
                    </a:p>
                  </a:txBody>
                  <a:tcPr marL="76200" marR="76200" marT="28575" marB="28575" anchor="ctr">
                    <a:solidFill>
                      <a:srgbClr val="FFFFFF"/>
                    </a:solidFill>
                  </a:tcPr>
                </a:tc>
                <a:tc>
                  <a:txBody>
                    <a:bodyPr lIns="114300" tIns="114300" rIns="114300" bIns="114300">
                      <a:noAutofit/>
                    </a:bodyPr>
                    <a:lstStyle/>
                    <a:p>
                      <a:r>
                        <a:rPr sz="2025" b="0">
                          <a:solidFill>
                            <a:srgbClr val="173B50"/>
                          </a:solidFill>
                          <a:latin typeface="Arial"/>
                          <a:ea typeface="Arial"/>
                          <a:cs typeface="Arial"/>
                        </a:rPr>
                        <a:t>NIS 6M</a:t>
                      </a:r>
                    </a:p>
                  </a:txBody>
                  <a:tcPr marL="76200" marR="76200" marT="28575" marB="28575" anchor="ctr">
                    <a:solidFill>
                      <a:srgbClr val="FFFFFF"/>
                    </a:solidFill>
                  </a:tcPr>
                </a:tc>
                <a:tc>
                  <a:txBody>
                    <a:bodyPr lIns="114300" tIns="114300" rIns="114300" bIns="114300">
                      <a:noAutofit/>
                    </a:bodyPr>
                    <a:lstStyle/>
                    <a:p>
                      <a:r>
                        <a:rPr sz="2025" b="0">
                          <a:solidFill>
                            <a:srgbClr val="173B50"/>
                          </a:solidFill>
                          <a:latin typeface="Arial"/>
                          <a:ea typeface="Arial"/>
                          <a:cs typeface="Arial"/>
                        </a:rPr>
                        <a:t>0%</a:t>
                      </a:r>
                    </a:p>
                  </a:txBody>
                  <a:tcPr marL="76200" marR="76200" marT="28575" marB="28575" anchor="ctr">
                    <a:solidFill>
                      <a:srgbClr val="FFFFFF"/>
                    </a:solidFill>
                  </a:tcPr>
                </a:tc>
              </a:tr>
              <a:tr h="638175">
                <a:tc>
                  <a:txBody>
                    <a:bodyPr lIns="114300" tIns="114300" rIns="114300" bIns="114300">
                      <a:noAutofit/>
                    </a:bodyPr>
                    <a:lstStyle/>
                    <a:p>
                      <a:r>
                        <a:rPr sz="2025" b="0">
                          <a:solidFill>
                            <a:srgbClr val="173B50"/>
                          </a:solidFill>
                          <a:latin typeface="Arial"/>
                          <a:ea typeface="Arial"/>
                          <a:cs typeface="Arial"/>
                        </a:rPr>
                        <a:t>Year 5</a:t>
                      </a:r>
                    </a:p>
                  </a:txBody>
                  <a:tcPr marL="76200" marR="76200" marT="28575" marB="28575" anchor="ctr">
                    <a:solidFill>
                      <a:srgbClr val="F2F6F7"/>
                    </a:solidFill>
                  </a:tcPr>
                </a:tc>
                <a:tc>
                  <a:txBody>
                    <a:bodyPr lIns="114300" tIns="114300" rIns="114300" bIns="114300">
                      <a:noAutofit/>
                    </a:bodyPr>
                    <a:lstStyle/>
                    <a:p>
                      <a:r>
                        <a:rPr sz="2025" b="0">
                          <a:solidFill>
                            <a:srgbClr val="173B50"/>
                          </a:solidFill>
                          <a:latin typeface="Arial"/>
                          <a:ea typeface="Arial"/>
                          <a:cs typeface="Arial"/>
                        </a:rPr>
                        <a:t>NIS 60M</a:t>
                      </a:r>
                    </a:p>
                  </a:txBody>
                  <a:tcPr marL="76200" marR="76200" marT="28575" marB="28575" anchor="ctr">
                    <a:solidFill>
                      <a:srgbClr val="F2F6F7"/>
                    </a:solidFill>
                  </a:tcPr>
                </a:tc>
                <a:tc>
                  <a:txBody>
                    <a:bodyPr lIns="114300" tIns="114300" rIns="114300" bIns="114300">
                      <a:noAutofit/>
                    </a:bodyPr>
                    <a:lstStyle/>
                    <a:p>
                      <a:r>
                        <a:rPr sz="2025" b="0">
                          <a:solidFill>
                            <a:srgbClr val="173B50"/>
                          </a:solidFill>
                          <a:latin typeface="Arial"/>
                          <a:ea typeface="Arial"/>
                          <a:cs typeface="Arial"/>
                        </a:rPr>
                        <a:t>NIS 12M</a:t>
                      </a:r>
                    </a:p>
                  </a:txBody>
                  <a:tcPr marL="76200" marR="76200" marT="28575" marB="28575" anchor="ctr">
                    <a:solidFill>
                      <a:srgbClr val="F2F6F7"/>
                    </a:solidFill>
                  </a:tcPr>
                </a:tc>
                <a:tc>
                  <a:txBody>
                    <a:bodyPr lIns="114300" tIns="114300" rIns="114300" bIns="114300">
                      <a:noAutofit/>
                    </a:bodyPr>
                    <a:lstStyle/>
                    <a:p>
                      <a:r>
                        <a:rPr sz="2025" b="0">
                          <a:solidFill>
                            <a:srgbClr val="173B50"/>
                          </a:solidFill>
                          <a:latin typeface="Arial"/>
                          <a:ea typeface="Arial"/>
                          <a:cs typeface="Arial"/>
                        </a:rPr>
                        <a:t>100%</a:t>
                      </a:r>
                    </a:p>
                  </a:txBody>
                  <a:tcPr marL="76200" marR="76200" marT="28575" marB="28575" anchor="ctr">
                    <a:solidFill>
                      <a:srgbClr val="F2F6F7"/>
                    </a:solidFill>
                  </a:tcPr>
                </a:tc>
              </a:tr>
              <a:tr h="638175">
                <a:tc>
                  <a:txBody>
                    <a:bodyPr lIns="114300" tIns="114300" rIns="114300" bIns="114300">
                      <a:noAutofit/>
                    </a:bodyPr>
                    <a:lstStyle/>
                    <a:p>
                      <a:r>
                        <a:rPr sz="2025" b="0">
                          <a:solidFill>
                            <a:srgbClr val="173B50"/>
                          </a:solidFill>
                          <a:latin typeface="Arial"/>
                          <a:ea typeface="Arial"/>
                          <a:cs typeface="Arial"/>
                        </a:rPr>
                        <a:t>Year 7</a:t>
                      </a:r>
                    </a:p>
                  </a:txBody>
                  <a:tcPr marL="76200" marR="76200" marT="28575" marB="28575" anchor="ctr">
                    <a:solidFill>
                      <a:srgbClr val="FFFFFF"/>
                    </a:solidFill>
                  </a:tcPr>
                </a:tc>
                <a:tc>
                  <a:txBody>
                    <a:bodyPr lIns="114300" tIns="114300" rIns="114300" bIns="114300">
                      <a:noAutofit/>
                    </a:bodyPr>
                    <a:lstStyle/>
                    <a:p>
                      <a:r>
                        <a:rPr sz="2025" b="0">
                          <a:solidFill>
                            <a:srgbClr val="173B50"/>
                          </a:solidFill>
                          <a:latin typeface="Arial"/>
                          <a:ea typeface="Arial"/>
                          <a:cs typeface="Arial"/>
                        </a:rPr>
                        <a:t>NIS 90M</a:t>
                      </a:r>
                    </a:p>
                  </a:txBody>
                  <a:tcPr marL="76200" marR="76200" marT="28575" marB="28575" anchor="ctr">
                    <a:solidFill>
                      <a:srgbClr val="FFFFFF"/>
                    </a:solidFill>
                  </a:tcPr>
                </a:tc>
                <a:tc>
                  <a:txBody>
                    <a:bodyPr lIns="114300" tIns="114300" rIns="114300" bIns="114300">
                      <a:noAutofit/>
                    </a:bodyPr>
                    <a:lstStyle/>
                    <a:p>
                      <a:r>
                        <a:rPr sz="2025" b="0">
                          <a:solidFill>
                            <a:srgbClr val="173B50"/>
                          </a:solidFill>
                          <a:latin typeface="Arial"/>
                          <a:ea typeface="Arial"/>
                          <a:cs typeface="Arial"/>
                        </a:rPr>
                        <a:t>NIS 18M</a:t>
                      </a:r>
                    </a:p>
                  </a:txBody>
                  <a:tcPr marL="76200" marR="76200" marT="28575" marB="28575" anchor="ctr">
                    <a:solidFill>
                      <a:srgbClr val="FFFFFF"/>
                    </a:solidFill>
                  </a:tcPr>
                </a:tc>
                <a:tc>
                  <a:txBody>
                    <a:bodyPr lIns="114300" tIns="114300" rIns="114300" bIns="114300">
                      <a:noAutofit/>
                    </a:bodyPr>
                    <a:lstStyle/>
                    <a:p>
                      <a:r>
                        <a:rPr sz="2025" b="0">
                          <a:solidFill>
                            <a:srgbClr val="173B50"/>
                          </a:solidFill>
                          <a:latin typeface="Arial"/>
                          <a:ea typeface="Arial"/>
                          <a:cs typeface="Arial"/>
                        </a:rPr>
                        <a:t>200%</a:t>
                      </a:r>
                    </a:p>
                  </a:txBody>
                  <a:tcPr marL="76200" marR="76200" marT="28575" marB="28575" anchor="ctr">
                    <a:solidFill>
                      <a:srgbClr val="FFFFFF"/>
                    </a:solidFill>
                  </a:tcPr>
                </a:tc>
              </a:tr>
            </a:tbl>
          </a:graphicData>
        </a:graphic>
      </p:graphicFrame>
      <p:sp>
        <p:nvSpPr>
          <p:cNvPr id="8" name="Investment cash returns when a qualifying company ">
            <a:extLst xmlns:a="http://schemas.openxmlformats.org/drawingml/2006/main">
              <a:ext uri="{FF2B5EF4-FFF2-40B4-BE49-F238E27FC236}">
                <a16:creationId xmlns:a16="http://schemas.microsoft.com/office/drawing/2014/main" id="{5B7FA3B7-9498-4274-A2EB-992518188FB7}"/>
              </a:ext>
            </a:extLst>
          </p:cNvPr>
          <p:cNvSpPr>
            <a:spLocks xmlns:a="http://schemas.openxmlformats.org/drawingml/2006/main" noGrp="1"/>
          </p:cNvSpPr>
          <p:nvPr/>
        </p:nvSpPr>
        <p:spPr>
          <a:xfrm xmlns:a="http://schemas.openxmlformats.org/drawingml/2006/main">
            <a:off x="609600" y="5591175"/>
            <a:ext cx="108394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73B50"/>
                </a:solidFill>
                <a:latin typeface="Arial"/>
                <a:ea typeface="Arial"/>
                <a:cs typeface="Arial"/>
              </a:defRPr>
            </a:defPPr>
          </a:lstStyle>
          <a:p xmlns:a="http://schemas.openxmlformats.org/drawingml/2006/main">
            <a:pPr>
              <a:defRPr sz="2100" b="1">
                <a:solidFill>
                  <a:srgbClr val="173B50"/>
                </a:solidFill>
                <a:latin typeface="Arial"/>
                <a:ea typeface="Arial"/>
                <a:cs typeface="Arial"/>
              </a:defRPr>
            </a:pPr>
            <a:r>
              <a:rPr sz="2100" b="1">
                <a:solidFill>
                  <a:srgbClr val="173B50"/>
                </a:solidFill>
                <a:latin typeface="Arial"/>
                <a:ea typeface="Arial"/>
                <a:cs typeface="Arial"/>
              </a:rPr>
              <a:t>Investment cash returns when a qualifying company sale closes</a:t>
            </a:r>
          </a:p>
        </p:txBody>
      </p:sp>
    </p:spTree>
    <p:extLst>
      <p:ext uri="{BB962C8B-B14F-4D97-AF65-F5344CB8AC3E}">
        <p14:creationId xmlns:p14="http://schemas.microsoft.com/office/powerpoint/2010/main" val="1717039047"/>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E2ED1C2A-6CD7-4365-82F3-426C425356EA}"/>
              </a:ext>
            </a:extLst>
          </p:cNvPr>
          <p:cNvPicPr>
            <a:picLocks xmlns:a="http://schemas.openxmlformats.org/drawingml/2006/main" noChangeAspect="1"/>
          </p:cNvPicPr>
          <p:nvPr/>
        </p:nvPicPr>
        <p:blipFill>
          <a:blip xmlns:r="http://schemas.openxmlformats.org/officeDocument/2006/relationships" xmlns:a="http://schemas.openxmlformats.org/drawingml/2006/main" r:embed="R4a5cbf89c23c438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Light background wash">
            <a:extLst xmlns:a="http://schemas.openxmlformats.org/drawingml/2006/main">
              <a:ext uri="{FF2B5EF4-FFF2-40B4-BE49-F238E27FC236}">
                <a16:creationId xmlns:a16="http://schemas.microsoft.com/office/drawing/2014/main" id="{46B9C8A4-A02E-4967-A030-54BCF561CAD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90000"/>
            </a:srgbClr>
          </a:solidFill>
          <a:ln xmlns:a="http://schemas.openxmlformats.org/drawingml/2006/main" w="0">
            <a:noFill/>
          </a:ln>
        </p:spPr>
      </p:sp>
      <p:sp>
        <p:nvSpPr>
          <p:cNvPr id="3" name="Investment priorities and proof milestones">
            <a:extLst xmlns:a="http://schemas.openxmlformats.org/drawingml/2006/main">
              <a:ext uri="{FF2B5EF4-FFF2-40B4-BE49-F238E27FC236}">
                <a16:creationId xmlns:a16="http://schemas.microsoft.com/office/drawing/2014/main" id="{7437AC1C-60D8-4BBC-AF84-FBC354C4AB05}"/>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73B50"/>
                </a:solidFill>
                <a:latin typeface="Arial"/>
                <a:ea typeface="Arial"/>
                <a:cs typeface="Arial"/>
              </a:defRPr>
            </a:defPPr>
          </a:lstStyle>
          <a:p xmlns:a="http://schemas.openxmlformats.org/drawingml/2006/main">
            <a:pPr>
              <a:defRPr sz="3450" b="1">
                <a:solidFill>
                  <a:srgbClr val="173B50"/>
                </a:solidFill>
                <a:latin typeface="Arial"/>
                <a:ea typeface="Arial"/>
                <a:cs typeface="Arial"/>
              </a:defRPr>
            </a:pPr>
            <a:r>
              <a:rPr sz="3450" b="1">
                <a:solidFill>
                  <a:srgbClr val="173B50"/>
                </a:solidFill>
                <a:latin typeface="Arial"/>
                <a:ea typeface="Arial"/>
                <a:cs typeface="Arial"/>
              </a:rPr>
              <a:t>Investment priorities and proof milestones</a:t>
            </a:r>
          </a:p>
        </p:txBody>
      </p:sp>
      <p:sp>
        <p:nvSpPr>
          <p:cNvPr id="4" name="32">
            <a:extLst xmlns:a="http://schemas.openxmlformats.org/drawingml/2006/main">
              <a:ext uri="{FF2B5EF4-FFF2-40B4-BE49-F238E27FC236}">
                <a16:creationId xmlns:a16="http://schemas.microsoft.com/office/drawing/2014/main" id="{74DFC73D-8F05-4BBB-9F0D-0B88A95EEFC4}"/>
              </a:ext>
            </a:extLst>
          </p:cNvPr>
          <p:cNvSpPr>
            <a:spLocks xmlns:a="http://schemas.openxmlformats.org/drawingml/2006/main" noGrp="1"/>
          </p:cNvSpPr>
          <p:nvPr/>
        </p:nvSpPr>
        <p:spPr>
          <a:xfrm xmlns:a="http://schemas.openxmlformats.org/drawingml/2006/main">
            <a:off x="11191875"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C7B"/>
                </a:solidFill>
                <a:latin typeface="Arial"/>
                <a:ea typeface="Arial"/>
                <a:cs typeface="Arial"/>
              </a:defRPr>
            </a:defPPr>
          </a:lstStyle>
          <a:p xmlns:a="http://schemas.openxmlformats.org/drawingml/2006/main">
            <a:pPr>
              <a:defRPr sz="1200" b="0">
                <a:solidFill>
                  <a:srgbClr val="516C7B"/>
                </a:solidFill>
                <a:latin typeface="Arial"/>
                <a:ea typeface="Arial"/>
                <a:cs typeface="Arial"/>
              </a:defRPr>
            </a:pPr>
            <a:r>
              <a:rPr sz="1200" b="0">
                <a:solidFill>
                  <a:srgbClr val="516C7B"/>
                </a:solidFill>
                <a:latin typeface="Arial"/>
                <a:ea typeface="Arial"/>
                <a:cs typeface="Arial"/>
              </a:rPr>
              <a:t>32</a:t>
            </a:r>
          </a:p>
        </p:txBody>
      </p:sp>
      <p:sp>
        <p:nvSpPr>
          <p:cNvPr id="5" name="Capital should fund evidence of a reliable,&#10;paid e">
            <a:extLst xmlns:a="http://schemas.openxmlformats.org/drawingml/2006/main">
              <a:ext uri="{FF2B5EF4-FFF2-40B4-BE49-F238E27FC236}">
                <a16:creationId xmlns:a16="http://schemas.microsoft.com/office/drawing/2014/main" id="{0CDA8A1F-89C3-4C75-85E2-9755F2ADAC8A}"/>
              </a:ext>
            </a:extLst>
          </p:cNvPr>
          <p:cNvSpPr>
            <a:spLocks xmlns:a="http://schemas.openxmlformats.org/drawingml/2006/main" noGrp="1"/>
          </p:cNvSpPr>
          <p:nvPr/>
        </p:nvSpPr>
        <p:spPr>
          <a:xfrm xmlns:a="http://schemas.openxmlformats.org/drawingml/2006/main">
            <a:off x="609600" y="1552575"/>
            <a:ext cx="108394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3B50"/>
                </a:solidFill>
                <a:latin typeface="Arial"/>
                <a:ea typeface="Arial"/>
                <a:cs typeface="Arial"/>
              </a:defRPr>
            </a:defPPr>
          </a:lstStyle>
          <a:p xmlns:a="http://schemas.openxmlformats.org/drawingml/2006/main">
            <a:pPr>
              <a:defRPr sz="3150" b="1">
                <a:solidFill>
                  <a:srgbClr val="173B50"/>
                </a:solidFill>
                <a:latin typeface="Arial"/>
                <a:ea typeface="Arial"/>
                <a:cs typeface="Arial"/>
              </a:defRPr>
            </a:pPr>
            <a:r>
              <a:rPr sz="3150" b="1">
                <a:solidFill>
                  <a:srgbClr val="173B50"/>
                </a:solidFill>
                <a:latin typeface="Arial"/>
                <a:ea typeface="Arial"/>
                <a:cs typeface="Arial"/>
              </a:rPr>
              <a:t>Capital should fund evidence of a reliable,</a:t>
            </a:r>
          </a:p>
          <a:p xmlns:a="http://schemas.openxmlformats.org/drawingml/2006/main">
            <a:pPr>
              <a:defRPr sz="3150" b="1">
                <a:solidFill>
                  <a:srgbClr val="173B50"/>
                </a:solidFill>
                <a:latin typeface="Arial"/>
                <a:ea typeface="Arial"/>
                <a:cs typeface="Arial"/>
              </a:defRPr>
            </a:pPr>
            <a:r>
              <a:rPr sz="3150" b="1">
                <a:solidFill>
                  <a:srgbClr val="173B50"/>
                </a:solidFill>
                <a:latin typeface="Arial"/>
                <a:ea typeface="Arial"/>
                <a:cs typeface="Arial"/>
              </a:rPr>
              <a:t>paid engineering workflow</a:t>
            </a:r>
          </a:p>
        </p:txBody>
      </p:sp>
      <p:sp>
        <p:nvSpPr>
          <p:cNvPr id="6" name="Product evidence">
            <a:extLst xmlns:a="http://schemas.openxmlformats.org/drawingml/2006/main">
              <a:ext uri="{FF2B5EF4-FFF2-40B4-BE49-F238E27FC236}">
                <a16:creationId xmlns:a16="http://schemas.microsoft.com/office/drawing/2014/main" id="{7C96CE75-6827-40ED-9FF1-9FA3282BDF3A}"/>
              </a:ext>
            </a:extLst>
          </p:cNvPr>
          <p:cNvSpPr>
            <a:spLocks xmlns:a="http://schemas.openxmlformats.org/drawingml/2006/main" noGrp="1"/>
          </p:cNvSpPr>
          <p:nvPr/>
        </p:nvSpPr>
        <p:spPr>
          <a:xfrm xmlns:a="http://schemas.openxmlformats.org/drawingml/2006/main">
            <a:off x="609600" y="317182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73B50"/>
                </a:solidFill>
                <a:latin typeface="Arial"/>
                <a:ea typeface="Arial"/>
                <a:cs typeface="Arial"/>
              </a:defRPr>
            </a:defPPr>
          </a:lstStyle>
          <a:p xmlns:a="http://schemas.openxmlformats.org/drawingml/2006/main">
            <a:pPr>
              <a:defRPr sz="2400" b="1">
                <a:solidFill>
                  <a:srgbClr val="173B50"/>
                </a:solidFill>
                <a:latin typeface="Arial"/>
                <a:ea typeface="Arial"/>
                <a:cs typeface="Arial"/>
              </a:defRPr>
            </a:pPr>
            <a:r>
              <a:rPr sz="2400" b="1">
                <a:solidFill>
                  <a:srgbClr val="173B50"/>
                </a:solidFill>
                <a:latin typeface="Arial"/>
                <a:ea typeface="Arial"/>
                <a:cs typeface="Arial"/>
              </a:rPr>
              <a:t>Product evidence</a:t>
            </a:r>
          </a:p>
        </p:txBody>
      </p:sp>
      <p:sp>
        <p:nvSpPr>
          <p:cNvPr id="7" name="A repeatable demo on real partner designs, dependa">
            <a:extLst xmlns:a="http://schemas.openxmlformats.org/drawingml/2006/main">
              <a:ext uri="{FF2B5EF4-FFF2-40B4-BE49-F238E27FC236}">
                <a16:creationId xmlns:a16="http://schemas.microsoft.com/office/drawing/2014/main" id="{C790443E-7957-4291-8DC3-266FBDA58A3D}"/>
              </a:ext>
            </a:extLst>
          </p:cNvPr>
          <p:cNvSpPr>
            <a:spLocks xmlns:a="http://schemas.openxmlformats.org/drawingml/2006/main" noGrp="1"/>
          </p:cNvSpPr>
          <p:nvPr/>
        </p:nvSpPr>
        <p:spPr>
          <a:xfrm xmlns:a="http://schemas.openxmlformats.org/drawingml/2006/main">
            <a:off x="609600" y="3971925"/>
            <a:ext cx="33337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16C7B"/>
                </a:solidFill>
                <a:latin typeface="Arial"/>
                <a:ea typeface="Arial"/>
                <a:cs typeface="Arial"/>
              </a:defRPr>
            </a:defPPr>
          </a:lstStyle>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A repeatable demo on real partner designs, dependable file exchange and documented rule coverage.</a:t>
            </a:r>
          </a:p>
        </p:txBody>
      </p:sp>
      <p:sp>
        <p:nvSpPr>
          <p:cNvPr id="8" name="Commercial evidence">
            <a:extLst xmlns:a="http://schemas.openxmlformats.org/drawingml/2006/main">
              <a:ext uri="{FF2B5EF4-FFF2-40B4-BE49-F238E27FC236}">
                <a16:creationId xmlns:a16="http://schemas.microsoft.com/office/drawing/2014/main" id="{5F212CEA-4C24-4943-B9EC-AC451E692D60}"/>
              </a:ext>
            </a:extLst>
          </p:cNvPr>
          <p:cNvSpPr>
            <a:spLocks xmlns:a="http://schemas.openxmlformats.org/drawingml/2006/main" noGrp="1"/>
          </p:cNvSpPr>
          <p:nvPr/>
        </p:nvSpPr>
        <p:spPr>
          <a:xfrm xmlns:a="http://schemas.openxmlformats.org/drawingml/2006/main">
            <a:off x="4410075" y="317182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73B50"/>
                </a:solidFill>
                <a:latin typeface="Arial"/>
                <a:ea typeface="Arial"/>
                <a:cs typeface="Arial"/>
              </a:defRPr>
            </a:defPPr>
          </a:lstStyle>
          <a:p xmlns:a="http://schemas.openxmlformats.org/drawingml/2006/main">
            <a:pPr>
              <a:defRPr sz="2400" b="1">
                <a:solidFill>
                  <a:srgbClr val="173B50"/>
                </a:solidFill>
                <a:latin typeface="Arial"/>
                <a:ea typeface="Arial"/>
                <a:cs typeface="Arial"/>
              </a:defRPr>
            </a:pPr>
            <a:r>
              <a:rPr sz="2400" b="1">
                <a:solidFill>
                  <a:srgbClr val="173B50"/>
                </a:solidFill>
                <a:latin typeface="Arial"/>
                <a:ea typeface="Arial"/>
                <a:cs typeface="Arial"/>
              </a:rPr>
              <a:t>Commercial evidence</a:t>
            </a:r>
          </a:p>
        </p:txBody>
      </p:sp>
      <p:sp>
        <p:nvSpPr>
          <p:cNvPr id="9" name="Paid pilots, measured user value, pricing acceptan">
            <a:extLst xmlns:a="http://schemas.openxmlformats.org/drawingml/2006/main">
              <a:ext uri="{FF2B5EF4-FFF2-40B4-BE49-F238E27FC236}">
                <a16:creationId xmlns:a16="http://schemas.microsoft.com/office/drawing/2014/main" id="{657EE800-FC4E-4BEE-A424-AEFE718FC6F0}"/>
              </a:ext>
            </a:extLst>
          </p:cNvPr>
          <p:cNvSpPr>
            <a:spLocks xmlns:a="http://schemas.openxmlformats.org/drawingml/2006/main" noGrp="1"/>
          </p:cNvSpPr>
          <p:nvPr/>
        </p:nvSpPr>
        <p:spPr>
          <a:xfrm xmlns:a="http://schemas.openxmlformats.org/drawingml/2006/main">
            <a:off x="4410075" y="3971925"/>
            <a:ext cx="33337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16C7B"/>
                </a:solidFill>
                <a:latin typeface="Arial"/>
                <a:ea typeface="Arial"/>
                <a:cs typeface="Arial"/>
              </a:defRPr>
            </a:defPPr>
          </a:lstStyle>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Paid pilots, measured user value, pricing acceptance and a manageable onboarding/support burden.</a:t>
            </a:r>
          </a:p>
        </p:txBody>
      </p:sp>
      <p:sp>
        <p:nvSpPr>
          <p:cNvPr id="10" name="Ecosystem evidence">
            <a:extLst xmlns:a="http://schemas.openxmlformats.org/drawingml/2006/main">
              <a:ext uri="{FF2B5EF4-FFF2-40B4-BE49-F238E27FC236}">
                <a16:creationId xmlns:a16="http://schemas.microsoft.com/office/drawing/2014/main" id="{374911B0-2ECC-4F2A-8F14-5DF4F28111D1}"/>
              </a:ext>
            </a:extLst>
          </p:cNvPr>
          <p:cNvSpPr>
            <a:spLocks xmlns:a="http://schemas.openxmlformats.org/drawingml/2006/main" noGrp="1"/>
          </p:cNvSpPr>
          <p:nvPr/>
        </p:nvSpPr>
        <p:spPr>
          <a:xfrm xmlns:a="http://schemas.openxmlformats.org/drawingml/2006/main">
            <a:off x="8210550" y="317182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73B50"/>
                </a:solidFill>
                <a:latin typeface="Arial"/>
                <a:ea typeface="Arial"/>
                <a:cs typeface="Arial"/>
              </a:defRPr>
            </a:defPPr>
          </a:lstStyle>
          <a:p xmlns:a="http://schemas.openxmlformats.org/drawingml/2006/main">
            <a:pPr>
              <a:defRPr sz="2400" b="1">
                <a:solidFill>
                  <a:srgbClr val="173B50"/>
                </a:solidFill>
                <a:latin typeface="Arial"/>
                <a:ea typeface="Arial"/>
                <a:cs typeface="Arial"/>
              </a:defRPr>
            </a:pPr>
            <a:r>
              <a:rPr sz="2400" b="1">
                <a:solidFill>
                  <a:srgbClr val="173B50"/>
                </a:solidFill>
                <a:latin typeface="Arial"/>
                <a:ea typeface="Arial"/>
                <a:cs typeface="Arial"/>
              </a:rPr>
              <a:t>Ecosystem evidence</a:t>
            </a:r>
          </a:p>
        </p:txBody>
      </p:sp>
      <p:sp>
        <p:nvSpPr>
          <p:cNvPr id="11" name="A validated release-package workflow and one usefu">
            <a:extLst xmlns:a="http://schemas.openxmlformats.org/drawingml/2006/main">
              <a:ext uri="{FF2B5EF4-FFF2-40B4-BE49-F238E27FC236}">
                <a16:creationId xmlns:a16="http://schemas.microsoft.com/office/drawing/2014/main" id="{01A074C7-E070-48C0-8DAF-F8B1DAFE530A}"/>
              </a:ext>
            </a:extLst>
          </p:cNvPr>
          <p:cNvSpPr>
            <a:spLocks xmlns:a="http://schemas.openxmlformats.org/drawingml/2006/main" noGrp="1"/>
          </p:cNvSpPr>
          <p:nvPr/>
        </p:nvSpPr>
        <p:spPr>
          <a:xfrm xmlns:a="http://schemas.openxmlformats.org/drawingml/2006/main">
            <a:off x="8210550" y="3971925"/>
            <a:ext cx="33337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16C7B"/>
                </a:solidFill>
                <a:latin typeface="Arial"/>
                <a:ea typeface="Arial"/>
                <a:cs typeface="Arial"/>
              </a:defRPr>
            </a:defPPr>
          </a:lstStyle>
          <a:p xmlns:a="http://schemas.openxmlformats.org/drawingml/2006/main">
            <a:pPr>
              <a:defRPr sz="2025" b="0">
                <a:solidFill>
                  <a:srgbClr val="516C7B"/>
                </a:solidFill>
                <a:latin typeface="Arial"/>
                <a:ea typeface="Arial"/>
                <a:cs typeface="Arial"/>
              </a:defRPr>
            </a:pPr>
            <a:r>
              <a:rPr sz="2025" b="0">
                <a:solidFill>
                  <a:srgbClr val="516C7B"/>
                </a:solidFill>
                <a:latin typeface="Arial"/>
                <a:ea typeface="Arial"/>
                <a:cs typeface="Arial"/>
              </a:rPr>
              <a:t>A validated release-package workflow and one useful cabinet wiring or project-data integration.</a:t>
            </a:r>
          </a:p>
        </p:txBody>
      </p:sp>
      <p:sp>
        <p:nvSpPr>
          <p:cNvPr id="12" name="Next step: a technical demonstration followed by d">
            <a:extLst xmlns:a="http://schemas.openxmlformats.org/drawingml/2006/main">
              <a:ext uri="{FF2B5EF4-FFF2-40B4-BE49-F238E27FC236}">
                <a16:creationId xmlns:a16="http://schemas.microsoft.com/office/drawing/2014/main" id="{542C5A3B-79CF-4133-B779-4C275A31D555}"/>
              </a:ext>
            </a:extLst>
          </p:cNvPr>
          <p:cNvSpPr>
            <a:spLocks xmlns:a="http://schemas.openxmlformats.org/drawingml/2006/main" noGrp="1"/>
          </p:cNvSpPr>
          <p:nvPr/>
        </p:nvSpPr>
        <p:spPr>
          <a:xfrm xmlns:a="http://schemas.openxmlformats.org/drawingml/2006/main">
            <a:off x="609600" y="5762625"/>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73B50"/>
                </a:solidFill>
                <a:latin typeface="Arial"/>
                <a:ea typeface="Arial"/>
                <a:cs typeface="Arial"/>
              </a:defRPr>
            </a:defPPr>
          </a:lstStyle>
          <a:p xmlns:a="http://schemas.openxmlformats.org/drawingml/2006/main">
            <a:pPr>
              <a:defRPr sz="2175" b="1">
                <a:solidFill>
                  <a:srgbClr val="173B50"/>
                </a:solidFill>
                <a:latin typeface="Arial"/>
                <a:ea typeface="Arial"/>
                <a:cs typeface="Arial"/>
              </a:defRPr>
            </a:pPr>
            <a:r>
              <a:rPr sz="2175" b="1">
                <a:solidFill>
                  <a:srgbClr val="173B50"/>
                </a:solidFill>
                <a:latin typeface="Arial"/>
                <a:ea typeface="Arial"/>
                <a:cs typeface="Arial"/>
              </a:rPr>
              <a:t>Next step: a technical demonstration followed by design-partner pilots</a:t>
            </a:r>
          </a:p>
        </p:txBody>
      </p:sp>
    </p:spTree>
    <p:extLst>
      <p:ext uri="{BB962C8B-B14F-4D97-AF65-F5344CB8AC3E}">
        <p14:creationId xmlns:p14="http://schemas.microsoft.com/office/powerpoint/2010/main" val="2112718582"/>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86AF82FD-0B98-4D53-A9E4-8993F369CE48}"/>
              </a:ext>
            </a:extLst>
          </p:cNvPr>
          <p:cNvPicPr>
            <a:picLocks xmlns:a="http://schemas.openxmlformats.org/drawingml/2006/main" noChangeAspect="1"/>
          </p:cNvPicPr>
          <p:nvPr/>
        </p:nvPicPr>
        <p:blipFill>
          <a:blip xmlns:r="http://schemas.openxmlformats.org/officeDocument/2006/relationships" xmlns:a="http://schemas.openxmlformats.org/drawingml/2006/main" r:embed="Rf78dcbe99a9e402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Light background wash">
            <a:extLst xmlns:a="http://schemas.openxmlformats.org/drawingml/2006/main">
              <a:ext uri="{FF2B5EF4-FFF2-40B4-BE49-F238E27FC236}">
                <a16:creationId xmlns:a16="http://schemas.microsoft.com/office/drawing/2014/main" id="{70311F2E-B99C-42EA-B4AE-FC9C3D624E6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90000"/>
            </a:srgbClr>
          </a:solidFill>
          <a:ln xmlns:a="http://schemas.openxmlformats.org/drawingml/2006/main" w="0">
            <a:noFill/>
          </a:ln>
        </p:spPr>
      </p:sp>
      <p:sp>
        <p:nvSpPr>
          <p:cNvPr id="3" name="Market scope and estimate differences">
            <a:extLst xmlns:a="http://schemas.openxmlformats.org/drawingml/2006/main">
              <a:ext uri="{FF2B5EF4-FFF2-40B4-BE49-F238E27FC236}">
                <a16:creationId xmlns:a16="http://schemas.microsoft.com/office/drawing/2014/main" id="{B30950A0-FB17-4190-922E-AAF226AE06C4}"/>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73B50"/>
                </a:solidFill>
                <a:latin typeface="Arial"/>
                <a:ea typeface="Arial"/>
                <a:cs typeface="Arial"/>
              </a:defRPr>
            </a:defPPr>
          </a:lstStyle>
          <a:p xmlns:a="http://schemas.openxmlformats.org/drawingml/2006/main">
            <a:pPr>
              <a:defRPr sz="3450" b="1">
                <a:solidFill>
                  <a:srgbClr val="173B50"/>
                </a:solidFill>
                <a:latin typeface="Arial"/>
                <a:ea typeface="Arial"/>
                <a:cs typeface="Arial"/>
              </a:defRPr>
            </a:pPr>
            <a:r>
              <a:rPr sz="3450" b="1">
                <a:solidFill>
                  <a:srgbClr val="173B50"/>
                </a:solidFill>
                <a:latin typeface="Arial"/>
                <a:ea typeface="Arial"/>
                <a:cs typeface="Arial"/>
              </a:rPr>
              <a:t>Market scope and estimate differences</a:t>
            </a:r>
          </a:p>
        </p:txBody>
      </p:sp>
      <p:sp>
        <p:nvSpPr>
          <p:cNvPr id="4" name="33">
            <a:extLst xmlns:a="http://schemas.openxmlformats.org/drawingml/2006/main">
              <a:ext uri="{FF2B5EF4-FFF2-40B4-BE49-F238E27FC236}">
                <a16:creationId xmlns:a16="http://schemas.microsoft.com/office/drawing/2014/main" id="{E109D780-4FD0-42B8-97D1-1AA3D27F2732}"/>
              </a:ext>
            </a:extLst>
          </p:cNvPr>
          <p:cNvSpPr>
            <a:spLocks xmlns:a="http://schemas.openxmlformats.org/drawingml/2006/main" noGrp="1"/>
          </p:cNvSpPr>
          <p:nvPr/>
        </p:nvSpPr>
        <p:spPr>
          <a:xfrm xmlns:a="http://schemas.openxmlformats.org/drawingml/2006/main">
            <a:off x="11191875"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C7B"/>
                </a:solidFill>
                <a:latin typeface="Arial"/>
                <a:ea typeface="Arial"/>
                <a:cs typeface="Arial"/>
              </a:defRPr>
            </a:defPPr>
          </a:lstStyle>
          <a:p xmlns:a="http://schemas.openxmlformats.org/drawingml/2006/main">
            <a:pPr>
              <a:defRPr sz="1200" b="0">
                <a:solidFill>
                  <a:srgbClr val="516C7B"/>
                </a:solidFill>
                <a:latin typeface="Arial"/>
                <a:ea typeface="Arial"/>
                <a:cs typeface="Arial"/>
              </a:defRPr>
            </a:pPr>
            <a:r>
              <a:rPr sz="1200" b="0">
                <a:solidFill>
                  <a:srgbClr val="516C7B"/>
                </a:solidFill>
                <a:latin typeface="Arial"/>
                <a:ea typeface="Arial"/>
                <a:cs typeface="Arial"/>
              </a:rPr>
              <a:t>33</a:t>
            </a:r>
          </a:p>
        </p:txBody>
      </p:sp>
      <p:graphicFrame>
        <p:nvGraphicFramePr>
          <p:cNvPr id="5" name="">
            <a:extLst xmlns:a="http://schemas.openxmlformats.org/drawingml/2006/main">
              <a:ext uri="{FF2B5EF4-FFF2-40B4-BE49-F238E27FC236}">
                <a16:creationId xmlns:a16="http://schemas.microsoft.com/office/drawing/2014/main" id="{9E167552-E970-4A37-9F2A-C623B43E4AA1}"/>
              </a:ext>
            </a:extLst>
          </p:cNvPr>
          <p:cNvGraphicFramePr/>
          <p:nvPr/>
        </p:nvGraphicFramePr>
        <p:xfrm>
          <a:off xmlns:a="http://schemas.openxmlformats.org/drawingml/2006/main" x="609600" y="1685925"/>
          <a:ext xmlns:a="http://schemas.openxmlformats.org/drawingml/2006/main" cx="10972800" cy="3429000"/>
        </p:xfrm>
        <a:graphic xmlns:a="http://schemas.openxmlformats.org/drawingml/2006/main">
          <a:graphicData uri="http://schemas.openxmlformats.org/drawingml/2006/table">
            <a:tbl>
              <a:tblPr/>
              <a:tblGrid>
                <a:gridCol w="4352925"/>
                <a:gridCol w="1952625"/>
                <a:gridCol w="4667250"/>
              </a:tblGrid>
              <a:tr h="685800">
                <a:tc>
                  <a:txBody>
                    <a:bodyPr lIns="114300" tIns="114300" rIns="114300" bIns="114300">
                      <a:noAutofit/>
                    </a:bodyPr>
                    <a:lstStyle/>
                    <a:p>
                      <a:r>
                        <a:rPr sz="1800" b="1">
                          <a:solidFill>
                            <a:srgbClr val="173B50"/>
                          </a:solidFill>
                          <a:latin typeface="Arial"/>
                          <a:ea typeface="Arial"/>
                          <a:cs typeface="Arial"/>
                        </a:rPr>
                        <a:t>Category / source</a:t>
                      </a:r>
                    </a:p>
                  </a:txBody>
                  <a:tcPr marL="76200" marR="76200" marT="28575" marB="28575" anchor="ctr">
                    <a:solidFill>
                      <a:srgbClr val="E3EFF3"/>
                    </a:solidFill>
                  </a:tcPr>
                </a:tc>
                <a:tc>
                  <a:txBody>
                    <a:bodyPr lIns="114300" tIns="114300" rIns="114300" bIns="114300">
                      <a:noAutofit/>
                    </a:bodyPr>
                    <a:lstStyle/>
                    <a:p>
                      <a:r>
                        <a:rPr sz="1800" b="1">
                          <a:solidFill>
                            <a:srgbClr val="173B50"/>
                          </a:solidFill>
                          <a:latin typeface="Arial"/>
                          <a:ea typeface="Arial"/>
                          <a:cs typeface="Arial"/>
                        </a:rPr>
                        <a:t>2025 estimate</a:t>
                      </a:r>
                    </a:p>
                  </a:txBody>
                  <a:tcPr marL="76200" marR="76200" marT="28575" marB="28575" anchor="ctr">
                    <a:solidFill>
                      <a:srgbClr val="E3EFF3"/>
                    </a:solidFill>
                  </a:tcPr>
                </a:tc>
                <a:tc>
                  <a:txBody>
                    <a:bodyPr lIns="114300" tIns="114300" rIns="114300" bIns="114300">
                      <a:noAutofit/>
                    </a:bodyPr>
                    <a:lstStyle/>
                    <a:p>
                      <a:r>
                        <a:rPr sz="1800" b="1">
                          <a:solidFill>
                            <a:srgbClr val="173B50"/>
                          </a:solidFill>
                          <a:latin typeface="Arial"/>
                          <a:ea typeface="Arial"/>
                          <a:cs typeface="Arial"/>
                        </a:rPr>
                        <a:t>How the deck uses it</a:t>
                      </a:r>
                    </a:p>
                  </a:txBody>
                  <a:tcPr marL="76200" marR="76200" marT="28575" marB="28575" anchor="ctr">
                    <a:solidFill>
                      <a:srgbClr val="E3EFF3"/>
                    </a:solidFill>
                  </a:tcPr>
                </a:tc>
              </a:tr>
              <a:tr h="685800">
                <a:tc>
                  <a:txBody>
                    <a:bodyPr lIns="114300" tIns="114300" rIns="114300" bIns="114300">
                      <a:noAutofit/>
                    </a:bodyPr>
                    <a:lstStyle/>
                    <a:p>
                      <a:r>
                        <a:rPr sz="1800" b="0">
                          <a:solidFill>
                            <a:srgbClr val="173B50"/>
                          </a:solidFill>
                          <a:latin typeface="Arial"/>
                          <a:ea typeface="Arial"/>
                          <a:cs typeface="Arial"/>
                        </a:rPr>
                        <a:t>Harness software / 360iResearch</a:t>
                      </a:r>
                    </a:p>
                  </a:txBody>
                  <a:tcPr marL="76200" marR="76200" marT="28575" marB="28575" anchor="ctr">
                    <a:solidFill>
                      <a:srgbClr val="FFFFFF"/>
                    </a:solidFill>
                  </a:tcPr>
                </a:tc>
                <a:tc>
                  <a:txBody>
                    <a:bodyPr lIns="114300" tIns="114300" rIns="114300" bIns="114300">
                      <a:noAutofit/>
                    </a:bodyPr>
                    <a:lstStyle/>
                    <a:p>
                      <a:r>
                        <a:rPr sz="1800" b="0">
                          <a:solidFill>
                            <a:srgbClr val="173B50"/>
                          </a:solidFill>
                          <a:latin typeface="Arial"/>
                          <a:ea typeface="Arial"/>
                          <a:cs typeface="Arial"/>
                        </a:rPr>
                        <a:t>$245.71M</a:t>
                      </a:r>
                    </a:p>
                  </a:txBody>
                  <a:tcPr marL="76200" marR="76200" marT="28575" marB="28575" anchor="ctr">
                    <a:solidFill>
                      <a:srgbClr val="FFFFFF"/>
                    </a:solidFill>
                  </a:tcPr>
                </a:tc>
                <a:tc>
                  <a:txBody>
                    <a:bodyPr lIns="114300" tIns="114300" rIns="114300" bIns="114300">
                      <a:noAutofit/>
                    </a:bodyPr>
                    <a:lstStyle/>
                    <a:p>
                      <a:r>
                        <a:rPr sz="1800" b="0">
                          <a:solidFill>
                            <a:srgbClr val="173B50"/>
                          </a:solidFill>
                          <a:latin typeface="Arial"/>
                          <a:ea typeface="Arial"/>
                          <a:cs typeface="Arial"/>
                        </a:rPr>
                        <a:t>Cross-sector software estimate</a:t>
                      </a:r>
                    </a:p>
                  </a:txBody>
                  <a:tcPr marL="76200" marR="76200" marT="28575" marB="28575" anchor="ctr">
                    <a:solidFill>
                      <a:srgbClr val="FFFFFF"/>
                    </a:solidFill>
                  </a:tcPr>
                </a:tc>
              </a:tr>
              <a:tr h="685800">
                <a:tc>
                  <a:txBody>
                    <a:bodyPr lIns="114300" tIns="114300" rIns="114300" bIns="114300">
                      <a:noAutofit/>
                    </a:bodyPr>
                    <a:lstStyle/>
                    <a:p>
                      <a:r>
                        <a:rPr sz="1800" b="0">
                          <a:solidFill>
                            <a:srgbClr val="173B50"/>
                          </a:solidFill>
                          <a:latin typeface="Arial"/>
                          <a:ea typeface="Arial"/>
                          <a:cs typeface="Arial"/>
                        </a:rPr>
                        <a:t>Harness software / LP Information</a:t>
                      </a:r>
                    </a:p>
                  </a:txBody>
                  <a:tcPr marL="76200" marR="76200" marT="28575" marB="28575" anchor="ctr">
                    <a:solidFill>
                      <a:srgbClr val="F2F6F7"/>
                    </a:solidFill>
                  </a:tcPr>
                </a:tc>
                <a:tc>
                  <a:txBody>
                    <a:bodyPr lIns="114300" tIns="114300" rIns="114300" bIns="114300">
                      <a:noAutofit/>
                    </a:bodyPr>
                    <a:lstStyle/>
                    <a:p>
                      <a:r>
                        <a:rPr sz="1800" b="0">
                          <a:solidFill>
                            <a:srgbClr val="173B50"/>
                          </a:solidFill>
                          <a:latin typeface="Arial"/>
                          <a:ea typeface="Arial"/>
                          <a:cs typeface="Arial"/>
                        </a:rPr>
                        <a:t>$1,039M</a:t>
                      </a:r>
                    </a:p>
                  </a:txBody>
                  <a:tcPr marL="76200" marR="76200" marT="28575" marB="28575" anchor="ctr">
                    <a:solidFill>
                      <a:srgbClr val="F2F6F7"/>
                    </a:solidFill>
                  </a:tcPr>
                </a:tc>
                <a:tc>
                  <a:txBody>
                    <a:bodyPr lIns="114300" tIns="114300" rIns="114300" bIns="114300">
                      <a:noAutofit/>
                    </a:bodyPr>
                    <a:lstStyle/>
                    <a:p>
                      <a:r>
                        <a:rPr sz="1800" b="0">
                          <a:solidFill>
                            <a:srgbClr val="173B50"/>
                          </a:solidFill>
                          <a:latin typeface="Arial"/>
                          <a:ea typeface="Arial"/>
                          <a:cs typeface="Arial"/>
                        </a:rPr>
                        <a:t>Alternative publisher estimate</a:t>
                      </a:r>
                    </a:p>
                  </a:txBody>
                  <a:tcPr marL="76200" marR="76200" marT="28575" marB="28575" anchor="ctr">
                    <a:solidFill>
                      <a:srgbClr val="F2F6F7"/>
                    </a:solidFill>
                  </a:tcPr>
                </a:tc>
              </a:tr>
              <a:tr h="685800">
                <a:tc>
                  <a:txBody>
                    <a:bodyPr lIns="114300" tIns="114300" rIns="114300" bIns="114300">
                      <a:noAutofit/>
                    </a:bodyPr>
                    <a:lstStyle/>
                    <a:p>
                      <a:r>
                        <a:rPr sz="1800" b="0">
                          <a:solidFill>
                            <a:srgbClr val="173B50"/>
                          </a:solidFill>
                          <a:latin typeface="Arial"/>
                          <a:ea typeface="Arial"/>
                          <a:cs typeface="Arial"/>
                        </a:rPr>
                        <a:t>Broader ECAD / TechSci Research</a:t>
                      </a:r>
                    </a:p>
                  </a:txBody>
                  <a:tcPr marL="76200" marR="76200" marT="28575" marB="28575" anchor="ctr">
                    <a:solidFill>
                      <a:srgbClr val="FFFFFF"/>
                    </a:solidFill>
                  </a:tcPr>
                </a:tc>
                <a:tc>
                  <a:txBody>
                    <a:bodyPr lIns="114300" tIns="114300" rIns="114300" bIns="114300">
                      <a:noAutofit/>
                    </a:bodyPr>
                    <a:lstStyle/>
                    <a:p>
                      <a:r>
                        <a:rPr sz="1800" b="0">
                          <a:solidFill>
                            <a:srgbClr val="173B50"/>
                          </a:solidFill>
                          <a:latin typeface="Arial"/>
                          <a:ea typeface="Arial"/>
                          <a:cs typeface="Arial"/>
                        </a:rPr>
                        <a:t>$9.81B</a:t>
                      </a:r>
                    </a:p>
                  </a:txBody>
                  <a:tcPr marL="76200" marR="76200" marT="28575" marB="28575" anchor="ctr">
                    <a:solidFill>
                      <a:srgbClr val="FFFFFF"/>
                    </a:solidFill>
                  </a:tcPr>
                </a:tc>
                <a:tc>
                  <a:txBody>
                    <a:bodyPr lIns="114300" tIns="114300" rIns="114300" bIns="114300">
                      <a:noAutofit/>
                    </a:bodyPr>
                    <a:lstStyle/>
                    <a:p>
                      <a:r>
                        <a:rPr sz="1800" b="0">
                          <a:solidFill>
                            <a:srgbClr val="173B50"/>
                          </a:solidFill>
                          <a:latin typeface="Arial"/>
                          <a:ea typeface="Arial"/>
                          <a:cs typeface="Arial"/>
                        </a:rPr>
                        <a:t>Adjacent ecosystem including PCB/services</a:t>
                      </a:r>
                    </a:p>
                  </a:txBody>
                  <a:tcPr marL="76200" marR="76200" marT="28575" marB="28575" anchor="ctr">
                    <a:solidFill>
                      <a:srgbClr val="FFFFFF"/>
                    </a:solidFill>
                  </a:tcPr>
                </a:tc>
              </a:tr>
              <a:tr h="685800">
                <a:tc>
                  <a:txBody>
                    <a:bodyPr lIns="114300" tIns="114300" rIns="114300" bIns="114300">
                      <a:noAutofit/>
                    </a:bodyPr>
                    <a:lstStyle/>
                    <a:p>
                      <a:r>
                        <a:rPr sz="1800" b="0">
                          <a:solidFill>
                            <a:srgbClr val="173B50"/>
                          </a:solidFill>
                          <a:latin typeface="Arial"/>
                          <a:ea typeface="Arial"/>
                          <a:cs typeface="Arial"/>
                        </a:rPr>
                        <a:t>Hardware startups / defense / OEMs</a:t>
                      </a:r>
                    </a:p>
                  </a:txBody>
                  <a:tcPr marL="76200" marR="76200" marT="28575" marB="28575" anchor="ctr">
                    <a:solidFill>
                      <a:srgbClr val="F2F6F7"/>
                    </a:solidFill>
                  </a:tcPr>
                </a:tc>
                <a:tc>
                  <a:txBody>
                    <a:bodyPr lIns="114300" tIns="114300" rIns="114300" bIns="114300">
                      <a:noAutofit/>
                    </a:bodyPr>
                    <a:lstStyle/>
                    <a:p>
                      <a:r>
                        <a:rPr sz="1800" b="0">
                          <a:solidFill>
                            <a:srgbClr val="173B50"/>
                          </a:solidFill>
                          <a:latin typeface="Arial"/>
                          <a:ea typeface="Arial"/>
                          <a:cs typeface="Arial"/>
                        </a:rPr>
                        <a:t>No separate count asserted</a:t>
                      </a:r>
                    </a:p>
                  </a:txBody>
                  <a:tcPr marL="76200" marR="76200" marT="28575" marB="28575" anchor="ctr">
                    <a:solidFill>
                      <a:srgbClr val="F2F6F7"/>
                    </a:solidFill>
                  </a:tcPr>
                </a:tc>
                <a:tc>
                  <a:txBody>
                    <a:bodyPr lIns="114300" tIns="114300" rIns="114300" bIns="114300">
                      <a:noAutofit/>
                    </a:bodyPr>
                    <a:lstStyle/>
                    <a:p>
                      <a:r>
                        <a:rPr sz="1800" b="0">
                          <a:solidFill>
                            <a:srgbClr val="173B50"/>
                          </a:solidFill>
                          <a:latin typeface="Arial"/>
                          <a:ea typeface="Arial"/>
                          <a:cs typeface="Arial"/>
                        </a:rPr>
                        <a:t>Target buyers within engineering demand</a:t>
                      </a:r>
                    </a:p>
                  </a:txBody>
                  <a:tcPr marL="76200" marR="76200" marT="28575" marB="28575" anchor="ctr">
                    <a:solidFill>
                      <a:srgbClr val="F2F6F7"/>
                    </a:solidFill>
                  </a:tcPr>
                </a:tc>
              </a:tr>
            </a:tbl>
          </a:graphicData>
        </a:graphic>
      </p:graphicFrame>
      <p:sp>
        <p:nvSpPr>
          <p:cNvPr id="6" name="These markets overlap. Qualify serviceable hardwar">
            <a:extLst xmlns:a="http://schemas.openxmlformats.org/drawingml/2006/main">
              <a:ext uri="{FF2B5EF4-FFF2-40B4-BE49-F238E27FC236}">
                <a16:creationId xmlns:a16="http://schemas.microsoft.com/office/drawing/2014/main" id="{FAC0BFF9-4A48-4EF1-84D9-C18F35F9DCA9}"/>
              </a:ext>
            </a:extLst>
          </p:cNvPr>
          <p:cNvSpPr>
            <a:spLocks xmlns:a="http://schemas.openxmlformats.org/drawingml/2006/main" noGrp="1"/>
          </p:cNvSpPr>
          <p:nvPr/>
        </p:nvSpPr>
        <p:spPr>
          <a:xfrm xmlns:a="http://schemas.openxmlformats.org/drawingml/2006/main">
            <a:off x="609600" y="5429250"/>
            <a:ext cx="108394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73B50"/>
                </a:solidFill>
                <a:latin typeface="Arial"/>
                <a:ea typeface="Arial"/>
                <a:cs typeface="Arial"/>
              </a:defRPr>
            </a:defPPr>
          </a:lstStyle>
          <a:p xmlns:a="http://schemas.openxmlformats.org/drawingml/2006/main">
            <a:pPr>
              <a:defRPr sz="2175" b="1">
                <a:solidFill>
                  <a:srgbClr val="173B50"/>
                </a:solidFill>
                <a:latin typeface="Arial"/>
                <a:ea typeface="Arial"/>
                <a:cs typeface="Arial"/>
              </a:defRPr>
            </a:pPr>
            <a:r>
              <a:rPr sz="2175" b="1">
                <a:solidFill>
                  <a:srgbClr val="173B50"/>
                </a:solidFill>
                <a:latin typeface="Arial"/>
                <a:ea typeface="Arial"/>
                <a:cs typeface="Arial"/>
              </a:rPr>
              <a:t>These markets overlap. Qualify serviceable hardware accounts and paid-seat demand separately.</a:t>
            </a:r>
          </a:p>
        </p:txBody>
      </p:sp>
    </p:spTree>
    <p:extLst>
      <p:ext uri="{BB962C8B-B14F-4D97-AF65-F5344CB8AC3E}">
        <p14:creationId xmlns:p14="http://schemas.microsoft.com/office/powerpoint/2010/main" val="230395947"/>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2AF51CB0-8E88-4A51-B31B-E7C8C3C4A6CC}"/>
              </a:ext>
            </a:extLst>
          </p:cNvPr>
          <p:cNvPicPr>
            <a:picLocks xmlns:a="http://schemas.openxmlformats.org/drawingml/2006/main" noChangeAspect="1"/>
          </p:cNvPicPr>
          <p:nvPr/>
        </p:nvPicPr>
        <p:blipFill>
          <a:blip xmlns:r="http://schemas.openxmlformats.org/officeDocument/2006/relationships" xmlns:a="http://schemas.openxmlformats.org/drawingml/2006/main" r:embed="R0e542a3df0dc418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Light background wash">
            <a:extLst xmlns:a="http://schemas.openxmlformats.org/drawingml/2006/main">
              <a:ext uri="{FF2B5EF4-FFF2-40B4-BE49-F238E27FC236}">
                <a16:creationId xmlns:a16="http://schemas.microsoft.com/office/drawing/2014/main" id="{C8AA75D4-E8A9-4CB1-9796-54D2838FD40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90000"/>
            </a:srgbClr>
          </a:solidFill>
          <a:ln xmlns:a="http://schemas.openxmlformats.org/drawingml/2006/main" w="0">
            <a:noFill/>
          </a:ln>
        </p:spPr>
      </p:sp>
      <p:sp>
        <p:nvSpPr>
          <p:cNvPr id="3" name="Sources and product evidence">
            <a:extLst xmlns:a="http://schemas.openxmlformats.org/drawingml/2006/main">
              <a:ext uri="{FF2B5EF4-FFF2-40B4-BE49-F238E27FC236}">
                <a16:creationId xmlns:a16="http://schemas.microsoft.com/office/drawing/2014/main" id="{FE581345-771F-44B8-B60B-0F3EF2BFA64B}"/>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73B50"/>
                </a:solidFill>
                <a:latin typeface="Arial"/>
                <a:ea typeface="Arial"/>
                <a:cs typeface="Arial"/>
              </a:defRPr>
            </a:defPPr>
          </a:lstStyle>
          <a:p xmlns:a="http://schemas.openxmlformats.org/drawingml/2006/main">
            <a:pPr>
              <a:defRPr sz="3450" b="1">
                <a:solidFill>
                  <a:srgbClr val="173B50"/>
                </a:solidFill>
                <a:latin typeface="Arial"/>
                <a:ea typeface="Arial"/>
                <a:cs typeface="Arial"/>
              </a:defRPr>
            </a:pPr>
            <a:r>
              <a:rPr sz="3450" b="1">
                <a:solidFill>
                  <a:srgbClr val="173B50"/>
                </a:solidFill>
                <a:latin typeface="Arial"/>
                <a:ea typeface="Arial"/>
                <a:cs typeface="Arial"/>
              </a:rPr>
              <a:t>Sources and product evidence</a:t>
            </a:r>
          </a:p>
        </p:txBody>
      </p:sp>
      <p:sp>
        <p:nvSpPr>
          <p:cNvPr id="4" name="34">
            <a:extLst xmlns:a="http://schemas.openxmlformats.org/drawingml/2006/main">
              <a:ext uri="{FF2B5EF4-FFF2-40B4-BE49-F238E27FC236}">
                <a16:creationId xmlns:a16="http://schemas.microsoft.com/office/drawing/2014/main" id="{405B36C9-6C7B-48EA-A449-17148ACBABD8}"/>
              </a:ext>
            </a:extLst>
          </p:cNvPr>
          <p:cNvSpPr>
            <a:spLocks xmlns:a="http://schemas.openxmlformats.org/drawingml/2006/main" noGrp="1"/>
          </p:cNvSpPr>
          <p:nvPr/>
        </p:nvSpPr>
        <p:spPr>
          <a:xfrm xmlns:a="http://schemas.openxmlformats.org/drawingml/2006/main">
            <a:off x="11191875"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C7B"/>
                </a:solidFill>
                <a:latin typeface="Arial"/>
                <a:ea typeface="Arial"/>
                <a:cs typeface="Arial"/>
              </a:defRPr>
            </a:defPPr>
          </a:lstStyle>
          <a:p xmlns:a="http://schemas.openxmlformats.org/drawingml/2006/main">
            <a:pPr>
              <a:defRPr sz="1200" b="0">
                <a:solidFill>
                  <a:srgbClr val="516C7B"/>
                </a:solidFill>
                <a:latin typeface="Arial"/>
                <a:ea typeface="Arial"/>
                <a:cs typeface="Arial"/>
              </a:defRPr>
            </a:pPr>
            <a:r>
              <a:rPr sz="1200" b="0">
                <a:solidFill>
                  <a:srgbClr val="516C7B"/>
                </a:solidFill>
                <a:latin typeface="Arial"/>
                <a:ea typeface="Arial"/>
                <a:cs typeface="Arial"/>
              </a:rPr>
              <a:t>34</a:t>
            </a:r>
          </a:p>
        </p:txBody>
      </p:sp>
      <p:graphicFrame>
        <p:nvGraphicFramePr>
          <p:cNvPr id="5" name="">
            <a:extLst xmlns:a="http://schemas.openxmlformats.org/drawingml/2006/main">
              <a:ext uri="{FF2B5EF4-FFF2-40B4-BE49-F238E27FC236}">
                <a16:creationId xmlns:a16="http://schemas.microsoft.com/office/drawing/2014/main" id="{84D986D8-5AB9-4059-B59A-BF8A0918FCC2}"/>
              </a:ext>
            </a:extLst>
          </p:cNvPr>
          <p:cNvGraphicFramePr/>
          <p:nvPr/>
        </p:nvGraphicFramePr>
        <p:xfrm>
          <a:off xmlns:a="http://schemas.openxmlformats.org/drawingml/2006/main" x="609600" y="1600200"/>
          <a:ext xmlns:a="http://schemas.openxmlformats.org/drawingml/2006/main" cx="10972800" cy="4286250"/>
        </p:xfrm>
        <a:graphic xmlns:a="http://schemas.openxmlformats.org/drawingml/2006/main">
          <a:graphicData uri="http://schemas.openxmlformats.org/drawingml/2006/table">
            <a:tbl>
              <a:tblPr/>
              <a:tblGrid>
                <a:gridCol w="3533775"/>
                <a:gridCol w="7439025"/>
              </a:tblGrid>
              <a:tr h="535781">
                <a:tc>
                  <a:txBody>
                    <a:bodyPr lIns="114300" tIns="114300" rIns="114300" bIns="114300">
                      <a:noAutofit/>
                    </a:bodyPr>
                    <a:lstStyle/>
                    <a:p>
                      <a:r>
                        <a:rPr sz="1800" b="1">
                          <a:solidFill>
                            <a:srgbClr val="173B50"/>
                          </a:solidFill>
                          <a:latin typeface="Arial"/>
                          <a:ea typeface="Arial"/>
                          <a:cs typeface="Arial"/>
                        </a:rPr>
                        <a:t>Evidence area</a:t>
                      </a:r>
                    </a:p>
                  </a:txBody>
                  <a:tcPr marL="76200" marR="76200" marT="28575" marB="28575" anchor="ctr">
                    <a:solidFill>
                      <a:srgbClr val="E3EFF3"/>
                    </a:solidFill>
                  </a:tcPr>
                </a:tc>
                <a:tc>
                  <a:txBody>
                    <a:bodyPr lIns="114300" tIns="114300" rIns="114300" bIns="114300">
                      <a:noAutofit/>
                    </a:bodyPr>
                    <a:lstStyle/>
                    <a:p>
                      <a:r>
                        <a:rPr sz="1800" b="1">
                          <a:solidFill>
                            <a:srgbClr val="173B50"/>
                          </a:solidFill>
                          <a:latin typeface="Arial"/>
                          <a:ea typeface="Arial"/>
                          <a:cs typeface="Arial"/>
                        </a:rPr>
                        <a:t>Source</a:t>
                      </a:r>
                    </a:p>
                  </a:txBody>
                  <a:tcPr marL="76200" marR="76200" marT="28575" marB="28575" anchor="ctr">
                    <a:solidFill>
                      <a:srgbClr val="E3EFF3"/>
                    </a:solidFill>
                  </a:tcPr>
                </a:tc>
              </a:tr>
              <a:tr h="535781">
                <a:tc>
                  <a:txBody>
                    <a:bodyPr lIns="114300" tIns="114300" rIns="114300" bIns="114300">
                      <a:noAutofit/>
                    </a:bodyPr>
                    <a:lstStyle/>
                    <a:p>
                      <a:r>
                        <a:rPr sz="1800" b="0">
                          <a:solidFill>
                            <a:srgbClr val="173B50"/>
                          </a:solidFill>
                          <a:latin typeface="Arial"/>
                          <a:ea typeface="Arial"/>
                          <a:cs typeface="Arial"/>
                        </a:rPr>
                        <a:t>Market recheck</a:t>
                      </a:r>
                    </a:p>
                  </a:txBody>
                  <a:tcPr marL="76200" marR="76200" marT="28575" marB="28575" anchor="ctr">
                    <a:solidFill>
                      <a:srgbClr val="FFFFFF"/>
                    </a:solidFill>
                  </a:tcPr>
                </a:tc>
                <a:tc>
                  <a:txBody>
                    <a:bodyPr lIns="114300" tIns="114300" rIns="114300" bIns="114300">
                      <a:noAutofit/>
                    </a:bodyPr>
                    <a:lstStyle/>
                    <a:p>
                      <a:r>
                        <a:rPr sz="1800" b="0">
                          <a:solidFill>
                            <a:srgbClr val="173B50"/>
                          </a:solidFill>
                          <a:latin typeface="Arial"/>
                          <a:ea typeface="Arial"/>
                          <a:cs typeface="Arial"/>
                        </a:rPr>
                        <a:t>360iResearch, LP Information and TechSci Research</a:t>
                      </a:r>
                    </a:p>
                  </a:txBody>
                  <a:tcPr marL="76200" marR="76200" marT="28575" marB="28575" anchor="ctr">
                    <a:solidFill>
                      <a:srgbClr val="FFFFFF"/>
                    </a:solidFill>
                  </a:tcPr>
                </a:tc>
              </a:tr>
              <a:tr h="535781">
                <a:tc>
                  <a:txBody>
                    <a:bodyPr lIns="114300" tIns="114300" rIns="114300" bIns="114300">
                      <a:noAutofit/>
                    </a:bodyPr>
                    <a:lstStyle/>
                    <a:p>
                      <a:r>
                        <a:rPr sz="1800" b="0">
                          <a:solidFill>
                            <a:srgbClr val="173B50"/>
                          </a:solidFill>
                          <a:latin typeface="Arial"/>
                          <a:ea typeface="Arial"/>
                          <a:cs typeface="Arial"/>
                        </a:rPr>
                        <a:t>Company counts</a:t>
                      </a:r>
                    </a:p>
                  </a:txBody>
                  <a:tcPr marL="76200" marR="76200" marT="28575" marB="28575" anchor="ctr">
                    <a:solidFill>
                      <a:srgbClr val="F2F6F7"/>
                    </a:solidFill>
                  </a:tcPr>
                </a:tc>
                <a:tc>
                  <a:txBody>
                    <a:bodyPr lIns="114300" tIns="114300" rIns="114300" bIns="114300">
                      <a:noAutofit/>
                    </a:bodyPr>
                    <a:lstStyle/>
                    <a:p>
                      <a:r>
                        <a:rPr sz="1800" b="0">
                          <a:solidFill>
                            <a:srgbClr val="173B50"/>
                          </a:solidFill>
                          <a:latin typeface="Arial"/>
                          <a:ea typeface="Arial"/>
                          <a:cs typeface="Arial"/>
                        </a:rPr>
                        <a:t>RevenueBase manufacturer directories (Sep 2026) and WHMA</a:t>
                      </a:r>
                    </a:p>
                  </a:txBody>
                  <a:tcPr marL="76200" marR="76200" marT="28575" marB="28575" anchor="ctr">
                    <a:solidFill>
                      <a:srgbClr val="F2F6F7"/>
                    </a:solidFill>
                  </a:tcPr>
                </a:tc>
              </a:tr>
              <a:tr h="535781">
                <a:tc>
                  <a:txBody>
                    <a:bodyPr lIns="114300" tIns="114300" rIns="114300" bIns="114300">
                      <a:noAutofit/>
                    </a:bodyPr>
                    <a:lstStyle/>
                    <a:p>
                      <a:r>
                        <a:rPr sz="1800" b="0">
                          <a:solidFill>
                            <a:srgbClr val="173B50"/>
                          </a:solidFill>
                          <a:latin typeface="Arial"/>
                          <a:ea typeface="Arial"/>
                          <a:cs typeface="Arial"/>
                        </a:rPr>
                        <a:t>Electrical CAB proposal</a:t>
                      </a:r>
                    </a:p>
                  </a:txBody>
                  <a:tcPr marL="76200" marR="76200" marT="28575" marB="28575" anchor="ctr">
                    <a:solidFill>
                      <a:srgbClr val="FFFFFF"/>
                    </a:solidFill>
                  </a:tcPr>
                </a:tc>
                <a:tc>
                  <a:txBody>
                    <a:bodyPr lIns="114300" tIns="114300" rIns="114300" bIns="114300">
                      <a:noAutofit/>
                    </a:bodyPr>
                    <a:lstStyle/>
                    <a:p>
                      <a:r>
                        <a:rPr sz="1800" b="0">
                          <a:solidFill>
                            <a:srgbClr val="173B50"/>
                          </a:solidFill>
                          <a:latin typeface="Arial"/>
                          <a:ea typeface="Arial"/>
                          <a:cs typeface="Arial"/>
                        </a:rPr>
                        <a:t>Zuken E3.panel official cabinet-design workflow</a:t>
                      </a:r>
                    </a:p>
                  </a:txBody>
                  <a:tcPr marL="76200" marR="76200" marT="28575" marB="28575" anchor="ctr">
                    <a:solidFill>
                      <a:srgbClr val="FFFFFF"/>
                    </a:solidFill>
                  </a:tcPr>
                </a:tc>
              </a:tr>
              <a:tr h="535781">
                <a:tc>
                  <a:txBody>
                    <a:bodyPr lIns="114300" tIns="114300" rIns="114300" bIns="114300">
                      <a:noAutofit/>
                    </a:bodyPr>
                    <a:lstStyle/>
                    <a:p>
                      <a:r>
                        <a:rPr sz="1800" b="0">
                          <a:solidFill>
                            <a:srgbClr val="173B50"/>
                          </a:solidFill>
                          <a:latin typeface="Arial"/>
                          <a:ea typeface="Arial"/>
                          <a:cs typeface="Arial"/>
                        </a:rPr>
                        <a:t>Competitor capabilities</a:t>
                      </a:r>
                    </a:p>
                  </a:txBody>
                  <a:tcPr marL="76200" marR="76200" marT="28575" marB="28575" anchor="ctr">
                    <a:solidFill>
                      <a:srgbClr val="F2F6F7"/>
                    </a:solidFill>
                  </a:tcPr>
                </a:tc>
                <a:tc>
                  <a:txBody>
                    <a:bodyPr lIns="114300" tIns="114300" rIns="114300" bIns="114300">
                      <a:noAutofit/>
                    </a:bodyPr>
                    <a:lstStyle/>
                    <a:p>
                      <a:r>
                        <a:rPr sz="1800" b="0">
                          <a:solidFill>
                            <a:srgbClr val="173B50"/>
                          </a:solidFill>
                          <a:latin typeface="Arial"/>
                          <a:ea typeface="Arial"/>
                          <a:cs typeface="Arial"/>
                        </a:rPr>
                        <a:t>Official vendor product, FAQ and pricing pages</a:t>
                      </a:r>
                    </a:p>
                  </a:txBody>
                  <a:tcPr marL="76200" marR="76200" marT="28575" marB="28575" anchor="ctr">
                    <a:solidFill>
                      <a:srgbClr val="F2F6F7"/>
                    </a:solidFill>
                  </a:tcPr>
                </a:tc>
              </a:tr>
              <a:tr h="535781">
                <a:tc>
                  <a:txBody>
                    <a:bodyPr lIns="114300" tIns="114300" rIns="114300" bIns="114300">
                      <a:noAutofit/>
                    </a:bodyPr>
                    <a:lstStyle/>
                    <a:p>
                      <a:r>
                        <a:rPr sz="1800" b="0">
                          <a:solidFill>
                            <a:srgbClr val="173B50"/>
                          </a:solidFill>
                          <a:latin typeface="Arial"/>
                          <a:ea typeface="Arial"/>
                          <a:cs typeface="Arial"/>
                        </a:rPr>
                        <a:t>App capabilities and examples</a:t>
                      </a:r>
                    </a:p>
                  </a:txBody>
                  <a:tcPr marL="76200" marR="76200" marT="28575" marB="28575" anchor="ctr">
                    <a:solidFill>
                      <a:srgbClr val="FFFFFF"/>
                    </a:solidFill>
                  </a:tcPr>
                </a:tc>
                <a:tc>
                  <a:txBody>
                    <a:bodyPr lIns="114300" tIns="114300" rIns="114300" bIns="114300">
                      <a:noAutofit/>
                    </a:bodyPr>
                    <a:lstStyle/>
                    <a:p>
                      <a:r>
                        <a:rPr sz="1800" b="0">
                          <a:solidFill>
                            <a:srgbClr val="173B50"/>
                          </a:solidFill>
                          <a:latin typeface="Arial"/>
                          <a:ea typeface="Arial"/>
                          <a:cs typeface="Arial"/>
                        </a:rPr>
                        <a:t>Current app source and native UI captures (10 Oct 2026)</a:t>
                      </a:r>
                    </a:p>
                  </a:txBody>
                  <a:tcPr marL="76200" marR="76200" marT="28575" marB="28575" anchor="ctr">
                    <a:solidFill>
                      <a:srgbClr val="FFFFFF"/>
                    </a:solidFill>
                  </a:tcPr>
                </a:tc>
              </a:tr>
              <a:tr h="535781">
                <a:tc>
                  <a:txBody>
                    <a:bodyPr lIns="114300" tIns="114300" rIns="114300" bIns="114300">
                      <a:noAutofit/>
                    </a:bodyPr>
                    <a:lstStyle/>
                    <a:p>
                      <a:r>
                        <a:rPr sz="1800" b="0">
                          <a:solidFill>
                            <a:srgbClr val="173B50"/>
                          </a:solidFill>
                          <a:latin typeface="Arial"/>
                          <a:ea typeface="Arial"/>
                          <a:cs typeface="Arial"/>
                        </a:rPr>
                        <a:t>Investor return timing</a:t>
                      </a:r>
                    </a:p>
                  </a:txBody>
                  <a:tcPr marL="76200" marR="76200" marT="28575" marB="28575" anchor="ctr">
                    <a:solidFill>
                      <a:srgbClr val="F2F6F7"/>
                    </a:solidFill>
                  </a:tcPr>
                </a:tc>
                <a:tc>
                  <a:txBody>
                    <a:bodyPr lIns="114300" tIns="114300" rIns="114300" bIns="114300">
                      <a:noAutofit/>
                    </a:bodyPr>
                    <a:lstStyle/>
                    <a:p>
                      <a:r>
                        <a:rPr sz="1800" b="0">
                          <a:solidFill>
                            <a:srgbClr val="173B50"/>
                          </a:solidFill>
                          <a:latin typeface="Arial"/>
                          <a:ea typeface="Arial"/>
                          <a:cs typeface="Arial"/>
                        </a:rPr>
                        <a:t>Owner inputs and editable payback assumptions</a:t>
                      </a:r>
                    </a:p>
                  </a:txBody>
                  <a:tcPr marL="76200" marR="76200" marT="28575" marB="28575" anchor="ctr">
                    <a:solidFill>
                      <a:srgbClr val="F2F6F7"/>
                    </a:solidFill>
                  </a:tcPr>
                </a:tc>
              </a:tr>
              <a:tr h="535781">
                <a:tc>
                  <a:txBody>
                    <a:bodyPr lIns="114300" tIns="114300" rIns="114300" bIns="114300">
                      <a:noAutofit/>
                    </a:bodyPr>
                    <a:lstStyle/>
                    <a:p>
                      <a:r>
                        <a:rPr sz="1800" b="0">
                          <a:solidFill>
                            <a:srgbClr val="173B50"/>
                          </a:solidFill>
                          <a:latin typeface="Arial"/>
                          <a:ea typeface="Arial"/>
                          <a:cs typeface="Arial"/>
                        </a:rPr>
                        <a:t>Buyer focus and roadmap</a:t>
                      </a:r>
                    </a:p>
                  </a:txBody>
                  <a:tcPr marL="76200" marR="76200" marT="28575" marB="28575" anchor="ctr">
                    <a:solidFill>
                      <a:srgbClr val="FFFFFF"/>
                    </a:solidFill>
                  </a:tcPr>
                </a:tc>
                <a:tc>
                  <a:txBody>
                    <a:bodyPr lIns="114300" tIns="114300" rIns="114300" bIns="114300">
                      <a:noAutofit/>
                    </a:bodyPr>
                    <a:lstStyle/>
                    <a:p>
                      <a:r>
                        <a:rPr sz="1800" b="0">
                          <a:solidFill>
                            <a:srgbClr val="173B50"/>
                          </a:solidFill>
                          <a:latin typeface="Arial"/>
                          <a:ea typeface="Arial"/>
                          <a:cs typeface="Arial"/>
                        </a:rPr>
                        <a:t>Hardware/startup/defense buyers and Electrical CAB wiring</a:t>
                      </a:r>
                    </a:p>
                  </a:txBody>
                  <a:tcPr marL="76200" marR="76200" marT="28575" marB="28575" anchor="ctr">
                    <a:solidFill>
                      <a:srgbClr val="FFFFFF"/>
                    </a:solidFill>
                  </a:tcPr>
                </a:tc>
              </a:tr>
            </a:tbl>
          </a:graphicData>
        </a:graphic>
      </p:graphicFrame>
      <p:sp>
        <p:nvSpPr>
          <p:cNvPr id="6" name="Detailed URLs and disclosures appear in the releva">
            <a:extLst xmlns:a="http://schemas.openxmlformats.org/drawingml/2006/main">
              <a:ext uri="{FF2B5EF4-FFF2-40B4-BE49-F238E27FC236}">
                <a16:creationId xmlns:a16="http://schemas.microsoft.com/office/drawing/2014/main" id="{35026306-0F30-405E-856C-B020521F5394}"/>
              </a:ext>
            </a:extLst>
          </p:cNvPr>
          <p:cNvSpPr>
            <a:spLocks xmlns:a="http://schemas.openxmlformats.org/drawingml/2006/main" noGrp="1"/>
          </p:cNvSpPr>
          <p:nvPr/>
        </p:nvSpPr>
        <p:spPr>
          <a:xfrm xmlns:a="http://schemas.openxmlformats.org/drawingml/2006/main">
            <a:off x="609600" y="61912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16C7B"/>
                </a:solidFill>
                <a:latin typeface="Arial"/>
                <a:ea typeface="Arial"/>
                <a:cs typeface="Arial"/>
              </a:defRPr>
            </a:defPPr>
          </a:lstStyle>
          <a:p xmlns:a="http://schemas.openxmlformats.org/drawingml/2006/main">
            <a:pPr>
              <a:defRPr sz="1725" b="0">
                <a:solidFill>
                  <a:srgbClr val="516C7B"/>
                </a:solidFill>
                <a:latin typeface="Arial"/>
                <a:ea typeface="Arial"/>
                <a:cs typeface="Arial"/>
              </a:defRPr>
            </a:pPr>
            <a:r>
              <a:rPr sz="1725" b="0">
                <a:solidFill>
                  <a:srgbClr val="516C7B"/>
                </a:solidFill>
                <a:latin typeface="Arial"/>
                <a:ea typeface="Arial"/>
                <a:cs typeface="Arial"/>
              </a:rPr>
              <a:t>Detailed URLs and disclosures appear in the relevant slide notes.</a:t>
            </a:r>
          </a:p>
        </p:txBody>
      </p:sp>
    </p:spTree>
    <p:extLst>
      <p:ext uri="{BB962C8B-B14F-4D97-AF65-F5344CB8AC3E}">
        <p14:creationId xmlns:p14="http://schemas.microsoft.com/office/powerpoint/2010/main" val="5085024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2026-10-10T18:36:23.0070000Z</dcterms:created>
  <dcterms:modified xsi:type="dcterms:W3CDTF">2026-10-10T18:36:23.0070000Z</dcterms:modified>
</coreProperties>
</file>